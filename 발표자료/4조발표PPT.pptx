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8" r:id="rId1"/>
  </p:sldMasterIdLst>
  <p:notesMasterIdLst>
    <p:notesMasterId r:id="rId26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83" r:id="rId9"/>
    <p:sldId id="264" r:id="rId10"/>
    <p:sldId id="265" r:id="rId11"/>
    <p:sldId id="266" r:id="rId12"/>
    <p:sldId id="256" r:id="rId13"/>
    <p:sldId id="284" r:id="rId14"/>
    <p:sldId id="285" r:id="rId15"/>
    <p:sldId id="286" r:id="rId16"/>
    <p:sldId id="287" r:id="rId17"/>
    <p:sldId id="288" r:id="rId18"/>
    <p:sldId id="289" r:id="rId19"/>
    <p:sldId id="274" r:id="rId20"/>
    <p:sldId id="275" r:id="rId21"/>
    <p:sldId id="276" r:id="rId22"/>
    <p:sldId id="277" r:id="rId23"/>
    <p:sldId id="281" r:id="rId24"/>
    <p:sldId id="278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4953"/>
    <a:srgbClr val="392951"/>
    <a:srgbClr val="A08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90" y="96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CE5E9CC1-C706-0F49-92D6-E571CC5EEA8F}" type="slidenum">
              <a:rPr lang="en-US" smtClean="0"/>
              <a:pPr lvl="0"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36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CE5E9CC1-C706-0F49-92D6-E571CC5EEA8F}" type="slidenum">
              <a:rPr lang="en-US" smtClean="0"/>
              <a:pPr lvl="0"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02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397004" y="6190814"/>
            <a:ext cx="340596" cy="331072"/>
          </a:xfrm>
          <a:prstGeom prst="rect">
            <a:avLst/>
          </a:prstGeom>
        </p:spPr>
        <p:txBody>
          <a:bodyPr lIns="60958" tIns="60958" rIns="60958" bIns="60958"/>
          <a:lstStyle>
            <a:lvl1pPr defTabSz="1219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637308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39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9" r:id="rId2"/>
  </p:sldLayoutIdLst>
  <p:transition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" Type="http://schemas.openxmlformats.org/officeDocument/2006/relationships/image" Target="../media/image1.png"/><Relationship Id="rId21" Type="http://schemas.openxmlformats.org/officeDocument/2006/relationships/image" Target="../media/image41.png"/><Relationship Id="rId34" Type="http://schemas.openxmlformats.org/officeDocument/2006/relationships/image" Target="../media/image5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6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31" Type="http://schemas.openxmlformats.org/officeDocument/2006/relationships/image" Target="../media/image51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55.png"/><Relationship Id="rId8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1.png"/><Relationship Id="rId21" Type="http://schemas.openxmlformats.org/officeDocument/2006/relationships/image" Target="../media/image74.png"/><Relationship Id="rId34" Type="http://schemas.openxmlformats.org/officeDocument/2006/relationships/image" Target="../media/image87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33" Type="http://schemas.openxmlformats.org/officeDocument/2006/relationships/image" Target="../media/image8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32" Type="http://schemas.openxmlformats.org/officeDocument/2006/relationships/image" Target="../media/image85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31" Type="http://schemas.openxmlformats.org/officeDocument/2006/relationships/image" Target="../media/image84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Relationship Id="rId30" Type="http://schemas.openxmlformats.org/officeDocument/2006/relationships/image" Target="../media/image83.png"/><Relationship Id="rId35" Type="http://schemas.openxmlformats.org/officeDocument/2006/relationships/image" Target="../media/image88.png"/><Relationship Id="rId8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11.png"/><Relationship Id="rId3" Type="http://schemas.openxmlformats.org/officeDocument/2006/relationships/image" Target="../media/image1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png"/><Relationship Id="rId33" Type="http://schemas.openxmlformats.org/officeDocument/2006/relationships/image" Target="../media/image11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29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32" Type="http://schemas.openxmlformats.org/officeDocument/2006/relationships/image" Target="../media/image117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28" Type="http://schemas.openxmlformats.org/officeDocument/2006/relationships/image" Target="../media/image113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31" Type="http://schemas.openxmlformats.org/officeDocument/2006/relationships/image" Target="../media/image116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Relationship Id="rId27" Type="http://schemas.openxmlformats.org/officeDocument/2006/relationships/image" Target="../media/image112.png"/><Relationship Id="rId30" Type="http://schemas.openxmlformats.org/officeDocument/2006/relationships/image" Target="../media/image115.png"/><Relationship Id="rId8" Type="http://schemas.openxmlformats.org/officeDocument/2006/relationships/image" Target="../media/image9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image" Target="../media/image1.png"/><Relationship Id="rId21" Type="http://schemas.openxmlformats.org/officeDocument/2006/relationships/image" Target="../media/image137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3.png"/><Relationship Id="rId25" Type="http://schemas.openxmlformats.org/officeDocument/2006/relationships/image" Target="../media/image14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2.png"/><Relationship Id="rId20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24" Type="http://schemas.openxmlformats.org/officeDocument/2006/relationships/image" Target="../media/image140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23" Type="http://schemas.openxmlformats.org/officeDocument/2006/relationships/image" Target="../media/image139.png"/><Relationship Id="rId10" Type="http://schemas.openxmlformats.org/officeDocument/2006/relationships/image" Target="../media/image126.png"/><Relationship Id="rId19" Type="http://schemas.openxmlformats.org/officeDocument/2006/relationships/image" Target="../media/image135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Relationship Id="rId22" Type="http://schemas.openxmlformats.org/officeDocument/2006/relationships/image" Target="../media/image138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26" Type="http://schemas.openxmlformats.org/officeDocument/2006/relationships/image" Target="../media/image164.png"/><Relationship Id="rId3" Type="http://schemas.openxmlformats.org/officeDocument/2006/relationships/image" Target="../media/image1.png"/><Relationship Id="rId21" Type="http://schemas.openxmlformats.org/officeDocument/2006/relationships/image" Target="../media/image159.png"/><Relationship Id="rId34" Type="http://schemas.openxmlformats.org/officeDocument/2006/relationships/image" Target="../media/image172.png"/><Relationship Id="rId7" Type="http://schemas.openxmlformats.org/officeDocument/2006/relationships/image" Target="../media/image145.pn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5" Type="http://schemas.openxmlformats.org/officeDocument/2006/relationships/image" Target="../media/image163.png"/><Relationship Id="rId33" Type="http://schemas.openxmlformats.org/officeDocument/2006/relationships/image" Target="../media/image17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4.png"/><Relationship Id="rId20" Type="http://schemas.openxmlformats.org/officeDocument/2006/relationships/image" Target="../media/image158.png"/><Relationship Id="rId29" Type="http://schemas.openxmlformats.org/officeDocument/2006/relationships/image" Target="../media/image1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24" Type="http://schemas.openxmlformats.org/officeDocument/2006/relationships/image" Target="../media/image162.png"/><Relationship Id="rId32" Type="http://schemas.openxmlformats.org/officeDocument/2006/relationships/image" Target="../media/image170.png"/><Relationship Id="rId5" Type="http://schemas.openxmlformats.org/officeDocument/2006/relationships/image" Target="../media/image143.png"/><Relationship Id="rId15" Type="http://schemas.openxmlformats.org/officeDocument/2006/relationships/image" Target="../media/image153.png"/><Relationship Id="rId23" Type="http://schemas.openxmlformats.org/officeDocument/2006/relationships/image" Target="../media/image161.png"/><Relationship Id="rId28" Type="http://schemas.openxmlformats.org/officeDocument/2006/relationships/image" Target="../media/image166.png"/><Relationship Id="rId36" Type="http://schemas.openxmlformats.org/officeDocument/2006/relationships/image" Target="../media/image174.png"/><Relationship Id="rId10" Type="http://schemas.openxmlformats.org/officeDocument/2006/relationships/image" Target="../media/image148.png"/><Relationship Id="rId19" Type="http://schemas.openxmlformats.org/officeDocument/2006/relationships/image" Target="../media/image157.png"/><Relationship Id="rId31" Type="http://schemas.openxmlformats.org/officeDocument/2006/relationships/image" Target="../media/image169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Relationship Id="rId22" Type="http://schemas.openxmlformats.org/officeDocument/2006/relationships/image" Target="../media/image160.png"/><Relationship Id="rId27" Type="http://schemas.openxmlformats.org/officeDocument/2006/relationships/image" Target="../media/image165.png"/><Relationship Id="rId30" Type="http://schemas.openxmlformats.org/officeDocument/2006/relationships/image" Target="../media/image168.png"/><Relationship Id="rId35" Type="http://schemas.openxmlformats.org/officeDocument/2006/relationships/image" Target="../media/image173.png"/><Relationship Id="rId8" Type="http://schemas.openxmlformats.org/officeDocument/2006/relationships/image" Target="../media/image1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18" Type="http://schemas.openxmlformats.org/officeDocument/2006/relationships/image" Target="../media/image189.png"/><Relationship Id="rId3" Type="http://schemas.openxmlformats.org/officeDocument/2006/relationships/image" Target="../media/image1.png"/><Relationship Id="rId21" Type="http://schemas.openxmlformats.org/officeDocument/2006/relationships/image" Target="../media/image192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17" Type="http://schemas.openxmlformats.org/officeDocument/2006/relationships/image" Target="../media/image18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87.png"/><Relationship Id="rId20" Type="http://schemas.openxmlformats.org/officeDocument/2006/relationships/image" Target="../media/image1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5" Type="http://schemas.openxmlformats.org/officeDocument/2006/relationships/image" Target="../media/image186.png"/><Relationship Id="rId23" Type="http://schemas.openxmlformats.org/officeDocument/2006/relationships/image" Target="../media/image194.png"/><Relationship Id="rId10" Type="http://schemas.openxmlformats.org/officeDocument/2006/relationships/image" Target="../media/image181.png"/><Relationship Id="rId19" Type="http://schemas.openxmlformats.org/officeDocument/2006/relationships/image" Target="../media/image190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Relationship Id="rId22" Type="http://schemas.openxmlformats.org/officeDocument/2006/relationships/image" Target="../media/image19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4.png"/><Relationship Id="rId3" Type="http://schemas.openxmlformats.org/officeDocument/2006/relationships/image" Target="../media/image1.png"/><Relationship Id="rId7" Type="http://schemas.openxmlformats.org/officeDocument/2006/relationships/image" Target="../media/image198.png"/><Relationship Id="rId12" Type="http://schemas.openxmlformats.org/officeDocument/2006/relationships/image" Target="../media/image203.png"/><Relationship Id="rId17" Type="http://schemas.openxmlformats.org/officeDocument/2006/relationships/image" Target="../media/image20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7.png"/><Relationship Id="rId11" Type="http://schemas.openxmlformats.org/officeDocument/2006/relationships/image" Target="../media/image202.png"/><Relationship Id="rId5" Type="http://schemas.openxmlformats.org/officeDocument/2006/relationships/image" Target="../media/image196.png"/><Relationship Id="rId15" Type="http://schemas.openxmlformats.org/officeDocument/2006/relationships/image" Target="../media/image206.png"/><Relationship Id="rId10" Type="http://schemas.openxmlformats.org/officeDocument/2006/relationships/image" Target="../media/image201.png"/><Relationship Id="rId4" Type="http://schemas.openxmlformats.org/officeDocument/2006/relationships/image" Target="../media/image195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13" Type="http://schemas.openxmlformats.org/officeDocument/2006/relationships/image" Target="../media/image221.png"/><Relationship Id="rId3" Type="http://schemas.openxmlformats.org/officeDocument/2006/relationships/image" Target="../media/image1.png"/><Relationship Id="rId7" Type="http://schemas.openxmlformats.org/officeDocument/2006/relationships/image" Target="../media/image215.png"/><Relationship Id="rId12" Type="http://schemas.openxmlformats.org/officeDocument/2006/relationships/image" Target="../media/image2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4.png"/><Relationship Id="rId11" Type="http://schemas.openxmlformats.org/officeDocument/2006/relationships/image" Target="../media/image219.png"/><Relationship Id="rId5" Type="http://schemas.openxmlformats.org/officeDocument/2006/relationships/image" Target="../media/image213.png"/><Relationship Id="rId15" Type="http://schemas.openxmlformats.org/officeDocument/2006/relationships/image" Target="../media/image223.png"/><Relationship Id="rId10" Type="http://schemas.openxmlformats.org/officeDocument/2006/relationships/image" Target="../media/image218.png"/><Relationship Id="rId4" Type="http://schemas.openxmlformats.org/officeDocument/2006/relationships/image" Target="../media/image212.png"/><Relationship Id="rId9" Type="http://schemas.openxmlformats.org/officeDocument/2006/relationships/image" Target="../media/image217.png"/><Relationship Id="rId14" Type="http://schemas.openxmlformats.org/officeDocument/2006/relationships/image" Target="../media/image2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13" Type="http://schemas.openxmlformats.org/officeDocument/2006/relationships/image" Target="../media/image233.png"/><Relationship Id="rId18" Type="http://schemas.openxmlformats.org/officeDocument/2006/relationships/image" Target="../media/image238.png"/><Relationship Id="rId3" Type="http://schemas.openxmlformats.org/officeDocument/2006/relationships/image" Target="../media/image1.png"/><Relationship Id="rId7" Type="http://schemas.openxmlformats.org/officeDocument/2006/relationships/image" Target="../media/image227.png"/><Relationship Id="rId12" Type="http://schemas.openxmlformats.org/officeDocument/2006/relationships/image" Target="../media/image232.png"/><Relationship Id="rId17" Type="http://schemas.openxmlformats.org/officeDocument/2006/relationships/image" Target="../media/image23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6.png"/><Relationship Id="rId11" Type="http://schemas.openxmlformats.org/officeDocument/2006/relationships/image" Target="../media/image231.png"/><Relationship Id="rId5" Type="http://schemas.openxmlformats.org/officeDocument/2006/relationships/image" Target="../media/image225.png"/><Relationship Id="rId15" Type="http://schemas.openxmlformats.org/officeDocument/2006/relationships/image" Target="../media/image235.png"/><Relationship Id="rId10" Type="http://schemas.openxmlformats.org/officeDocument/2006/relationships/image" Target="../media/image230.png"/><Relationship Id="rId19" Type="http://schemas.openxmlformats.org/officeDocument/2006/relationships/image" Target="../media/image239.png"/><Relationship Id="rId4" Type="http://schemas.openxmlformats.org/officeDocument/2006/relationships/image" Target="../media/image224.png"/><Relationship Id="rId9" Type="http://schemas.openxmlformats.org/officeDocument/2006/relationships/image" Target="../media/image229.png"/><Relationship Id="rId14" Type="http://schemas.openxmlformats.org/officeDocument/2006/relationships/image" Target="../media/image2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13" Type="http://schemas.openxmlformats.org/officeDocument/2006/relationships/image" Target="../media/image249.png"/><Relationship Id="rId18" Type="http://schemas.openxmlformats.org/officeDocument/2006/relationships/image" Target="../media/image254.png"/><Relationship Id="rId3" Type="http://schemas.openxmlformats.org/officeDocument/2006/relationships/image" Target="../media/image1.png"/><Relationship Id="rId21" Type="http://schemas.openxmlformats.org/officeDocument/2006/relationships/image" Target="../media/image257.png"/><Relationship Id="rId7" Type="http://schemas.openxmlformats.org/officeDocument/2006/relationships/image" Target="../media/image243.png"/><Relationship Id="rId12" Type="http://schemas.openxmlformats.org/officeDocument/2006/relationships/image" Target="../media/image248.png"/><Relationship Id="rId17" Type="http://schemas.openxmlformats.org/officeDocument/2006/relationships/image" Target="../media/image25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52.png"/><Relationship Id="rId20" Type="http://schemas.openxmlformats.org/officeDocument/2006/relationships/image" Target="../media/image2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2.png"/><Relationship Id="rId11" Type="http://schemas.openxmlformats.org/officeDocument/2006/relationships/image" Target="../media/image247.png"/><Relationship Id="rId5" Type="http://schemas.openxmlformats.org/officeDocument/2006/relationships/image" Target="../media/image241.png"/><Relationship Id="rId15" Type="http://schemas.openxmlformats.org/officeDocument/2006/relationships/image" Target="../media/image251.png"/><Relationship Id="rId10" Type="http://schemas.openxmlformats.org/officeDocument/2006/relationships/image" Target="../media/image246.png"/><Relationship Id="rId19" Type="http://schemas.openxmlformats.org/officeDocument/2006/relationships/image" Target="../media/image255.png"/><Relationship Id="rId4" Type="http://schemas.openxmlformats.org/officeDocument/2006/relationships/image" Target="../media/image240.png"/><Relationship Id="rId9" Type="http://schemas.openxmlformats.org/officeDocument/2006/relationships/image" Target="../media/image245.png"/><Relationship Id="rId14" Type="http://schemas.openxmlformats.org/officeDocument/2006/relationships/image" Target="../media/image250.png"/><Relationship Id="rId22" Type="http://schemas.openxmlformats.org/officeDocument/2006/relationships/image" Target="../media/image25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13" Type="http://schemas.openxmlformats.org/officeDocument/2006/relationships/image" Target="../media/image268.png"/><Relationship Id="rId18" Type="http://schemas.openxmlformats.org/officeDocument/2006/relationships/image" Target="../media/image273.png"/><Relationship Id="rId3" Type="http://schemas.openxmlformats.org/officeDocument/2006/relationships/image" Target="../media/image1.png"/><Relationship Id="rId21" Type="http://schemas.openxmlformats.org/officeDocument/2006/relationships/image" Target="../media/image276.png"/><Relationship Id="rId7" Type="http://schemas.openxmlformats.org/officeDocument/2006/relationships/image" Target="../media/image262.png"/><Relationship Id="rId12" Type="http://schemas.openxmlformats.org/officeDocument/2006/relationships/image" Target="../media/image267.png"/><Relationship Id="rId17" Type="http://schemas.openxmlformats.org/officeDocument/2006/relationships/image" Target="../media/image272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71.png"/><Relationship Id="rId20" Type="http://schemas.openxmlformats.org/officeDocument/2006/relationships/image" Target="../media/image2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1.png"/><Relationship Id="rId11" Type="http://schemas.openxmlformats.org/officeDocument/2006/relationships/image" Target="../media/image266.png"/><Relationship Id="rId5" Type="http://schemas.openxmlformats.org/officeDocument/2006/relationships/image" Target="../media/image260.png"/><Relationship Id="rId15" Type="http://schemas.openxmlformats.org/officeDocument/2006/relationships/image" Target="../media/image270.png"/><Relationship Id="rId23" Type="http://schemas.openxmlformats.org/officeDocument/2006/relationships/image" Target="../media/image278.png"/><Relationship Id="rId10" Type="http://schemas.openxmlformats.org/officeDocument/2006/relationships/image" Target="../media/image265.png"/><Relationship Id="rId19" Type="http://schemas.openxmlformats.org/officeDocument/2006/relationships/image" Target="../media/image274.png"/><Relationship Id="rId4" Type="http://schemas.openxmlformats.org/officeDocument/2006/relationships/image" Target="../media/image259.png"/><Relationship Id="rId9" Type="http://schemas.openxmlformats.org/officeDocument/2006/relationships/image" Target="../media/image264.png"/><Relationship Id="rId14" Type="http://schemas.openxmlformats.org/officeDocument/2006/relationships/image" Target="../media/image269.png"/><Relationship Id="rId22" Type="http://schemas.openxmlformats.org/officeDocument/2006/relationships/image" Target="../media/image27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png"/><Relationship Id="rId13" Type="http://schemas.openxmlformats.org/officeDocument/2006/relationships/image" Target="../media/image270.png"/><Relationship Id="rId18" Type="http://schemas.openxmlformats.org/officeDocument/2006/relationships/image" Target="../media/image275.png"/><Relationship Id="rId3" Type="http://schemas.openxmlformats.org/officeDocument/2006/relationships/image" Target="../media/image1.png"/><Relationship Id="rId7" Type="http://schemas.openxmlformats.org/officeDocument/2006/relationships/image" Target="../media/image262.png"/><Relationship Id="rId12" Type="http://schemas.openxmlformats.org/officeDocument/2006/relationships/image" Target="../media/image269.png"/><Relationship Id="rId17" Type="http://schemas.openxmlformats.org/officeDocument/2006/relationships/image" Target="../media/image274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73.png"/><Relationship Id="rId20" Type="http://schemas.openxmlformats.org/officeDocument/2006/relationships/image" Target="../media/image2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1.png"/><Relationship Id="rId11" Type="http://schemas.openxmlformats.org/officeDocument/2006/relationships/image" Target="../media/image267.png"/><Relationship Id="rId5" Type="http://schemas.openxmlformats.org/officeDocument/2006/relationships/image" Target="../media/image260.png"/><Relationship Id="rId15" Type="http://schemas.openxmlformats.org/officeDocument/2006/relationships/image" Target="../media/image272.png"/><Relationship Id="rId10" Type="http://schemas.openxmlformats.org/officeDocument/2006/relationships/image" Target="../media/image266.png"/><Relationship Id="rId19" Type="http://schemas.openxmlformats.org/officeDocument/2006/relationships/image" Target="../media/image276.png"/><Relationship Id="rId4" Type="http://schemas.openxmlformats.org/officeDocument/2006/relationships/image" Target="../media/image259.png"/><Relationship Id="rId9" Type="http://schemas.openxmlformats.org/officeDocument/2006/relationships/image" Target="../media/image265.png"/><Relationship Id="rId14" Type="http://schemas.openxmlformats.org/officeDocument/2006/relationships/image" Target="../media/image27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8800000" y="-1200000"/>
            <a:ext cx="4800000" cy="4800000"/>
          </a:xfrm>
          <a:prstGeom prst="ellipse">
            <a:avLst/>
          </a:prstGeom>
          <a:solidFill>
            <a:srgbClr val="342846">
              <a:alpha val="55000"/>
            </a:srgbClr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3" name="e3"/>
          <p:cNvSpPr/>
          <p:nvPr/>
        </p:nvSpPr>
        <p:spPr>
          <a:xfrm>
            <a:off x="9866667" y="3466666"/>
            <a:ext cx="3733333" cy="3733333"/>
          </a:xfrm>
          <a:prstGeom prst="ellipse">
            <a:avLst/>
          </a:prstGeom>
          <a:solidFill>
            <a:srgbClr val="3B2C52">
              <a:alpha val="45000"/>
            </a:srgbClr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t4"/>
          <p:cNvSpPr/>
          <p:nvPr/>
        </p:nvSpPr>
        <p:spPr>
          <a:xfrm>
            <a:off x="731520" y="693333"/>
            <a:ext cx="6800000" cy="34666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tabLst>
                <a:tab pos="2405799" algn="l"/>
              </a:tabLst>
              <a:defRPr/>
            </a:pPr>
            <a:r>
              <a:rPr lang="ko-KR" sz="1000" b="0">
                <a:solidFill>
                  <a:srgbClr val="8B7CB0"/>
                </a:solidFill>
                <a:latin typeface="나눔스퀘어 Bold"/>
                <a:ea typeface="나눔스퀘어 Bold"/>
                <a:cs typeface="Calibri"/>
              </a:rPr>
              <a:t>●  </a:t>
            </a:r>
            <a:r>
              <a:rPr lang="ko-KR" sz="1150" b="0">
                <a:solidFill>
                  <a:srgbClr val="C7BEDD"/>
                </a:solidFill>
                <a:latin typeface="나눔스퀘어 Bold"/>
                <a:ea typeface="나눔스퀘어 Bold"/>
                <a:cs typeface="Calibri"/>
              </a:rPr>
              <a:t>AI 국비지원 교육 과정 최종 프로젝트</a:t>
            </a:r>
            <a:endParaRPr lang="en-US" sz="1400">
              <a:latin typeface="나눔스퀘어 Bold"/>
              <a:ea typeface="나눔스퀘어 Bold"/>
            </a:endParaRPr>
          </a:p>
        </p:txBody>
      </p:sp>
      <p:sp>
        <p:nvSpPr>
          <p:cNvPr id="5" name="t5"/>
          <p:cNvSpPr/>
          <p:nvPr/>
        </p:nvSpPr>
        <p:spPr>
          <a:xfrm>
            <a:off x="731520" y="1146666"/>
            <a:ext cx="6800000" cy="61333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RAG</a:t>
            </a:r>
            <a:r>
              <a:rPr lang="ko-KR" sz="3600" b="1">
                <a:solidFill>
                  <a:srgbClr val="FFFFFF"/>
                </a:solidFill>
                <a:latin typeface="나눔스퀘어 ExtraBold"/>
                <a:ea typeface="나눔스퀘어 ExtraBold"/>
                <a:cs typeface="Calibri"/>
              </a:rPr>
              <a:t> 기반</a:t>
            </a:r>
            <a:endParaRPr lang="en-US" sz="1400">
              <a:latin typeface="나눔스퀘어 ExtraBold"/>
              <a:ea typeface="나눔스퀘어 ExtraBold"/>
            </a:endParaRPr>
          </a:p>
        </p:txBody>
      </p:sp>
      <p:sp>
        <p:nvSpPr>
          <p:cNvPr id="6" name="t6"/>
          <p:cNvSpPr/>
          <p:nvPr/>
        </p:nvSpPr>
        <p:spPr>
          <a:xfrm>
            <a:off x="731520" y="1773333"/>
            <a:ext cx="6800000" cy="61333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sz="3600" b="1">
                <a:solidFill>
                  <a:srgbClr val="FFFFFF"/>
                </a:solidFill>
                <a:latin typeface="나눔스퀘어 ExtraBold"/>
                <a:ea typeface="나눔스퀘어 ExtraBold"/>
                <a:cs typeface="Calibri"/>
              </a:rPr>
              <a:t>문서요약 시스템</a:t>
            </a:r>
            <a:endParaRPr lang="en-US" sz="1400">
              <a:latin typeface="나눔스퀘어 ExtraBold"/>
              <a:ea typeface="나눔스퀘어 ExtraBold"/>
            </a:endParaRPr>
          </a:p>
        </p:txBody>
      </p:sp>
      <p:sp>
        <p:nvSpPr>
          <p:cNvPr id="7" name="t7"/>
          <p:cNvSpPr/>
          <p:nvPr/>
        </p:nvSpPr>
        <p:spPr>
          <a:xfrm>
            <a:off x="731520" y="2480000"/>
            <a:ext cx="6800000" cy="50666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700" b="0">
                <a:solidFill>
                  <a:srgbClr val="8B7CB0"/>
                </a:solidFill>
                <a:latin typeface="나눔스퀘어 Bold"/>
                <a:ea typeface="나눔스퀘어 Bold"/>
              </a:rPr>
              <a:t>Document Summary System</a:t>
            </a:r>
            <a:endParaRPr lang="en-US" sz="1400">
              <a:latin typeface="나눔스퀘어 Bold"/>
              <a:ea typeface="나눔스퀘어 Bold"/>
            </a:endParaRPr>
          </a:p>
        </p:txBody>
      </p:sp>
      <p:sp>
        <p:nvSpPr>
          <p:cNvPr id="8" name="r8"/>
          <p:cNvSpPr/>
          <p:nvPr/>
        </p:nvSpPr>
        <p:spPr>
          <a:xfrm>
            <a:off x="731520" y="3093333"/>
            <a:ext cx="960000" cy="18666"/>
          </a:xfrm>
          <a:prstGeom prst="rect">
            <a:avLst/>
          </a:prstGeom>
          <a:solidFill>
            <a:srgbClr val="6F5C99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9" name="t9"/>
          <p:cNvSpPr/>
          <p:nvPr/>
        </p:nvSpPr>
        <p:spPr>
          <a:xfrm>
            <a:off x="731520" y="3240000"/>
            <a:ext cx="6800000" cy="4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sz="1400" b="0">
                <a:solidFill>
                  <a:srgbClr val="958AA8"/>
                </a:solidFill>
                <a:latin typeface="나눔스퀘어 Bold"/>
                <a:ea typeface="나눔스퀘어 Bold"/>
                <a:cs typeface="Calibri"/>
              </a:rPr>
              <a:t>최종 발표자료</a:t>
            </a:r>
            <a:endParaRPr lang="en-US" sz="1400">
              <a:latin typeface="나눔스퀘어 Bold"/>
              <a:ea typeface="나눔스퀘어 Bold"/>
            </a:endParaRPr>
          </a:p>
        </p:txBody>
      </p:sp>
      <p:sp>
        <p:nvSpPr>
          <p:cNvPr id="10" name="t10"/>
          <p:cNvSpPr/>
          <p:nvPr/>
        </p:nvSpPr>
        <p:spPr>
          <a:xfrm>
            <a:off x="731520" y="3866666"/>
            <a:ext cx="6800000" cy="4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sz="1200" b="1">
                <a:solidFill>
                  <a:srgbClr val="8B7CB0"/>
                </a:solidFill>
                <a:latin typeface="나눔스퀘어_ac"/>
                <a:ea typeface="나눔스퀘어_ac"/>
                <a:cs typeface="Calibri"/>
              </a:rPr>
              <a:t>발표일  </a:t>
            </a:r>
            <a:r>
              <a:rPr lang="ko-KR" sz="1200" b="0">
                <a:solidFill>
                  <a:srgbClr val="E8E3F0"/>
                </a:solidFill>
                <a:latin typeface="나눔스퀘어_ac"/>
                <a:ea typeface="나눔스퀘어_ac"/>
                <a:cs typeface="Calibri"/>
              </a:rPr>
              <a:t>2026년 </a:t>
            </a:r>
            <a:r>
              <a:rPr lang="en-US" altLang="ko-KR" sz="1200" b="0">
                <a:solidFill>
                  <a:srgbClr val="E8E3F0"/>
                </a:solidFill>
                <a:latin typeface="나눔스퀘어_ac"/>
                <a:ea typeface="나눔스퀘어_ac"/>
              </a:rPr>
              <a:t>7</a:t>
            </a:r>
            <a:r>
              <a:rPr lang="ko-KR" sz="1200" b="0">
                <a:solidFill>
                  <a:srgbClr val="E8E3F0"/>
                </a:solidFill>
                <a:latin typeface="나눔스퀘어_ac"/>
                <a:ea typeface="나눔스퀘어_ac"/>
                <a:cs typeface="Calibri"/>
              </a:rPr>
              <a:t>월</a:t>
            </a:r>
          </a:p>
        </p:txBody>
      </p:sp>
      <p:sp>
        <p:nvSpPr>
          <p:cNvPr id="11" name="t11"/>
          <p:cNvSpPr/>
          <p:nvPr/>
        </p:nvSpPr>
        <p:spPr>
          <a:xfrm>
            <a:off x="731520" y="4346667"/>
            <a:ext cx="6800000" cy="4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sz="1200" b="1">
                <a:solidFill>
                  <a:srgbClr val="8B7CB0"/>
                </a:solidFill>
                <a:latin typeface="나눔스퀘어_ac"/>
                <a:ea typeface="나눔스퀘어_ac"/>
                <a:cs typeface="Calibri"/>
              </a:rPr>
              <a:t>팀 구성  </a:t>
            </a:r>
            <a:r>
              <a:rPr lang="ko-KR" altLang="en-US" sz="1200" b="0">
                <a:solidFill>
                  <a:srgbClr val="E8E3F0"/>
                </a:solidFill>
                <a:latin typeface="나눔스퀘어_ac"/>
                <a:ea typeface="나눔스퀘어_ac"/>
                <a:cs typeface="Calibri"/>
              </a:rPr>
              <a:t>조유빈</a:t>
            </a:r>
            <a:r>
              <a:rPr lang="ko-KR" sz="1200" b="0">
                <a:solidFill>
                  <a:srgbClr val="E8E3F0"/>
                </a:solidFill>
                <a:latin typeface="나눔스퀘어_ac"/>
                <a:ea typeface="나눔스퀘어_ac"/>
                <a:cs typeface="Calibri"/>
              </a:rPr>
              <a:t>, 이하량, 김효영, 김은광</a:t>
            </a:r>
          </a:p>
        </p:txBody>
      </p:sp>
      <p:sp>
        <p:nvSpPr>
          <p:cNvPr id="12" name="pill12"/>
          <p:cNvSpPr/>
          <p:nvPr/>
        </p:nvSpPr>
        <p:spPr>
          <a:xfrm>
            <a:off x="731520" y="4960000"/>
            <a:ext cx="1093333" cy="453333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F5C99"/>
            </a:solidFill>
            <a:prstDash val="solid"/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C7BEDD"/>
                </a:solidFill>
                <a:latin typeface="나눔스퀘어 Bold"/>
                <a:ea typeface="나눔스퀘어 Bold"/>
              </a:rPr>
              <a:t>OCR</a:t>
            </a:r>
            <a:endParaRPr lang="en-US" sz="1000">
              <a:latin typeface="나눔스퀘어 Bold"/>
              <a:ea typeface="나눔스퀘어 Bold"/>
            </a:endParaRPr>
          </a:p>
        </p:txBody>
      </p:sp>
      <p:sp>
        <p:nvSpPr>
          <p:cNvPr id="13" name="pill13"/>
          <p:cNvSpPr/>
          <p:nvPr/>
        </p:nvSpPr>
        <p:spPr>
          <a:xfrm>
            <a:off x="1971520" y="4960000"/>
            <a:ext cx="1093333" cy="453333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F5C99"/>
            </a:solidFill>
            <a:prstDash val="solid"/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C7BEDD"/>
                </a:solidFill>
                <a:latin typeface="나눔스퀘어 Bold"/>
                <a:ea typeface="나눔스퀘어 Bold"/>
              </a:rPr>
              <a:t>LLM</a:t>
            </a:r>
            <a:endParaRPr lang="en-US" sz="1000">
              <a:latin typeface="나눔스퀘어 Bold"/>
              <a:ea typeface="나눔스퀘어 Bold"/>
            </a:endParaRPr>
          </a:p>
        </p:txBody>
      </p:sp>
      <p:sp>
        <p:nvSpPr>
          <p:cNvPr id="14" name="pill14"/>
          <p:cNvSpPr/>
          <p:nvPr/>
        </p:nvSpPr>
        <p:spPr>
          <a:xfrm>
            <a:off x="3211520" y="4960000"/>
            <a:ext cx="1093333" cy="453333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F5C99"/>
            </a:solidFill>
            <a:prstDash val="solid"/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C7BEDD"/>
                </a:solidFill>
                <a:latin typeface="나눔스퀘어 Bold"/>
                <a:ea typeface="나눔스퀘어 Bold"/>
              </a:rPr>
              <a:t>RAG</a:t>
            </a:r>
            <a:endParaRPr lang="en-US" sz="1000">
              <a:latin typeface="나눔스퀘어 Bold"/>
              <a:ea typeface="나눔스퀘어 Bold"/>
            </a:endParaRPr>
          </a:p>
        </p:txBody>
      </p:sp>
      <p:grpSp>
        <p:nvGrpSpPr>
          <p:cNvPr id="25" name="doccard25"/>
          <p:cNvGrpSpPr/>
          <p:nvPr/>
        </p:nvGrpSpPr>
        <p:grpSpPr>
          <a:xfrm rot="21000000">
            <a:off x="7800000" y="2026666"/>
            <a:ext cx="2333333" cy="3133333"/>
            <a:chOff x="0" y="0"/>
            <a:chExt cx="1750000" cy="2350000"/>
          </a:xfrm>
        </p:grpSpPr>
        <p:sp>
          <p:nvSpPr>
            <p:cNvPr id="20" name="r20"/>
            <p:cNvSpPr/>
            <p:nvPr/>
          </p:nvSpPr>
          <p:spPr>
            <a:xfrm>
              <a:off x="0" y="0"/>
              <a:ext cx="1750000" cy="2350000"/>
            </a:xfrm>
            <a:prstGeom prst="roundRect">
              <a:avLst>
                <a:gd name="adj" fmla="val 6000"/>
              </a:avLst>
            </a:prstGeom>
            <a:solidFill>
              <a:srgbClr val="2E2440"/>
            </a:solidFill>
            <a:ln w="12700">
              <a:solidFill>
                <a:srgbClr val="4A3D66"/>
              </a:solidFill>
              <a:prstDash val="solid"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21" name="r21"/>
            <p:cNvSpPr/>
            <p:nvPr/>
          </p:nvSpPr>
          <p:spPr>
            <a:xfrm>
              <a:off x="245000" y="376000"/>
              <a:ext cx="1260000" cy="65800"/>
            </a:xfrm>
            <a:prstGeom prst="rect">
              <a:avLst/>
            </a:prstGeom>
            <a:solidFill>
              <a:srgbClr val="6E5B95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22" name="r22"/>
            <p:cNvSpPr/>
            <p:nvPr/>
          </p:nvSpPr>
          <p:spPr>
            <a:xfrm>
              <a:off x="245000" y="681500"/>
              <a:ext cx="1260000" cy="65800"/>
            </a:xfrm>
            <a:prstGeom prst="rect">
              <a:avLst/>
            </a:prstGeom>
            <a:solidFill>
              <a:srgbClr val="6E5B95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23" name="r23"/>
            <p:cNvSpPr/>
            <p:nvPr/>
          </p:nvSpPr>
          <p:spPr>
            <a:xfrm>
              <a:off x="245000" y="987000"/>
              <a:ext cx="1260000" cy="65800"/>
            </a:xfrm>
            <a:prstGeom prst="rect">
              <a:avLst/>
            </a:prstGeom>
            <a:solidFill>
              <a:srgbClr val="6E5B95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24" name="r24"/>
            <p:cNvSpPr/>
            <p:nvPr/>
          </p:nvSpPr>
          <p:spPr>
            <a:xfrm>
              <a:off x="245000" y="1292500"/>
              <a:ext cx="693000" cy="65800"/>
            </a:xfrm>
            <a:prstGeom prst="rect">
              <a:avLst/>
            </a:prstGeom>
            <a:solidFill>
              <a:srgbClr val="6E5B95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</p:grpSp>
      <p:grpSp>
        <p:nvGrpSpPr>
          <p:cNvPr id="31" name="doccard31"/>
          <p:cNvGrpSpPr/>
          <p:nvPr/>
        </p:nvGrpSpPr>
        <p:grpSpPr>
          <a:xfrm rot="350000">
            <a:off x="8733334" y="1320000"/>
            <a:ext cx="2333333" cy="3133333"/>
            <a:chOff x="0" y="0"/>
            <a:chExt cx="1750000" cy="2350000"/>
          </a:xfrm>
        </p:grpSpPr>
        <p:sp>
          <p:nvSpPr>
            <p:cNvPr id="26" name="r26"/>
            <p:cNvSpPr/>
            <p:nvPr/>
          </p:nvSpPr>
          <p:spPr>
            <a:xfrm>
              <a:off x="0" y="0"/>
              <a:ext cx="1750000" cy="2350000"/>
            </a:xfrm>
            <a:prstGeom prst="roundRect">
              <a:avLst>
                <a:gd name="adj" fmla="val 6000"/>
              </a:avLst>
            </a:prstGeom>
            <a:solidFill>
              <a:srgbClr val="342846"/>
            </a:solidFill>
            <a:ln w="12700">
              <a:solidFill>
                <a:srgbClr val="5B4B79"/>
              </a:solidFill>
              <a:prstDash val="solid"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27" name="r27"/>
            <p:cNvSpPr/>
            <p:nvPr/>
          </p:nvSpPr>
          <p:spPr>
            <a:xfrm>
              <a:off x="245000" y="376000"/>
              <a:ext cx="1260000" cy="65800"/>
            </a:xfrm>
            <a:prstGeom prst="rect">
              <a:avLst/>
            </a:prstGeom>
            <a:solidFill>
              <a:srgbClr val="8B7CB0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28" name="r28"/>
            <p:cNvSpPr/>
            <p:nvPr/>
          </p:nvSpPr>
          <p:spPr>
            <a:xfrm>
              <a:off x="245000" y="681500"/>
              <a:ext cx="1260000" cy="65800"/>
            </a:xfrm>
            <a:prstGeom prst="rect">
              <a:avLst/>
            </a:prstGeom>
            <a:solidFill>
              <a:srgbClr val="8B7CB0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29" name="r29"/>
            <p:cNvSpPr/>
            <p:nvPr/>
          </p:nvSpPr>
          <p:spPr>
            <a:xfrm>
              <a:off x="245000" y="987000"/>
              <a:ext cx="1260000" cy="65800"/>
            </a:xfrm>
            <a:prstGeom prst="rect">
              <a:avLst/>
            </a:prstGeom>
            <a:solidFill>
              <a:srgbClr val="8B7CB0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30" name="r30"/>
            <p:cNvSpPr/>
            <p:nvPr/>
          </p:nvSpPr>
          <p:spPr>
            <a:xfrm>
              <a:off x="245000" y="1292500"/>
              <a:ext cx="693000" cy="65800"/>
            </a:xfrm>
            <a:prstGeom prst="rect">
              <a:avLst/>
            </a:prstGeom>
            <a:solidFill>
              <a:srgbClr val="8B7CB0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</p:grpSp>
      <p:grpSp>
        <p:nvGrpSpPr>
          <p:cNvPr id="38" name="doccard38"/>
          <p:cNvGrpSpPr/>
          <p:nvPr/>
        </p:nvGrpSpPr>
        <p:grpSpPr>
          <a:xfrm rot="21350000">
            <a:off x="9706667" y="1893333"/>
            <a:ext cx="2333333" cy="3133333"/>
            <a:chOff x="0" y="0"/>
            <a:chExt cx="1750000" cy="2350000"/>
          </a:xfrm>
        </p:grpSpPr>
        <p:sp>
          <p:nvSpPr>
            <p:cNvPr id="32" name="r32"/>
            <p:cNvSpPr/>
            <p:nvPr/>
          </p:nvSpPr>
          <p:spPr>
            <a:xfrm>
              <a:off x="0" y="0"/>
              <a:ext cx="1750000" cy="2350000"/>
            </a:xfrm>
            <a:prstGeom prst="roundRect">
              <a:avLst>
                <a:gd name="adj" fmla="val 6000"/>
              </a:avLst>
            </a:prstGeom>
            <a:solidFill>
              <a:srgbClr val="3A2E52"/>
            </a:solidFill>
            <a:ln w="12700">
              <a:solidFill>
                <a:srgbClr val="8B7CB0"/>
              </a:solidFill>
              <a:prstDash val="solid"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33" name="r33"/>
            <p:cNvSpPr/>
            <p:nvPr/>
          </p:nvSpPr>
          <p:spPr>
            <a:xfrm>
              <a:off x="245000" y="376000"/>
              <a:ext cx="1260000" cy="65800"/>
            </a:xfrm>
            <a:prstGeom prst="rect">
              <a:avLst/>
            </a:prstGeom>
            <a:solidFill>
              <a:srgbClr val="C7BEDD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34" name="r34"/>
            <p:cNvSpPr/>
            <p:nvPr/>
          </p:nvSpPr>
          <p:spPr>
            <a:xfrm>
              <a:off x="245000" y="681500"/>
              <a:ext cx="1260000" cy="65800"/>
            </a:xfrm>
            <a:prstGeom prst="rect">
              <a:avLst/>
            </a:prstGeom>
            <a:solidFill>
              <a:srgbClr val="C7BEDD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35" name="r35"/>
            <p:cNvSpPr/>
            <p:nvPr/>
          </p:nvSpPr>
          <p:spPr>
            <a:xfrm>
              <a:off x="245000" y="987000"/>
              <a:ext cx="1260000" cy="65800"/>
            </a:xfrm>
            <a:prstGeom prst="rect">
              <a:avLst/>
            </a:prstGeom>
            <a:solidFill>
              <a:srgbClr val="C7BEDD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36" name="r36"/>
            <p:cNvSpPr/>
            <p:nvPr/>
          </p:nvSpPr>
          <p:spPr>
            <a:xfrm>
              <a:off x="245000" y="1292500"/>
              <a:ext cx="693000" cy="65800"/>
            </a:xfrm>
            <a:prstGeom prst="rect">
              <a:avLst/>
            </a:prstGeom>
            <a:solidFill>
              <a:srgbClr val="C7BEDD">
                <a:alpha val="85000"/>
              </a:srgbClr>
            </a:solidFill>
            <a:ln>
              <a:noFill/>
            </a:ln>
          </p:spPr>
          <p:txBody>
            <a:bodyPr/>
            <a:lstStyle/>
            <a:p>
              <a:pPr lvl="0">
                <a:defRPr/>
              </a:pPr>
              <a:endParaRPr lang="en-US"/>
            </a:p>
          </p:txBody>
        </p:sp>
        <p:sp>
          <p:nvSpPr>
            <p:cNvPr id="37" name="badgeText37"/>
            <p:cNvSpPr/>
            <p:nvPr/>
          </p:nvSpPr>
          <p:spPr>
            <a:xfrm>
              <a:off x="245000" y="1598000"/>
              <a:ext cx="1260000" cy="517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marL="0" indent="0" algn="l">
                <a:buNone/>
                <a:defRPr/>
              </a:pPr>
              <a:r>
                <a:rPr lang="en-US" sz="2400" b="1">
                  <a:solidFill>
                    <a:srgbClr val="C7BEDD"/>
                  </a:solidFill>
                  <a:latin typeface="Calibri"/>
                </a:rPr>
                <a:t>RAG</a:t>
              </a:r>
              <a:endParaRPr lang="en-US" sz="24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2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697510" y="1524000"/>
            <a:ext cx="3127921" cy="1871663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926110" y="1766888"/>
            <a:ext cx="285750" cy="228600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015930" y="1524000"/>
            <a:ext cx="3128070" cy="1871663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244530" y="1766888"/>
            <a:ext cx="285750" cy="228600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697510" y="3586163"/>
            <a:ext cx="3127921" cy="1871663"/>
          </a:xfrm>
          <a:prstGeom prst="rect">
            <a:avLst/>
          </a:prstGeom>
        </p:spPr>
      </p:pic>
      <p:pic>
        <p:nvPicPr>
          <p:cNvPr id="19" name="SK-2-img-1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926110" y="3829050"/>
            <a:ext cx="285750" cy="228600"/>
          </a:xfrm>
          <a:prstGeom prst="rect">
            <a:avLst/>
          </a:prstGeom>
        </p:spPr>
      </p:pic>
      <p:pic>
        <p:nvPicPr>
          <p:cNvPr id="20" name="SK-2-img-1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6015930" y="3586163"/>
            <a:ext cx="3128070" cy="1871663"/>
          </a:xfrm>
          <a:prstGeom prst="rect">
            <a:avLst/>
          </a:prstGeom>
        </p:spPr>
      </p:pic>
      <p:pic>
        <p:nvPicPr>
          <p:cNvPr id="21" name="SK-2-img-2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244530" y="3829050"/>
            <a:ext cx="285750" cy="228600"/>
          </a:xfrm>
          <a:prstGeom prst="rect">
            <a:avLst/>
          </a:prstGeom>
        </p:spPr>
      </p:pic>
      <p:pic>
        <p:nvPicPr>
          <p:cNvPr id="22" name="SK-2-img-2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2697510" y="5686425"/>
            <a:ext cx="6446490" cy="790575"/>
          </a:xfrm>
          <a:prstGeom prst="rect">
            <a:avLst/>
          </a:prstGeom>
        </p:spPr>
      </p:pic>
      <p:sp>
        <p:nvSpPr>
          <p:cNvPr id="24" name="SK-2-text-23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 err="1">
                <a:solidFill>
                  <a:srgbClr val="F5F3FF"/>
                </a:solidFill>
                <a:latin typeface="나눔스퀘어 ExtraBold"/>
                <a:ea typeface="나눔스퀘어 ExtraBold"/>
              </a:rPr>
              <a:t>프로젝트</a:t>
            </a:r>
            <a:r>
              <a:rPr lang="en-US" sz="2550" b="1" kern="0" spc="-30" dirty="0">
                <a:solidFill>
                  <a:srgbClr val="F5F3FF"/>
                </a:solidFill>
                <a:latin typeface="나눔스퀘어 ExtraBold"/>
                <a:ea typeface="나눔스퀘어 ExtraBold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 ExtraBold"/>
                <a:ea typeface="나눔스퀘어 ExtraBold"/>
              </a:rPr>
              <a:t>개요</a:t>
            </a:r>
            <a:r>
              <a:rPr lang="en-US" sz="2550" b="1" kern="0" spc="-30" dirty="0">
                <a:solidFill>
                  <a:srgbClr val="F5F3FF"/>
                </a:solidFill>
                <a:latin typeface="나눔스퀘어 ExtraBold"/>
                <a:ea typeface="나눔스퀘어 ExtraBold"/>
              </a:rPr>
              <a:t> 및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 ExtraBold"/>
                <a:ea typeface="나눔스퀘어 ExtraBold"/>
              </a:rPr>
              <a:t>주요</a:t>
            </a:r>
            <a:r>
              <a:rPr lang="en-US" sz="2550" b="1" kern="0" spc="-30" dirty="0">
                <a:solidFill>
                  <a:srgbClr val="F5F3FF"/>
                </a:solidFill>
                <a:latin typeface="나눔스퀘어 ExtraBold"/>
                <a:ea typeface="나눔스퀘어 ExtraBold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 ExtraBold"/>
                <a:ea typeface="나눔스퀘어 ExtraBold"/>
              </a:rPr>
              <a:t>목적</a:t>
            </a:r>
            <a:endParaRPr lang="en-US" sz="2550" dirty="0">
              <a:latin typeface="나눔스퀘어 ExtraBold"/>
              <a:ea typeface="나눔스퀘어 ExtraBold"/>
            </a:endParaRPr>
          </a:p>
        </p:txBody>
      </p:sp>
      <p:sp>
        <p:nvSpPr>
          <p:cNvPr id="33" name="SK-2-text-32"/>
          <p:cNvSpPr/>
          <p:nvPr/>
        </p:nvSpPr>
        <p:spPr>
          <a:xfrm>
            <a:off x="3326160" y="1752600"/>
            <a:ext cx="193738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문서</a:t>
            </a:r>
            <a:r>
              <a:rPr lang="en-US" sz="1350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OCR </a:t>
            </a:r>
            <a:r>
              <a:rPr lang="en-US" sz="1350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추출</a:t>
            </a:r>
            <a:endParaRPr lang="en-US" sz="135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SK-2-text-33"/>
          <p:cNvSpPr/>
          <p:nvPr/>
        </p:nvSpPr>
        <p:spPr>
          <a:xfrm>
            <a:off x="2926110" y="2124075"/>
            <a:ext cx="2670721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PDF, HWP, DOCX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포맷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문서의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자동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OCR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텍스트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추출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Markdown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변환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최적화</a:t>
            </a:r>
            <a:endParaRPr lang="en-US" sz="1125" dirty="0">
              <a:latin typeface="나눔스퀘어"/>
            </a:endParaRPr>
          </a:p>
        </p:txBody>
      </p:sp>
      <p:sp>
        <p:nvSpPr>
          <p:cNvPr id="35" name="SK-2-text-34"/>
          <p:cNvSpPr/>
          <p:nvPr/>
        </p:nvSpPr>
        <p:spPr>
          <a:xfrm>
            <a:off x="6644580" y="1752600"/>
            <a:ext cx="214312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LLM 지능형 요약</a:t>
            </a:r>
            <a:endParaRPr lang="en-US" sz="13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SK-2-text-35"/>
          <p:cNvSpPr/>
          <p:nvPr/>
        </p:nvSpPr>
        <p:spPr>
          <a:xfrm>
            <a:off x="6244530" y="2124075"/>
            <a:ext cx="267087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카테고리별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6종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요약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포맷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적용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Map-Reduce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병렬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처리를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통한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대용량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요약</a:t>
            </a:r>
            <a:endParaRPr lang="en-US" sz="1125" dirty="0">
              <a:latin typeface="나눔스퀘어"/>
            </a:endParaRPr>
          </a:p>
        </p:txBody>
      </p:sp>
      <p:sp>
        <p:nvSpPr>
          <p:cNvPr id="37" name="SK-2-text-36"/>
          <p:cNvSpPr/>
          <p:nvPr/>
        </p:nvSpPr>
        <p:spPr>
          <a:xfrm>
            <a:off x="3326160" y="3814763"/>
            <a:ext cx="173164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RAG 질의응답</a:t>
            </a:r>
            <a:endParaRPr lang="en-US" sz="13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" name="SK-2-text-37"/>
          <p:cNvSpPr/>
          <p:nvPr/>
        </p:nvSpPr>
        <p:spPr>
          <a:xfrm>
            <a:off x="2926110" y="4186238"/>
            <a:ext cx="2670721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하이브리드 검색과 리랭킹을 활용한 정확한 근거 기반의 실시간 문서 Q&amp;A</a:t>
            </a:r>
            <a:endParaRPr lang="en-US" sz="1125">
              <a:latin typeface="나눔스퀘어"/>
            </a:endParaRPr>
          </a:p>
        </p:txBody>
      </p:sp>
      <p:sp>
        <p:nvSpPr>
          <p:cNvPr id="39" name="SK-2-text-38"/>
          <p:cNvSpPr/>
          <p:nvPr/>
        </p:nvSpPr>
        <p:spPr>
          <a:xfrm>
            <a:off x="6644580" y="3814763"/>
            <a:ext cx="173164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결재 워크플로우</a:t>
            </a:r>
            <a:endParaRPr lang="en-US" sz="13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SK-2-text-39"/>
          <p:cNvSpPr/>
          <p:nvPr/>
        </p:nvSpPr>
        <p:spPr>
          <a:xfrm>
            <a:off x="6244530" y="4186238"/>
            <a:ext cx="267087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요약 결과의 상신, 승인, 반려 및 역할 기반 권한 관리를 포함한 통합 관리 체계</a:t>
            </a:r>
            <a:endParaRPr lang="en-US" sz="1125">
              <a:latin typeface="나눔스퀘어"/>
            </a:endParaRPr>
          </a:p>
        </p:txBody>
      </p:sp>
      <p:sp>
        <p:nvSpPr>
          <p:cNvPr id="41" name="SK-2-text-40"/>
          <p:cNvSpPr/>
          <p:nvPr/>
        </p:nvSpPr>
        <p:spPr>
          <a:xfrm>
            <a:off x="2926110" y="5838825"/>
            <a:ext cx="5989290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>
                <a:solidFill>
                  <a:srgbClr val="F5F3FF"/>
                </a:solidFill>
                <a:latin typeface="Noto Sans KR"/>
                <a:ea typeface="Noto Sans KR"/>
                <a:cs typeface="Noto Sans KR"/>
              </a:rPr>
              <a:t>데이터 추출부터 </a:t>
            </a:r>
            <a:r>
              <a:rPr lang="en-US" sz="1275" b="1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LLM 분석, 지식 검색, 행정 결재</a:t>
            </a:r>
            <a:r>
              <a:rPr lang="en-US" sz="1275">
                <a:solidFill>
                  <a:srgbClr val="F5F3FF"/>
                </a:solidFill>
                <a:latin typeface="Noto Sans KR"/>
                <a:ea typeface="Noto Sans KR"/>
                <a:cs typeface="Noto Sans KR"/>
              </a:rPr>
              <a:t>까지 아우르는</a:t>
            </a:r>
          </a:p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>
                <a:solidFill>
                  <a:srgbClr val="F5F3FF"/>
                </a:solidFill>
                <a:latin typeface="Noto Sans KR"/>
                <a:ea typeface="Noto Sans KR"/>
                <a:cs typeface="Noto Sans KR"/>
              </a:rPr>
              <a:t>엔터프라이즈급 </a:t>
            </a:r>
            <a:r>
              <a:rPr lang="en-US" sz="1275" b="1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풀스택 문서관리 통합 솔루션</a:t>
            </a:r>
            <a:r>
              <a:rPr lang="en-US" sz="1275">
                <a:solidFill>
                  <a:srgbClr val="F5F3FF"/>
                </a:solidFill>
                <a:latin typeface="Noto Sans KR"/>
                <a:ea typeface="Noto Sans KR"/>
                <a:cs typeface="Noto Sans KR"/>
              </a:rPr>
              <a:t> 구축을 목표로 함</a:t>
            </a:r>
            <a:endParaRPr lang="en-US" sz="127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3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637451" y="1548413"/>
            <a:ext cx="3169890" cy="2400300"/>
          </a:xfrm>
          <a:prstGeom prst="rect">
            <a:avLst/>
          </a:prstGeom>
        </p:spPr>
      </p:pic>
      <p:sp>
        <p:nvSpPr>
          <p:cNvPr id="26" name="SK-3-text-25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>
                <a:solidFill>
                  <a:srgbClr val="F5F3FF"/>
                </a:solidFill>
                <a:latin typeface="나눔스퀘어 ExtraBold"/>
                <a:ea typeface="나눔스퀘어 ExtraBold"/>
              </a:rPr>
              <a:t>S/W 아키텍처 정의</a:t>
            </a:r>
            <a:endParaRPr lang="en-US" sz="2550">
              <a:latin typeface="나눔스퀘어 ExtraBold"/>
              <a:ea typeface="나눔스퀘어 ExtraBold"/>
            </a:endParaRPr>
          </a:p>
        </p:txBody>
      </p:sp>
      <p:sp>
        <p:nvSpPr>
          <p:cNvPr id="34" name="SK-3-text-33"/>
          <p:cNvSpPr/>
          <p:nvPr/>
        </p:nvSpPr>
        <p:spPr>
          <a:xfrm>
            <a:off x="5123422" y="1782743"/>
            <a:ext cx="2043288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 dirty="0">
                <a:solidFill>
                  <a:srgbClr val="A78BFA"/>
                </a:solidFill>
                <a:latin typeface="나눔스퀘어 Bold"/>
                <a:ea typeface="나눔스퀘어 Bold"/>
                <a:cs typeface="Noto Sans KR"/>
              </a:rPr>
              <a:t>Frontend Layer</a:t>
            </a:r>
            <a:endParaRPr lang="en-US" sz="1500" dirty="0">
              <a:latin typeface="나눔스퀘어 Bold"/>
              <a:ea typeface="나눔스퀘어 Bold"/>
            </a:endParaRPr>
          </a:p>
        </p:txBody>
      </p:sp>
      <p:sp>
        <p:nvSpPr>
          <p:cNvPr id="35" name="SK-3-text-34"/>
          <p:cNvSpPr/>
          <p:nvPr/>
        </p:nvSpPr>
        <p:spPr>
          <a:xfrm>
            <a:off x="4844759" y="2237633"/>
            <a:ext cx="2788890" cy="23284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40"/>
              </a:lnSpc>
              <a:buNone/>
              <a:defRPr/>
            </a:pP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React +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Vite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기반의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고성능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UI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서비스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구축</a:t>
            </a:r>
            <a:endParaRPr lang="en-US" sz="1275" dirty="0">
              <a:latin typeface="나눔스퀘어_ac"/>
              <a:ea typeface="나눔스퀘어_ac"/>
            </a:endParaRPr>
          </a:p>
        </p:txBody>
      </p:sp>
      <p:sp>
        <p:nvSpPr>
          <p:cNvPr id="36" name="SK-3-text-35"/>
          <p:cNvSpPr/>
          <p:nvPr/>
        </p:nvSpPr>
        <p:spPr>
          <a:xfrm>
            <a:off x="4904343" y="2604845"/>
            <a:ext cx="286509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>
                <a:solidFill>
                  <a:srgbClr val="8B5CF6"/>
                </a:solidFill>
                <a:latin typeface="나눔스퀘어_ac Light" panose="020B0600000101010101" pitchFamily="50" charset="-127"/>
                <a:ea typeface="나눔스퀘어_ac Light" panose="020B0600000101010101" pitchFamily="50" charset="-127"/>
                <a:cs typeface="Noto Sans KR"/>
              </a:rPr>
              <a:t>Port: 5173</a:t>
            </a:r>
            <a:endParaRPr lang="en-US" sz="1125" dirty="0">
              <a:latin typeface="나눔스퀘어_ac Light" panose="020B0600000101010101" pitchFamily="50" charset="-127"/>
              <a:ea typeface="나눔스퀘어_ac Light" panose="020B0600000101010101" pitchFamily="50" charset="-127"/>
            </a:endParaRPr>
          </a:p>
        </p:txBody>
      </p:sp>
      <p:sp>
        <p:nvSpPr>
          <p:cNvPr id="37" name="SK-3-text-36"/>
          <p:cNvSpPr/>
          <p:nvPr/>
        </p:nvSpPr>
        <p:spPr>
          <a:xfrm>
            <a:off x="4904343" y="2857257"/>
            <a:ext cx="299085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Tailwind CSS </a:t>
            </a:r>
            <a:r>
              <a:rPr lang="en-US" sz="1125" dirty="0" err="1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스타일링</a:t>
            </a:r>
            <a:endParaRPr lang="en-US" sz="1125" dirty="0">
              <a:latin typeface="나눔스퀘어_ac Light"/>
              <a:ea typeface="나눔스퀘어_ac Light"/>
            </a:endParaRPr>
          </a:p>
        </p:txBody>
      </p:sp>
      <p:pic>
        <p:nvPicPr>
          <p:cNvPr id="19" name="SK-3-img-18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343865" y="1548413"/>
            <a:ext cx="3169890" cy="2400300"/>
          </a:xfrm>
          <a:prstGeom prst="rect">
            <a:avLst/>
          </a:prstGeom>
        </p:spPr>
      </p:pic>
      <p:sp>
        <p:nvSpPr>
          <p:cNvPr id="38" name="SK-3-text-37"/>
          <p:cNvSpPr/>
          <p:nvPr/>
        </p:nvSpPr>
        <p:spPr>
          <a:xfrm>
            <a:off x="8867740" y="1782743"/>
            <a:ext cx="1776814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 dirty="0">
                <a:solidFill>
                  <a:srgbClr val="A78BFA"/>
                </a:solidFill>
                <a:latin typeface="나눔스퀘어 Bold"/>
                <a:ea typeface="나눔스퀘어 Bold"/>
                <a:cs typeface="Noto Sans KR"/>
              </a:rPr>
              <a:t>Backend Layer</a:t>
            </a:r>
            <a:endParaRPr lang="en-US" sz="1500" dirty="0">
              <a:latin typeface="나눔스퀘어 Bold"/>
              <a:ea typeface="나눔스퀘어 Bold"/>
            </a:endParaRPr>
          </a:p>
        </p:txBody>
      </p:sp>
      <p:sp>
        <p:nvSpPr>
          <p:cNvPr id="39" name="SK-3-text-38"/>
          <p:cNvSpPr/>
          <p:nvPr/>
        </p:nvSpPr>
        <p:spPr>
          <a:xfrm>
            <a:off x="8503105" y="2253263"/>
            <a:ext cx="2610373" cy="2589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40"/>
              </a:lnSpc>
              <a:buNone/>
              <a:defRPr/>
            </a:pP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FastAPI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기반의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비동기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REST API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서버</a:t>
            </a:r>
            <a:endParaRPr lang="en-US" sz="1275" dirty="0">
              <a:latin typeface="나눔스퀘어_ac"/>
              <a:ea typeface="나눔스퀘어_ac"/>
            </a:endParaRPr>
          </a:p>
        </p:txBody>
      </p:sp>
      <p:sp>
        <p:nvSpPr>
          <p:cNvPr id="40" name="SK-3-text-39"/>
          <p:cNvSpPr/>
          <p:nvPr/>
        </p:nvSpPr>
        <p:spPr>
          <a:xfrm>
            <a:off x="8648665" y="2664624"/>
            <a:ext cx="286509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Port: 8000</a:t>
            </a:r>
            <a:endParaRPr lang="en-US" sz="1125" dirty="0">
              <a:latin typeface="나눔스퀘어_ac Light"/>
              <a:ea typeface="나눔스퀘어_ac Light"/>
            </a:endParaRPr>
          </a:p>
        </p:txBody>
      </p:sp>
      <p:sp>
        <p:nvSpPr>
          <p:cNvPr id="41" name="SK-3-text-40"/>
          <p:cNvSpPr/>
          <p:nvPr/>
        </p:nvSpPr>
        <p:spPr>
          <a:xfrm>
            <a:off x="8648665" y="2917036"/>
            <a:ext cx="286509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Pydantic</a:t>
            </a:r>
            <a:r>
              <a:rPr lang="en-US" sz="1125" dirty="0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 </a:t>
            </a:r>
            <a:r>
              <a:rPr lang="en-US" sz="1125" dirty="0" err="1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데이터</a:t>
            </a:r>
            <a:r>
              <a:rPr lang="en-US" sz="1125" dirty="0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 </a:t>
            </a:r>
            <a:r>
              <a:rPr lang="en-US" sz="1125" dirty="0" err="1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검증</a:t>
            </a:r>
            <a:endParaRPr lang="en-US" sz="1125" dirty="0">
              <a:latin typeface="나눔스퀘어_ac Light"/>
              <a:ea typeface="나눔스퀘어_ac Light"/>
            </a:endParaRPr>
          </a:p>
        </p:txBody>
      </p:sp>
      <p:pic>
        <p:nvPicPr>
          <p:cNvPr id="23" name="SK-3-img-2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26549" y="4044652"/>
            <a:ext cx="3169890" cy="2400300"/>
          </a:xfrm>
          <a:prstGeom prst="rect">
            <a:avLst/>
          </a:prstGeom>
        </p:spPr>
      </p:pic>
      <p:sp>
        <p:nvSpPr>
          <p:cNvPr id="46" name="SK-3-text-45"/>
          <p:cNvSpPr/>
          <p:nvPr/>
        </p:nvSpPr>
        <p:spPr>
          <a:xfrm>
            <a:off x="7250424" y="4235152"/>
            <a:ext cx="3217515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 dirty="0">
                <a:solidFill>
                  <a:srgbClr val="A78BFA"/>
                </a:solidFill>
                <a:latin typeface="나눔스퀘어 Bold"/>
                <a:ea typeface="나눔스퀘어 Bold"/>
                <a:cs typeface="Noto Sans KR"/>
              </a:rPr>
              <a:t>Storage &amp; Cache</a:t>
            </a:r>
            <a:endParaRPr lang="en-US" sz="1500" dirty="0">
              <a:latin typeface="나눔스퀘어 Bold"/>
              <a:ea typeface="나눔스퀘어 Bold"/>
            </a:endParaRPr>
          </a:p>
        </p:txBody>
      </p:sp>
      <p:sp>
        <p:nvSpPr>
          <p:cNvPr id="47" name="SK-3-text-46"/>
          <p:cNvSpPr/>
          <p:nvPr/>
        </p:nvSpPr>
        <p:spPr>
          <a:xfrm>
            <a:off x="6917049" y="4772947"/>
            <a:ext cx="3550890" cy="2589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40"/>
              </a:lnSpc>
              <a:buNone/>
              <a:defRPr/>
            </a:pP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데이터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영속화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및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쿼리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응답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속도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최적화</a:t>
            </a:r>
            <a:endParaRPr lang="en-US" sz="1275" dirty="0">
              <a:latin typeface="나눔스퀘어_ac"/>
              <a:ea typeface="나눔스퀘어_ac"/>
            </a:endParaRPr>
          </a:p>
        </p:txBody>
      </p:sp>
      <p:sp>
        <p:nvSpPr>
          <p:cNvPr id="48" name="SK-3-text-47"/>
          <p:cNvSpPr/>
          <p:nvPr/>
        </p:nvSpPr>
        <p:spPr>
          <a:xfrm>
            <a:off x="7040405" y="5424783"/>
            <a:ext cx="343659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PostgreSQL (Metadata)</a:t>
            </a:r>
            <a:endParaRPr lang="en-US" sz="1125" dirty="0">
              <a:latin typeface="나눔스퀘어_ac Light"/>
              <a:ea typeface="나눔스퀘어_ac Light"/>
            </a:endParaRPr>
          </a:p>
        </p:txBody>
      </p:sp>
      <p:sp>
        <p:nvSpPr>
          <p:cNvPr id="49" name="SK-3-text-48"/>
          <p:cNvSpPr/>
          <p:nvPr/>
        </p:nvSpPr>
        <p:spPr>
          <a:xfrm>
            <a:off x="7040405" y="5677195"/>
            <a:ext cx="333375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Redis (Query Cache)</a:t>
            </a:r>
            <a:endParaRPr lang="en-US" sz="1125" dirty="0">
              <a:latin typeface="나눔스퀘어_ac Light"/>
              <a:ea typeface="나눔스퀘어_ac Light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1E671EE-7C9F-4D5C-AEE3-7DC2C1AF011C}"/>
              </a:ext>
            </a:extLst>
          </p:cNvPr>
          <p:cNvGrpSpPr/>
          <p:nvPr/>
        </p:nvGrpSpPr>
        <p:grpSpPr>
          <a:xfrm>
            <a:off x="931038" y="1548413"/>
            <a:ext cx="3169890" cy="2400300"/>
            <a:chOff x="723900" y="1491853"/>
            <a:chExt cx="3169890" cy="2400300"/>
          </a:xfrm>
        </p:grpSpPr>
        <p:pic>
          <p:nvPicPr>
            <p:cNvPr id="18" name="SK-3-img-17" descr="preencoded.png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2670869" y="1825228"/>
              <a:ext cx="238125" cy="190500"/>
            </a:xfrm>
            <a:prstGeom prst="rect">
              <a:avLst/>
            </a:prstGeom>
          </p:spPr>
        </p:pic>
        <p:pic>
          <p:nvPicPr>
            <p:cNvPr id="62" name="SK-3-img-16" descr="preencoded.png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723900" y="1491853"/>
              <a:ext cx="3169890" cy="2400300"/>
            </a:xfrm>
            <a:prstGeom prst="rect">
              <a:avLst/>
            </a:prstGeom>
          </p:spPr>
        </p:pic>
        <p:sp>
          <p:nvSpPr>
            <p:cNvPr id="63" name="SK-3-text-34"/>
            <p:cNvSpPr/>
            <p:nvPr/>
          </p:nvSpPr>
          <p:spPr>
            <a:xfrm>
              <a:off x="914400" y="2259225"/>
              <a:ext cx="2788890" cy="517922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anchor="ctr"/>
            <a:lstStyle/>
            <a:p>
              <a:pPr marL="0" indent="0">
                <a:lnSpc>
                  <a:spcPts val="2040"/>
                </a:lnSpc>
                <a:buNone/>
                <a:defRPr/>
              </a:pPr>
              <a:r>
                <a:rPr lang="en-US" sz="1275" dirty="0" err="1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전체</a:t>
              </a:r>
              <a:r>
                <a:rPr lang="en-US" sz="1275" dirty="0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 </a:t>
              </a:r>
              <a:r>
                <a:rPr lang="en-US" sz="1275" dirty="0" err="1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서비스를</a:t>
              </a:r>
              <a:r>
                <a:rPr lang="en-US" sz="1275" dirty="0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 </a:t>
              </a:r>
              <a:r>
                <a:rPr lang="en-US" sz="1275" dirty="0" err="1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독립적인</a:t>
              </a:r>
              <a:r>
                <a:rPr lang="en-US" sz="1275" dirty="0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 </a:t>
              </a:r>
              <a:r>
                <a:rPr lang="en-US" sz="1275" dirty="0" err="1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컨테이너로</a:t>
              </a:r>
              <a:r>
                <a:rPr lang="en-US" sz="1275" dirty="0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 </a:t>
              </a:r>
              <a:r>
                <a:rPr lang="en-US" sz="1275" dirty="0" err="1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추상화하여</a:t>
              </a:r>
              <a:r>
                <a:rPr lang="en-US" sz="1275" dirty="0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 </a:t>
              </a:r>
              <a:r>
                <a:rPr lang="en-US" sz="1275" dirty="0" err="1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환경</a:t>
              </a:r>
              <a:r>
                <a:rPr lang="en-US" sz="1275" dirty="0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 </a:t>
              </a:r>
              <a:r>
                <a:rPr lang="en-US" sz="1275" dirty="0" err="1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일관성</a:t>
              </a:r>
              <a:r>
                <a:rPr lang="en-US" sz="1275" dirty="0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 </a:t>
              </a:r>
              <a:r>
                <a:rPr lang="en-US" sz="1275" dirty="0" err="1">
                  <a:solidFill>
                    <a:srgbClr val="C4B5FD"/>
                  </a:solidFill>
                  <a:latin typeface="나눔스퀘어_ac"/>
                  <a:ea typeface="나눔스퀘어_ac"/>
                  <a:cs typeface="Noto Sans KR"/>
                </a:rPr>
                <a:t>확보</a:t>
              </a:r>
              <a:endParaRPr lang="en-US" sz="1275" dirty="0">
                <a:latin typeface="나눔스퀘어_ac"/>
                <a:ea typeface="나눔스퀘어_ac"/>
              </a:endParaRPr>
            </a:p>
          </p:txBody>
        </p:sp>
        <p:sp>
          <p:nvSpPr>
            <p:cNvPr id="64" name="SK-3-text-37"/>
            <p:cNvSpPr/>
            <p:nvPr/>
          </p:nvSpPr>
          <p:spPr>
            <a:xfrm>
              <a:off x="1271137" y="1729978"/>
              <a:ext cx="2003527" cy="2857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anchor="ctr"/>
            <a:lstStyle/>
            <a:p>
              <a:pPr marL="0" indent="0">
                <a:lnSpc>
                  <a:spcPts val="2250"/>
                </a:lnSpc>
                <a:buNone/>
                <a:defRPr/>
              </a:pPr>
              <a:r>
                <a:rPr lang="en-US" altLang="ko-KR" sz="1500" b="1" dirty="0">
                  <a:solidFill>
                    <a:srgbClr val="A78BFA"/>
                  </a:solidFill>
                  <a:latin typeface="나눔스퀘어 Bold"/>
                  <a:ea typeface="나눔스퀘어 Bold"/>
                  <a:cs typeface="Noto Sans KR"/>
                </a:rPr>
                <a:t>Docker Compose </a:t>
              </a:r>
            </a:p>
            <a:p>
              <a:pPr marL="0" indent="0">
                <a:lnSpc>
                  <a:spcPts val="2250"/>
                </a:lnSpc>
                <a:buNone/>
                <a:defRPr/>
              </a:pPr>
              <a:r>
                <a:rPr lang="ko-KR" altLang="en-US" sz="1500" b="1" dirty="0">
                  <a:solidFill>
                    <a:srgbClr val="A78BFA"/>
                  </a:solidFill>
                  <a:latin typeface="나눔스퀘어 Bold"/>
                  <a:ea typeface="나눔스퀘어 Bold"/>
                  <a:cs typeface="Noto Sans KR"/>
                </a:rPr>
                <a:t>기반 컨테이너화</a:t>
              </a:r>
            </a:p>
          </p:txBody>
        </p:sp>
        <p:pic>
          <p:nvPicPr>
            <p:cNvPr id="65" name="SK-3-img-9" descr="preencoded.png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912540" y="1737568"/>
              <a:ext cx="214313" cy="175320"/>
            </a:xfrm>
            <a:prstGeom prst="rect">
              <a:avLst/>
            </a:prstGeom>
          </p:spPr>
        </p:pic>
      </p:grpSp>
      <p:pic>
        <p:nvPicPr>
          <p:cNvPr id="12" name="그래픽 11" descr="톱니바퀴 단색으로 채워진">
            <a:extLst>
              <a:ext uri="{FF2B5EF4-FFF2-40B4-BE49-F238E27FC236}">
                <a16:creationId xmlns:a16="http://schemas.microsoft.com/office/drawing/2014/main" id="{0AABFB8A-DC68-4BA8-BE7A-F0392C8022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0693" y="1811857"/>
            <a:ext cx="274890" cy="274890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735575" y="4049611"/>
            <a:ext cx="3169890" cy="2400300"/>
          </a:xfrm>
          <a:prstGeom prst="rect">
            <a:avLst/>
          </a:prstGeom>
        </p:spPr>
      </p:pic>
      <p:sp>
        <p:nvSpPr>
          <p:cNvPr id="42" name="SK-3-text-41"/>
          <p:cNvSpPr/>
          <p:nvPr/>
        </p:nvSpPr>
        <p:spPr>
          <a:xfrm>
            <a:off x="3259450" y="4240111"/>
            <a:ext cx="3886200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 dirty="0">
                <a:solidFill>
                  <a:srgbClr val="A78BFA"/>
                </a:solidFill>
                <a:latin typeface="나눔스퀘어 Bold"/>
                <a:ea typeface="나눔스퀘어 Bold"/>
                <a:cs typeface="Noto Sans KR"/>
              </a:rPr>
              <a:t>AI &amp; Vector Layer</a:t>
            </a:r>
            <a:endParaRPr lang="en-US" sz="1500" dirty="0">
              <a:latin typeface="나눔스퀘어 Bold"/>
              <a:ea typeface="나눔스퀘어 Bold"/>
            </a:endParaRPr>
          </a:p>
        </p:txBody>
      </p:sp>
      <p:sp>
        <p:nvSpPr>
          <p:cNvPr id="43" name="SK-3-text-42"/>
          <p:cNvSpPr/>
          <p:nvPr/>
        </p:nvSpPr>
        <p:spPr>
          <a:xfrm>
            <a:off x="2926075" y="4772947"/>
            <a:ext cx="2788890" cy="517922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40"/>
              </a:lnSpc>
              <a:buNone/>
              <a:defRPr/>
            </a:pP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Ollama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기반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로컬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LLM 및 </a:t>
            </a:r>
          </a:p>
          <a:p>
            <a:pPr marL="0" indent="0">
              <a:lnSpc>
                <a:spcPts val="2040"/>
              </a:lnSpc>
              <a:buNone/>
              <a:defRPr/>
            </a:pP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ChromaDB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벡터</a:t>
            </a:r>
            <a:r>
              <a:rPr lang="en-US" sz="1275" dirty="0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 </a:t>
            </a:r>
            <a:r>
              <a:rPr lang="en-US" sz="1275" dirty="0" err="1">
                <a:solidFill>
                  <a:srgbClr val="C4B5FD"/>
                </a:solidFill>
                <a:latin typeface="나눔스퀘어_ac"/>
                <a:ea typeface="나눔스퀘어_ac"/>
                <a:cs typeface="Noto Sans KR"/>
              </a:rPr>
              <a:t>저장소</a:t>
            </a:r>
            <a:endParaRPr lang="en-US" sz="1275" dirty="0">
              <a:latin typeface="나눔스퀘어_ac"/>
              <a:ea typeface="나눔스퀘어_ac"/>
            </a:endParaRPr>
          </a:p>
        </p:txBody>
      </p:sp>
      <p:sp>
        <p:nvSpPr>
          <p:cNvPr id="44" name="SK-3-text-43"/>
          <p:cNvSpPr/>
          <p:nvPr/>
        </p:nvSpPr>
        <p:spPr>
          <a:xfrm>
            <a:off x="3040375" y="5424783"/>
            <a:ext cx="293370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BGE-M3 Embedding</a:t>
            </a:r>
            <a:endParaRPr lang="en-US" sz="1125" dirty="0">
              <a:latin typeface="나눔스퀘어_ac Light"/>
              <a:ea typeface="나눔스퀘어_ac Light"/>
            </a:endParaRPr>
          </a:p>
        </p:txBody>
      </p:sp>
      <p:sp>
        <p:nvSpPr>
          <p:cNvPr id="45" name="SK-3-text-44"/>
          <p:cNvSpPr/>
          <p:nvPr/>
        </p:nvSpPr>
        <p:spPr>
          <a:xfrm>
            <a:off x="3040375" y="5677195"/>
            <a:ext cx="286509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Reranker</a:t>
            </a:r>
            <a:r>
              <a:rPr lang="en-US" sz="1125" dirty="0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 </a:t>
            </a:r>
            <a:r>
              <a:rPr lang="en-US" sz="1125" dirty="0" err="1">
                <a:solidFill>
                  <a:srgbClr val="8B5CF6"/>
                </a:solidFill>
                <a:latin typeface="나눔스퀘어_ac Light"/>
                <a:ea typeface="나눔스퀘어_ac Light"/>
                <a:cs typeface="Noto Sans KR"/>
              </a:rPr>
              <a:t>최적화</a:t>
            </a:r>
            <a:endParaRPr lang="en-US" sz="1125" dirty="0">
              <a:latin typeface="나눔스퀘어_ac Light"/>
              <a:ea typeface="나눔스퀘어_ac Light"/>
            </a:endParaRPr>
          </a:p>
        </p:txBody>
      </p:sp>
      <p:pic>
        <p:nvPicPr>
          <p:cNvPr id="14" name="그래픽 13" descr="머리 안의 뇌 단색으로 채워진">
            <a:extLst>
              <a:ext uri="{FF2B5EF4-FFF2-40B4-BE49-F238E27FC236}">
                <a16:creationId xmlns:a16="http://schemas.microsoft.com/office/drawing/2014/main" id="{5A7978E1-EB6F-4366-AEA1-DA7E82F4C9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64842" y="4228796"/>
            <a:ext cx="351066" cy="351066"/>
          </a:xfrm>
          <a:prstGeom prst="rect">
            <a:avLst/>
          </a:prstGeom>
        </p:spPr>
      </p:pic>
      <p:pic>
        <p:nvPicPr>
          <p:cNvPr id="27" name="그래픽 26" descr="데이터베이스 단색으로 채워진">
            <a:extLst>
              <a:ext uri="{FF2B5EF4-FFF2-40B4-BE49-F238E27FC236}">
                <a16:creationId xmlns:a16="http://schemas.microsoft.com/office/drawing/2014/main" id="{0731E1B6-461D-4578-BA8B-99E59CBEDC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72221" y="4264876"/>
            <a:ext cx="277599" cy="277599"/>
          </a:xfrm>
          <a:prstGeom prst="rect">
            <a:avLst/>
          </a:prstGeom>
        </p:spPr>
      </p:pic>
      <p:pic>
        <p:nvPicPr>
          <p:cNvPr id="29" name="그래픽 28" descr="모니터 단색으로 채워진">
            <a:extLst>
              <a:ext uri="{FF2B5EF4-FFF2-40B4-BE49-F238E27FC236}">
                <a16:creationId xmlns:a16="http://schemas.microsoft.com/office/drawing/2014/main" id="{1BA0D3C5-8DFB-458E-9351-F012DD4096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53549" y="1789651"/>
            <a:ext cx="313281" cy="313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4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524000"/>
            <a:ext cx="3530650" cy="2381250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62000" y="1714500"/>
            <a:ext cx="342900" cy="342900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14388" y="1790700"/>
            <a:ext cx="238125" cy="190500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435400" y="1754981"/>
            <a:ext cx="476250" cy="261937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62000" y="3505200"/>
            <a:ext cx="466725" cy="209550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304925" y="3505200"/>
            <a:ext cx="381000" cy="209550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762125" y="3505200"/>
            <a:ext cx="914400" cy="209550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571500" y="4095750"/>
            <a:ext cx="3530650" cy="2381250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62000" y="4286250"/>
            <a:ext cx="342900" cy="342900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14388" y="4362450"/>
            <a:ext cx="238125" cy="190500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3359200" y="4326731"/>
            <a:ext cx="552450" cy="261937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762000" y="6076950"/>
            <a:ext cx="571500" cy="209550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409700" y="6076950"/>
            <a:ext cx="838200" cy="209550"/>
          </a:xfrm>
          <a:prstGeom prst="rect">
            <a:avLst/>
          </a:prstGeom>
        </p:spPr>
      </p:pic>
      <p:pic>
        <p:nvPicPr>
          <p:cNvPr id="19" name="SK-4-img-18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2324100" y="6076950"/>
            <a:ext cx="762000" cy="209550"/>
          </a:xfrm>
          <a:prstGeom prst="rect">
            <a:avLst/>
          </a:prstGeom>
        </p:spPr>
      </p:pic>
      <p:pic>
        <p:nvPicPr>
          <p:cNvPr id="20" name="SK-4-img-19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330750" y="1524000"/>
            <a:ext cx="3530650" cy="2381250"/>
          </a:xfrm>
          <a:prstGeom prst="rect">
            <a:avLst/>
          </a:prstGeom>
        </p:spPr>
      </p:pic>
      <p:pic>
        <p:nvPicPr>
          <p:cNvPr id="21" name="SK-4-img-20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521250" y="1714500"/>
            <a:ext cx="342900" cy="342900"/>
          </a:xfrm>
          <a:prstGeom prst="rect">
            <a:avLst/>
          </a:prstGeom>
        </p:spPr>
      </p:pic>
      <p:pic>
        <p:nvPicPr>
          <p:cNvPr id="22" name="SK-4-img-21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4573637" y="1790700"/>
            <a:ext cx="238125" cy="190500"/>
          </a:xfrm>
          <a:prstGeom prst="rect">
            <a:avLst/>
          </a:prstGeom>
        </p:spPr>
      </p:pic>
      <p:pic>
        <p:nvPicPr>
          <p:cNvPr id="23" name="SK-4-img-2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7166074" y="1754981"/>
            <a:ext cx="504825" cy="261937"/>
          </a:xfrm>
          <a:prstGeom prst="rect">
            <a:avLst/>
          </a:prstGeom>
        </p:spPr>
      </p:pic>
      <p:pic>
        <p:nvPicPr>
          <p:cNvPr id="24" name="SK-4-img-23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250" y="3505200"/>
            <a:ext cx="981075" cy="209550"/>
          </a:xfrm>
          <a:prstGeom prst="rect">
            <a:avLst/>
          </a:prstGeom>
        </p:spPr>
      </p:pic>
      <p:pic>
        <p:nvPicPr>
          <p:cNvPr id="25" name="SK-4-img-24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5578525" y="3505200"/>
            <a:ext cx="1038225" cy="209550"/>
          </a:xfrm>
          <a:prstGeom prst="rect">
            <a:avLst/>
          </a:prstGeom>
        </p:spPr>
      </p:pic>
      <p:pic>
        <p:nvPicPr>
          <p:cNvPr id="26" name="SK-4-img-25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4330750" y="4095750"/>
            <a:ext cx="3530650" cy="2381250"/>
          </a:xfrm>
          <a:prstGeom prst="rect">
            <a:avLst/>
          </a:prstGeom>
        </p:spPr>
      </p:pic>
      <p:pic>
        <p:nvPicPr>
          <p:cNvPr id="27" name="SK-4-img-26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521250" y="4286250"/>
            <a:ext cx="342900" cy="342900"/>
          </a:xfrm>
          <a:prstGeom prst="rect">
            <a:avLst/>
          </a:prstGeom>
        </p:spPr>
      </p:pic>
      <p:pic>
        <p:nvPicPr>
          <p:cNvPr id="28" name="SK-4-img-27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4573637" y="4362450"/>
            <a:ext cx="238125" cy="190500"/>
          </a:xfrm>
          <a:prstGeom prst="rect">
            <a:avLst/>
          </a:prstGeom>
        </p:spPr>
      </p:pic>
      <p:pic>
        <p:nvPicPr>
          <p:cNvPr id="29" name="SK-4-img-28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7175599" y="4326731"/>
            <a:ext cx="495300" cy="261937"/>
          </a:xfrm>
          <a:prstGeom prst="rect">
            <a:avLst/>
          </a:prstGeom>
        </p:spPr>
      </p:pic>
      <p:pic>
        <p:nvPicPr>
          <p:cNvPr id="30" name="SK-4-img-29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521250" y="6076950"/>
            <a:ext cx="561975" cy="209550"/>
          </a:xfrm>
          <a:prstGeom prst="rect">
            <a:avLst/>
          </a:prstGeom>
        </p:spPr>
      </p:pic>
      <p:pic>
        <p:nvPicPr>
          <p:cNvPr id="31" name="SK-4-img-30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5159425" y="6076950"/>
            <a:ext cx="866775" cy="209550"/>
          </a:xfrm>
          <a:prstGeom prst="rect">
            <a:avLst/>
          </a:prstGeom>
        </p:spPr>
      </p:pic>
      <p:pic>
        <p:nvPicPr>
          <p:cNvPr id="32" name="SK-4-img-31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8089999" y="1524000"/>
            <a:ext cx="3530650" cy="3357563"/>
          </a:xfrm>
          <a:prstGeom prst="rect">
            <a:avLst/>
          </a:prstGeom>
        </p:spPr>
      </p:pic>
      <p:pic>
        <p:nvPicPr>
          <p:cNvPr id="33" name="SK-4-img-32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8280499" y="1714500"/>
            <a:ext cx="342900" cy="342900"/>
          </a:xfrm>
          <a:prstGeom prst="rect">
            <a:avLst/>
          </a:prstGeom>
        </p:spPr>
      </p:pic>
      <p:pic>
        <p:nvPicPr>
          <p:cNvPr id="34" name="SK-4-img-33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8332887" y="1790700"/>
            <a:ext cx="238125" cy="190500"/>
          </a:xfrm>
          <a:prstGeom prst="rect">
            <a:avLst/>
          </a:prstGeom>
        </p:spPr>
      </p:pic>
      <p:pic>
        <p:nvPicPr>
          <p:cNvPr id="35" name="SK-4-img-34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10887224" y="1754981"/>
            <a:ext cx="542925" cy="261937"/>
          </a:xfrm>
          <a:prstGeom prst="rect">
            <a:avLst/>
          </a:prstGeom>
        </p:spPr>
      </p:pic>
      <p:pic>
        <p:nvPicPr>
          <p:cNvPr id="36" name="SK-4-img-35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280499" y="4481513"/>
            <a:ext cx="828675" cy="209550"/>
          </a:xfrm>
          <a:prstGeom prst="rect">
            <a:avLst/>
          </a:prstGeom>
        </p:spPr>
      </p:pic>
      <p:pic>
        <p:nvPicPr>
          <p:cNvPr id="37" name="SK-4-img-36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9185374" y="4481513"/>
            <a:ext cx="714375" cy="209550"/>
          </a:xfrm>
          <a:prstGeom prst="rect">
            <a:avLst/>
          </a:prstGeom>
        </p:spPr>
      </p:pic>
      <p:pic>
        <p:nvPicPr>
          <p:cNvPr id="38" name="SK-4-img-37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9975949" y="4481513"/>
            <a:ext cx="723900" cy="209550"/>
          </a:xfrm>
          <a:prstGeom prst="rect">
            <a:avLst/>
          </a:prstGeom>
        </p:spPr>
      </p:pic>
      <p:pic>
        <p:nvPicPr>
          <p:cNvPr id="39" name="SK-4-img-38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8089999" y="5072063"/>
            <a:ext cx="3530650" cy="1404938"/>
          </a:xfrm>
          <a:prstGeom prst="rect">
            <a:avLst/>
          </a:prstGeom>
        </p:spPr>
      </p:pic>
      <p:pic>
        <p:nvPicPr>
          <p:cNvPr id="40" name="SK-4-img-39" descr="preencoded.png"/>
          <p:cNvPicPr>
            <a:picLocks noChangeAspect="1"/>
          </p:cNvPicPr>
          <p:nvPr/>
        </p:nvPicPr>
        <p:blipFill rotWithShape="1">
          <a:blip r:embed="rId36"/>
          <a:stretch>
            <a:fillRect/>
          </a:stretch>
        </p:blipFill>
        <p:spPr>
          <a:xfrm>
            <a:off x="8242399" y="5262563"/>
            <a:ext cx="190500" cy="152400"/>
          </a:xfrm>
          <a:prstGeom prst="rect">
            <a:avLst/>
          </a:prstGeom>
        </p:spPr>
      </p:pic>
      <p:sp>
        <p:nvSpPr>
          <p:cNvPr id="42" name="SK-4-text-41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서비스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구조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및 Docker Compose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구성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3" name="SK-4-text-42"/>
          <p:cNvSpPr/>
          <p:nvPr/>
        </p:nvSpPr>
        <p:spPr>
          <a:xfrm>
            <a:off x="1219200" y="1728788"/>
            <a:ext cx="2116455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Frontend</a:t>
            </a:r>
            <a:endParaRPr lang="en-US" sz="165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SK-4-text-43"/>
          <p:cNvSpPr/>
          <p:nvPr/>
        </p:nvSpPr>
        <p:spPr>
          <a:xfrm>
            <a:off x="3530650" y="1754981"/>
            <a:ext cx="759714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 dirty="0">
                <a:solidFill>
                  <a:srgbClr val="C4B5FD"/>
                </a:solidFill>
              </a:rPr>
              <a:t>:5173</a:t>
            </a:r>
            <a:endParaRPr lang="en-US" sz="975" dirty="0"/>
          </a:p>
        </p:txBody>
      </p:sp>
      <p:sp>
        <p:nvSpPr>
          <p:cNvPr id="45" name="SK-4-text-44"/>
          <p:cNvSpPr/>
          <p:nvPr/>
        </p:nvSpPr>
        <p:spPr>
          <a:xfrm>
            <a:off x="762000" y="2171700"/>
            <a:ext cx="314965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사용자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인터페이스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대시보드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서비스를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제공하며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,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Vite를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통한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최적화된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번들링을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지원합니다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125" dirty="0">
              <a:latin typeface="나눔스퀘어"/>
            </a:endParaRPr>
          </a:p>
        </p:txBody>
      </p:sp>
      <p:sp>
        <p:nvSpPr>
          <p:cNvPr id="46" name="SK-4-text-45"/>
          <p:cNvSpPr/>
          <p:nvPr/>
        </p:nvSpPr>
        <p:spPr>
          <a:xfrm>
            <a:off x="838200" y="3505200"/>
            <a:ext cx="538065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React</a:t>
            </a:r>
            <a:endParaRPr lang="en-US" sz="900"/>
          </a:p>
        </p:txBody>
      </p:sp>
      <p:sp>
        <p:nvSpPr>
          <p:cNvPr id="47" name="SK-4-text-46"/>
          <p:cNvSpPr/>
          <p:nvPr/>
        </p:nvSpPr>
        <p:spPr>
          <a:xfrm>
            <a:off x="1381125" y="3505200"/>
            <a:ext cx="405384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Vite</a:t>
            </a:r>
            <a:endParaRPr lang="en-US" sz="900"/>
          </a:p>
        </p:txBody>
      </p:sp>
      <p:sp>
        <p:nvSpPr>
          <p:cNvPr id="48" name="SK-4-text-47"/>
          <p:cNvSpPr/>
          <p:nvPr/>
        </p:nvSpPr>
        <p:spPr>
          <a:xfrm>
            <a:off x="1838325" y="3505200"/>
            <a:ext cx="1447800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Tailwind CSS</a:t>
            </a:r>
            <a:endParaRPr lang="en-US" sz="900"/>
          </a:p>
        </p:txBody>
      </p:sp>
      <p:sp>
        <p:nvSpPr>
          <p:cNvPr id="49" name="SK-4-text-48"/>
          <p:cNvSpPr/>
          <p:nvPr/>
        </p:nvSpPr>
        <p:spPr>
          <a:xfrm>
            <a:off x="1219200" y="4300538"/>
            <a:ext cx="1864995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Backend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SK-4-text-49"/>
          <p:cNvSpPr/>
          <p:nvPr/>
        </p:nvSpPr>
        <p:spPr>
          <a:xfrm>
            <a:off x="3454450" y="4326731"/>
            <a:ext cx="822566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>
                <a:solidFill>
                  <a:srgbClr val="C4B5FD"/>
                </a:solidFill>
              </a:rPr>
              <a:t>:8000</a:t>
            </a:r>
            <a:endParaRPr lang="en-US" sz="975"/>
          </a:p>
        </p:txBody>
      </p:sp>
      <p:sp>
        <p:nvSpPr>
          <p:cNvPr id="51" name="SK-4-text-50"/>
          <p:cNvSpPr/>
          <p:nvPr/>
        </p:nvSpPr>
        <p:spPr>
          <a:xfrm>
            <a:off x="762000" y="4743450"/>
            <a:ext cx="314965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비동기 처리를 지원하는 고성능 REST API 서버로, 문서 처리 파이프라인의 핵심 로직을 담당합니다.</a:t>
            </a:r>
            <a:endParaRPr lang="en-US" sz="1125">
              <a:latin typeface="나눔스퀘어"/>
            </a:endParaRPr>
          </a:p>
        </p:txBody>
      </p:sp>
      <p:sp>
        <p:nvSpPr>
          <p:cNvPr id="52" name="SK-4-text-51"/>
          <p:cNvSpPr/>
          <p:nvPr/>
        </p:nvSpPr>
        <p:spPr>
          <a:xfrm>
            <a:off x="838200" y="6076950"/>
            <a:ext cx="780288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FastAPI</a:t>
            </a:r>
            <a:endParaRPr lang="en-US" sz="900"/>
          </a:p>
        </p:txBody>
      </p:sp>
      <p:sp>
        <p:nvSpPr>
          <p:cNvPr id="53" name="SK-4-text-52"/>
          <p:cNvSpPr/>
          <p:nvPr/>
        </p:nvSpPr>
        <p:spPr>
          <a:xfrm>
            <a:off x="1485900" y="6076950"/>
            <a:ext cx="1535084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Python 3.11</a:t>
            </a:r>
            <a:endParaRPr lang="en-US" sz="900"/>
          </a:p>
        </p:txBody>
      </p:sp>
      <p:sp>
        <p:nvSpPr>
          <p:cNvPr id="54" name="SK-4-text-53"/>
          <p:cNvSpPr/>
          <p:nvPr/>
        </p:nvSpPr>
        <p:spPr>
          <a:xfrm>
            <a:off x="2400300" y="6076950"/>
            <a:ext cx="1063752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LangChain</a:t>
            </a:r>
            <a:endParaRPr lang="en-US" sz="900"/>
          </a:p>
        </p:txBody>
      </p:sp>
      <p:sp>
        <p:nvSpPr>
          <p:cNvPr id="55" name="SK-4-text-54"/>
          <p:cNvSpPr/>
          <p:nvPr/>
        </p:nvSpPr>
        <p:spPr>
          <a:xfrm>
            <a:off x="4978450" y="1728788"/>
            <a:ext cx="2116455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Database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6" name="SK-4-text-55"/>
          <p:cNvSpPr/>
          <p:nvPr/>
        </p:nvSpPr>
        <p:spPr>
          <a:xfrm>
            <a:off x="7261324" y="1754981"/>
            <a:ext cx="785507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>
                <a:solidFill>
                  <a:srgbClr val="C4B5FD"/>
                </a:solidFill>
              </a:rPr>
              <a:t>:5432</a:t>
            </a:r>
            <a:endParaRPr lang="en-US" sz="975"/>
          </a:p>
        </p:txBody>
      </p:sp>
      <p:sp>
        <p:nvSpPr>
          <p:cNvPr id="57" name="SK-4-text-56"/>
          <p:cNvSpPr/>
          <p:nvPr/>
        </p:nvSpPr>
        <p:spPr>
          <a:xfrm>
            <a:off x="4521250" y="2171700"/>
            <a:ext cx="314965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시스템의 메타데이터, 사용자 정보, 결재 워크플로우 이력을 저장하는 관계형 데이터베이스입니다.</a:t>
            </a:r>
            <a:endParaRPr lang="en-US" sz="1125">
              <a:latin typeface="나눔스퀘어"/>
            </a:endParaRPr>
          </a:p>
        </p:txBody>
      </p:sp>
      <p:sp>
        <p:nvSpPr>
          <p:cNvPr id="58" name="SK-4-text-57"/>
          <p:cNvSpPr/>
          <p:nvPr/>
        </p:nvSpPr>
        <p:spPr>
          <a:xfrm>
            <a:off x="4597450" y="3505200"/>
            <a:ext cx="1736768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PostgreSQL 16</a:t>
            </a:r>
            <a:endParaRPr lang="en-US" sz="900"/>
          </a:p>
        </p:txBody>
      </p:sp>
      <p:sp>
        <p:nvSpPr>
          <p:cNvPr id="59" name="SK-4-text-58"/>
          <p:cNvSpPr/>
          <p:nvPr/>
        </p:nvSpPr>
        <p:spPr>
          <a:xfrm>
            <a:off x="5654725" y="3505200"/>
            <a:ext cx="1831596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Relational Data</a:t>
            </a:r>
            <a:endParaRPr lang="en-US" sz="900"/>
          </a:p>
        </p:txBody>
      </p:sp>
      <p:sp>
        <p:nvSpPr>
          <p:cNvPr id="60" name="SK-4-text-59"/>
          <p:cNvSpPr/>
          <p:nvPr/>
        </p:nvSpPr>
        <p:spPr>
          <a:xfrm>
            <a:off x="4978450" y="4300538"/>
            <a:ext cx="1362075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Redis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1" name="SK-4-text-60"/>
          <p:cNvSpPr/>
          <p:nvPr/>
        </p:nvSpPr>
        <p:spPr>
          <a:xfrm>
            <a:off x="7270849" y="4326731"/>
            <a:ext cx="777240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>
                <a:solidFill>
                  <a:srgbClr val="C4B5FD"/>
                </a:solidFill>
              </a:rPr>
              <a:t>:6379</a:t>
            </a:r>
            <a:endParaRPr lang="en-US" sz="975"/>
          </a:p>
        </p:txBody>
      </p:sp>
      <p:sp>
        <p:nvSpPr>
          <p:cNvPr id="62" name="SK-4-text-61"/>
          <p:cNvSpPr/>
          <p:nvPr/>
        </p:nvSpPr>
        <p:spPr>
          <a:xfrm>
            <a:off x="4521250" y="4743450"/>
            <a:ext cx="314965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RAG 쿼리 결과 및 세션 데이터를 캐싱하여 시스템 응답 속도를 향상시키는 인메모리 저장소입니다.</a:t>
            </a:r>
            <a:endParaRPr lang="en-US" sz="1125">
              <a:latin typeface="나눔스퀘어"/>
            </a:endParaRPr>
          </a:p>
        </p:txBody>
      </p:sp>
      <p:sp>
        <p:nvSpPr>
          <p:cNvPr id="63" name="SK-4-text-62"/>
          <p:cNvSpPr/>
          <p:nvPr/>
        </p:nvSpPr>
        <p:spPr>
          <a:xfrm>
            <a:off x="4597450" y="6076950"/>
            <a:ext cx="842591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Redis 7</a:t>
            </a:r>
            <a:endParaRPr lang="en-US" sz="900"/>
          </a:p>
        </p:txBody>
      </p:sp>
      <p:sp>
        <p:nvSpPr>
          <p:cNvPr id="64" name="SK-4-text-63"/>
          <p:cNvSpPr/>
          <p:nvPr/>
        </p:nvSpPr>
        <p:spPr>
          <a:xfrm>
            <a:off x="5235625" y="6076950"/>
            <a:ext cx="1319684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Query Cache</a:t>
            </a:r>
            <a:endParaRPr lang="en-US" sz="900"/>
          </a:p>
        </p:txBody>
      </p:sp>
      <p:sp>
        <p:nvSpPr>
          <p:cNvPr id="65" name="SK-4-text-64"/>
          <p:cNvSpPr/>
          <p:nvPr/>
        </p:nvSpPr>
        <p:spPr>
          <a:xfrm>
            <a:off x="8737699" y="1728788"/>
            <a:ext cx="1613535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Ollama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6" name="SK-4-text-65"/>
          <p:cNvSpPr/>
          <p:nvPr/>
        </p:nvSpPr>
        <p:spPr>
          <a:xfrm>
            <a:off x="10982474" y="1754981"/>
            <a:ext cx="976429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>
                <a:solidFill>
                  <a:srgbClr val="C4B5FD"/>
                </a:solidFill>
              </a:rPr>
              <a:t>:11434</a:t>
            </a:r>
            <a:endParaRPr lang="en-US" sz="975"/>
          </a:p>
        </p:txBody>
      </p:sp>
      <p:sp>
        <p:nvSpPr>
          <p:cNvPr id="67" name="SK-4-text-66"/>
          <p:cNvSpPr/>
          <p:nvPr/>
        </p:nvSpPr>
        <p:spPr>
          <a:xfrm>
            <a:off x="8280499" y="2171700"/>
            <a:ext cx="314965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로컬 환경에서 LLM 모델을 실행하기 위한 서빙 엔진으로, 보안과 독립성을 보장합니다.</a:t>
            </a:r>
            <a:endParaRPr lang="en-US" sz="1125">
              <a:latin typeface="나눔스퀘어"/>
            </a:endParaRPr>
          </a:p>
        </p:txBody>
      </p:sp>
      <p:sp>
        <p:nvSpPr>
          <p:cNvPr id="68" name="SK-4-text-67"/>
          <p:cNvSpPr/>
          <p:nvPr/>
        </p:nvSpPr>
        <p:spPr>
          <a:xfrm>
            <a:off x="8356699" y="4481513"/>
            <a:ext cx="1232863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gemma2:2b</a:t>
            </a:r>
            <a:endParaRPr lang="en-US" sz="900"/>
          </a:p>
        </p:txBody>
      </p:sp>
      <p:sp>
        <p:nvSpPr>
          <p:cNvPr id="69" name="SK-4-text-68"/>
          <p:cNvSpPr/>
          <p:nvPr/>
        </p:nvSpPr>
        <p:spPr>
          <a:xfrm>
            <a:off x="9261574" y="4481513"/>
            <a:ext cx="1047293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Local LLM</a:t>
            </a:r>
            <a:endParaRPr lang="en-US" sz="900"/>
          </a:p>
        </p:txBody>
      </p:sp>
      <p:sp>
        <p:nvSpPr>
          <p:cNvPr id="70" name="SK-4-text-69"/>
          <p:cNvSpPr/>
          <p:nvPr/>
        </p:nvSpPr>
        <p:spPr>
          <a:xfrm>
            <a:off x="10052149" y="4481513"/>
            <a:ext cx="1050758" cy="2095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GPU Accel</a:t>
            </a:r>
            <a:endParaRPr lang="en-US" sz="900"/>
          </a:p>
        </p:txBody>
      </p:sp>
      <p:sp>
        <p:nvSpPr>
          <p:cNvPr id="71" name="SK-4-text-70"/>
          <p:cNvSpPr/>
          <p:nvPr/>
        </p:nvSpPr>
        <p:spPr>
          <a:xfrm>
            <a:off x="8509099" y="5224463"/>
            <a:ext cx="3682901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Named Volumes (Persistence)</a:t>
            </a:r>
            <a:endParaRPr lang="en-US" sz="1200" dirty="0"/>
          </a:p>
        </p:txBody>
      </p:sp>
      <p:sp>
        <p:nvSpPr>
          <p:cNvPr id="72" name="SK-4-text-71"/>
          <p:cNvSpPr/>
          <p:nvPr/>
        </p:nvSpPr>
        <p:spPr>
          <a:xfrm>
            <a:off x="8366224" y="5548313"/>
            <a:ext cx="3825776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575"/>
              </a:lnSpc>
              <a:buNone/>
              <a:defRPr/>
            </a:pPr>
            <a:r>
              <a:rPr lang="en-US"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pgdata</a:t>
            </a:r>
            <a:r>
              <a:rPr lang="en-US" sz="1050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: PostgreSQL 데이터 영속화</a:t>
            </a:r>
            <a:endParaRPr lang="en-US" sz="1050"/>
          </a:p>
        </p:txBody>
      </p:sp>
      <p:sp>
        <p:nvSpPr>
          <p:cNvPr id="73" name="SK-4-text-72"/>
          <p:cNvSpPr/>
          <p:nvPr/>
        </p:nvSpPr>
        <p:spPr>
          <a:xfrm>
            <a:off x="8366224" y="5805488"/>
            <a:ext cx="3825776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575"/>
              </a:lnSpc>
              <a:buNone/>
              <a:defRPr/>
            </a:pPr>
            <a:r>
              <a:rPr lang="en-US"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redisdata</a:t>
            </a:r>
            <a:r>
              <a:rPr lang="en-US" sz="1050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: Redis 캐시 데이터 영속화</a:t>
            </a:r>
            <a:endParaRPr lang="en-US" sz="1050"/>
          </a:p>
        </p:txBody>
      </p:sp>
      <p:sp>
        <p:nvSpPr>
          <p:cNvPr id="74" name="SK-4-text-73"/>
          <p:cNvSpPr/>
          <p:nvPr/>
        </p:nvSpPr>
        <p:spPr>
          <a:xfrm>
            <a:off x="8242399" y="6138863"/>
            <a:ext cx="3493770" cy="18573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컨테이너 재시작 시에도 데이터 무결성 보장</a:t>
            </a:r>
            <a:endParaRPr lang="en-US" sz="97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5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737717"/>
            <a:ext cx="11049000" cy="759023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85850" y="2222004"/>
            <a:ext cx="57150" cy="5715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12131" y="2010519"/>
            <a:ext cx="261937" cy="213420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552700" y="2291953"/>
            <a:ext cx="590550" cy="166688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257550" y="2291953"/>
            <a:ext cx="438150" cy="166688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810000" y="2291953"/>
            <a:ext cx="561975" cy="166688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2544366"/>
            <a:ext cx="11049000" cy="759023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171575" y="3028652"/>
            <a:ext cx="57150" cy="57150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812131" y="2817168"/>
            <a:ext cx="261937" cy="213420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2552700" y="3098602"/>
            <a:ext cx="647700" cy="166688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3314700" y="3098602"/>
            <a:ext cx="828675" cy="166688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257675" y="3098602"/>
            <a:ext cx="742950" cy="166688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571500" y="3351014"/>
            <a:ext cx="11049000" cy="759023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171575" y="3835301"/>
            <a:ext cx="57150" cy="57150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812131" y="3623816"/>
            <a:ext cx="261937" cy="213420"/>
          </a:xfrm>
          <a:prstGeom prst="rect">
            <a:avLst/>
          </a:prstGeom>
        </p:spPr>
      </p:pic>
      <p:pic>
        <p:nvPicPr>
          <p:cNvPr id="21" name="SK-5-img-20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2552700" y="3905250"/>
            <a:ext cx="590550" cy="166688"/>
          </a:xfrm>
          <a:prstGeom prst="rect">
            <a:avLst/>
          </a:prstGeom>
        </p:spPr>
      </p:pic>
      <p:pic>
        <p:nvPicPr>
          <p:cNvPr id="22" name="SK-5-img-21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3257550" y="3905250"/>
            <a:ext cx="485775" cy="166688"/>
          </a:xfrm>
          <a:prstGeom prst="rect">
            <a:avLst/>
          </a:prstGeom>
        </p:spPr>
      </p:pic>
      <p:pic>
        <p:nvPicPr>
          <p:cNvPr id="23" name="SK-5-img-2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857625" y="3905250"/>
            <a:ext cx="876300" cy="166688"/>
          </a:xfrm>
          <a:prstGeom prst="rect">
            <a:avLst/>
          </a:prstGeom>
        </p:spPr>
      </p:pic>
      <p:pic>
        <p:nvPicPr>
          <p:cNvPr id="24" name="SK-5-img-23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571500" y="4157663"/>
            <a:ext cx="11049000" cy="759023"/>
          </a:xfrm>
          <a:prstGeom prst="rect">
            <a:avLst/>
          </a:prstGeom>
        </p:spPr>
      </p:pic>
      <p:pic>
        <p:nvPicPr>
          <p:cNvPr id="25" name="SK-5-img-24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1200150" y="4641949"/>
            <a:ext cx="57150" cy="57150"/>
          </a:xfrm>
          <a:prstGeom prst="rect">
            <a:avLst/>
          </a:prstGeom>
        </p:spPr>
      </p:pic>
      <p:pic>
        <p:nvPicPr>
          <p:cNvPr id="26" name="SK-5-img-25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1812131" y="4430464"/>
            <a:ext cx="261937" cy="213420"/>
          </a:xfrm>
          <a:prstGeom prst="rect">
            <a:avLst/>
          </a:prstGeom>
        </p:spPr>
      </p:pic>
      <p:pic>
        <p:nvPicPr>
          <p:cNvPr id="27" name="SK-5-img-26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2552700" y="4711898"/>
            <a:ext cx="695325" cy="166688"/>
          </a:xfrm>
          <a:prstGeom prst="rect">
            <a:avLst/>
          </a:prstGeom>
        </p:spPr>
      </p:pic>
      <p:pic>
        <p:nvPicPr>
          <p:cNvPr id="28" name="SK-5-img-27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3362325" y="4711898"/>
            <a:ext cx="542925" cy="166688"/>
          </a:xfrm>
          <a:prstGeom prst="rect">
            <a:avLst/>
          </a:prstGeom>
        </p:spPr>
      </p:pic>
      <p:pic>
        <p:nvPicPr>
          <p:cNvPr id="29" name="SK-5-img-28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4019550" y="4711898"/>
            <a:ext cx="619125" cy="166688"/>
          </a:xfrm>
          <a:prstGeom prst="rect">
            <a:avLst/>
          </a:prstGeom>
        </p:spPr>
      </p:pic>
      <p:pic>
        <p:nvPicPr>
          <p:cNvPr id="30" name="SK-5-img-29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571500" y="4964311"/>
            <a:ext cx="11049000" cy="759023"/>
          </a:xfrm>
          <a:prstGeom prst="rect">
            <a:avLst/>
          </a:prstGeom>
        </p:spPr>
      </p:pic>
      <p:pic>
        <p:nvPicPr>
          <p:cNvPr id="31" name="SK-5-img-30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1171575" y="5448598"/>
            <a:ext cx="57150" cy="57150"/>
          </a:xfrm>
          <a:prstGeom prst="rect">
            <a:avLst/>
          </a:prstGeom>
        </p:spPr>
      </p:pic>
      <p:pic>
        <p:nvPicPr>
          <p:cNvPr id="32" name="SK-5-img-31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1812131" y="5237113"/>
            <a:ext cx="261937" cy="213420"/>
          </a:xfrm>
          <a:prstGeom prst="rect">
            <a:avLst/>
          </a:prstGeom>
        </p:spPr>
      </p:pic>
      <p:pic>
        <p:nvPicPr>
          <p:cNvPr id="33" name="SK-5-img-32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2552700" y="5518547"/>
            <a:ext cx="752475" cy="166688"/>
          </a:xfrm>
          <a:prstGeom prst="rect">
            <a:avLst/>
          </a:prstGeom>
        </p:spPr>
      </p:pic>
      <p:pic>
        <p:nvPicPr>
          <p:cNvPr id="34" name="SK-5-img-33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3419475" y="5518547"/>
            <a:ext cx="381000" cy="166688"/>
          </a:xfrm>
          <a:prstGeom prst="rect">
            <a:avLst/>
          </a:prstGeom>
        </p:spPr>
      </p:pic>
      <p:pic>
        <p:nvPicPr>
          <p:cNvPr id="35" name="SK-5-img-34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3914775" y="5518547"/>
            <a:ext cx="771525" cy="166688"/>
          </a:xfrm>
          <a:prstGeom prst="rect">
            <a:avLst/>
          </a:prstGeom>
        </p:spPr>
      </p:pic>
      <p:pic>
        <p:nvPicPr>
          <p:cNvPr id="36" name="SK-5-img-35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1181100" y="6255246"/>
            <a:ext cx="57150" cy="57150"/>
          </a:xfrm>
          <a:prstGeom prst="rect">
            <a:avLst/>
          </a:prstGeom>
        </p:spPr>
      </p:pic>
      <p:pic>
        <p:nvPicPr>
          <p:cNvPr id="37" name="SK-5-img-36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1812131" y="6043761"/>
            <a:ext cx="261937" cy="213420"/>
          </a:xfrm>
          <a:prstGeom prst="rect">
            <a:avLst/>
          </a:prstGeom>
        </p:spPr>
      </p:pic>
      <p:pic>
        <p:nvPicPr>
          <p:cNvPr id="38" name="SK-5-img-37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2552700" y="6325195"/>
            <a:ext cx="638175" cy="166688"/>
          </a:xfrm>
          <a:prstGeom prst="rect">
            <a:avLst/>
          </a:prstGeom>
        </p:spPr>
      </p:pic>
      <p:pic>
        <p:nvPicPr>
          <p:cNvPr id="39" name="SK-5-img-38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3305175" y="6325195"/>
            <a:ext cx="609600" cy="166688"/>
          </a:xfrm>
          <a:prstGeom prst="rect">
            <a:avLst/>
          </a:prstGeom>
        </p:spPr>
      </p:pic>
      <p:pic>
        <p:nvPicPr>
          <p:cNvPr id="40" name="SK-5-img-39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4029075" y="6325195"/>
            <a:ext cx="733425" cy="166688"/>
          </a:xfrm>
          <a:prstGeom prst="rect">
            <a:avLst/>
          </a:prstGeom>
        </p:spPr>
      </p:pic>
      <p:sp>
        <p:nvSpPr>
          <p:cNvPr id="42" name="SK-5-text-41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기능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구조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및 6대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핵심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모듈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3" name="SK-5-text-42"/>
          <p:cNvSpPr/>
          <p:nvPr/>
        </p:nvSpPr>
        <p:spPr>
          <a:xfrm>
            <a:off x="571500" y="1898154"/>
            <a:ext cx="1971675" cy="4381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450"/>
              </a:lnSpc>
              <a:buNone/>
              <a:defRPr/>
            </a:pPr>
            <a:r>
              <a:rPr lang="en-US" sz="3450" b="1">
                <a:solidFill>
                  <a:srgbClr val="A78BFA"/>
                </a:solidFill>
              </a:rPr>
              <a:t>01</a:t>
            </a:r>
            <a:endParaRPr lang="en-US" sz="3450"/>
          </a:p>
        </p:txBody>
      </p:sp>
      <p:sp>
        <p:nvSpPr>
          <p:cNvPr id="44" name="SK-5-text-43"/>
          <p:cNvSpPr/>
          <p:nvPr/>
        </p:nvSpPr>
        <p:spPr>
          <a:xfrm>
            <a:off x="2552700" y="1775817"/>
            <a:ext cx="9163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문서</a:t>
            </a:r>
            <a:r>
              <a:rPr lang="en-US" sz="1500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500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업로드</a:t>
            </a:r>
            <a:r>
              <a:rPr lang="en-US" sz="1500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&amp; OCR</a:t>
            </a:r>
            <a:endParaRPr lang="en-US" sz="15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SK-5-text-44"/>
          <p:cNvSpPr/>
          <p:nvPr/>
        </p:nvSpPr>
        <p:spPr>
          <a:xfrm>
            <a:off x="2552700" y="2080617"/>
            <a:ext cx="9639300" cy="173236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65"/>
              </a:lnSpc>
              <a:buNone/>
              <a:defRPr/>
            </a:pPr>
            <a:r>
              <a:rPr lang="en-US" sz="97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PDF, HWP, DOCX 등 </a:t>
            </a:r>
            <a:r>
              <a:rPr lang="en-US" sz="97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다양한</a:t>
            </a:r>
            <a:r>
              <a:rPr lang="en-US" sz="97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97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포맷</a:t>
            </a:r>
            <a:r>
              <a:rPr lang="en-US" sz="97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97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지원</a:t>
            </a:r>
            <a:r>
              <a:rPr lang="en-US" sz="97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97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PaddleOCR을</a:t>
            </a:r>
            <a:r>
              <a:rPr lang="en-US" sz="97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97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활용한</a:t>
            </a:r>
            <a:r>
              <a:rPr lang="en-US" sz="97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97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텍스트</a:t>
            </a:r>
            <a:r>
              <a:rPr lang="en-US" sz="97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/표 </a:t>
            </a:r>
            <a:r>
              <a:rPr lang="en-US" sz="97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레이아웃</a:t>
            </a:r>
            <a:r>
              <a:rPr lang="en-US" sz="97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97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정밀</a:t>
            </a:r>
            <a:r>
              <a:rPr lang="en-US" sz="97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97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추출</a:t>
            </a:r>
            <a:r>
              <a:rPr lang="en-US" sz="97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Markdown </a:t>
            </a:r>
            <a:r>
              <a:rPr lang="en-US" sz="97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변환</a:t>
            </a:r>
            <a:endParaRPr lang="en-US" sz="975" dirty="0">
              <a:latin typeface="나눔스퀘어"/>
            </a:endParaRPr>
          </a:p>
        </p:txBody>
      </p:sp>
      <p:sp>
        <p:nvSpPr>
          <p:cNvPr id="46" name="SK-5-text-45"/>
          <p:cNvSpPr/>
          <p:nvPr/>
        </p:nvSpPr>
        <p:spPr>
          <a:xfrm>
            <a:off x="2628900" y="2291953"/>
            <a:ext cx="763106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PaddleOCR</a:t>
            </a:r>
            <a:endParaRPr lang="en-US" sz="675"/>
          </a:p>
        </p:txBody>
      </p:sp>
      <p:sp>
        <p:nvSpPr>
          <p:cNvPr id="47" name="SK-5-text-46"/>
          <p:cNvSpPr/>
          <p:nvPr/>
        </p:nvSpPr>
        <p:spPr>
          <a:xfrm>
            <a:off x="3333750" y="2291953"/>
            <a:ext cx="545824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Docling</a:t>
            </a:r>
            <a:endParaRPr lang="en-US" sz="675"/>
          </a:p>
        </p:txBody>
      </p:sp>
      <p:sp>
        <p:nvSpPr>
          <p:cNvPr id="48" name="SK-5-text-47"/>
          <p:cNvSpPr/>
          <p:nvPr/>
        </p:nvSpPr>
        <p:spPr>
          <a:xfrm>
            <a:off x="3886200" y="2291953"/>
            <a:ext cx="675984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Markdown</a:t>
            </a:r>
            <a:endParaRPr lang="en-US" sz="675"/>
          </a:p>
        </p:txBody>
      </p:sp>
      <p:sp>
        <p:nvSpPr>
          <p:cNvPr id="49" name="SK-5-text-48"/>
          <p:cNvSpPr/>
          <p:nvPr/>
        </p:nvSpPr>
        <p:spPr>
          <a:xfrm>
            <a:off x="571500" y="2704802"/>
            <a:ext cx="1971675" cy="4381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450"/>
              </a:lnSpc>
              <a:buNone/>
              <a:defRPr/>
            </a:pPr>
            <a:r>
              <a:rPr lang="en-US" sz="3450" b="1">
                <a:solidFill>
                  <a:srgbClr val="A78BFA"/>
                </a:solidFill>
              </a:rPr>
              <a:t>02</a:t>
            </a:r>
            <a:endParaRPr lang="en-US" sz="3450"/>
          </a:p>
        </p:txBody>
      </p:sp>
      <p:sp>
        <p:nvSpPr>
          <p:cNvPr id="50" name="SK-5-text-49"/>
          <p:cNvSpPr/>
          <p:nvPr/>
        </p:nvSpPr>
        <p:spPr>
          <a:xfrm>
            <a:off x="2552700" y="2582466"/>
            <a:ext cx="9163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LLM 문서 요약</a:t>
            </a:r>
            <a:endParaRPr lang="en-US" sz="15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SK-5-text-50"/>
          <p:cNvSpPr/>
          <p:nvPr/>
        </p:nvSpPr>
        <p:spPr>
          <a:xfrm>
            <a:off x="2552700" y="2887266"/>
            <a:ext cx="9144000" cy="173236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65"/>
              </a:lnSpc>
              <a:buNone/>
              <a:defRPr/>
            </a:pPr>
            <a:r>
              <a:rPr lang="en-US" sz="97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도메인별 6종 맞춤형 요약 포맷 제공 및 대용량 문서 처리를 위한 Map-Reduce 병렬 요약 파이프라인</a:t>
            </a:r>
            <a:endParaRPr lang="en-US" sz="975">
              <a:latin typeface="나눔스퀘어"/>
            </a:endParaRPr>
          </a:p>
        </p:txBody>
      </p:sp>
      <p:sp>
        <p:nvSpPr>
          <p:cNvPr id="52" name="SK-5-text-51"/>
          <p:cNvSpPr/>
          <p:nvPr/>
        </p:nvSpPr>
        <p:spPr>
          <a:xfrm>
            <a:off x="2628900" y="3098602"/>
            <a:ext cx="862853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Map-Reduce</a:t>
            </a:r>
            <a:endParaRPr lang="en-US" sz="675"/>
          </a:p>
        </p:txBody>
      </p:sp>
      <p:sp>
        <p:nvSpPr>
          <p:cNvPr id="53" name="SK-5-text-52"/>
          <p:cNvSpPr/>
          <p:nvPr/>
        </p:nvSpPr>
        <p:spPr>
          <a:xfrm>
            <a:off x="3390900" y="3098602"/>
            <a:ext cx="1587325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Instruction Tuning</a:t>
            </a:r>
            <a:endParaRPr lang="en-US" sz="675"/>
          </a:p>
        </p:txBody>
      </p:sp>
      <p:sp>
        <p:nvSpPr>
          <p:cNvPr id="54" name="SK-5-text-53"/>
          <p:cNvSpPr/>
          <p:nvPr/>
        </p:nvSpPr>
        <p:spPr>
          <a:xfrm>
            <a:off x="4333875" y="3098602"/>
            <a:ext cx="1384495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SSE Notification</a:t>
            </a:r>
            <a:endParaRPr lang="en-US" sz="675"/>
          </a:p>
        </p:txBody>
      </p:sp>
      <p:sp>
        <p:nvSpPr>
          <p:cNvPr id="55" name="SK-5-text-54"/>
          <p:cNvSpPr/>
          <p:nvPr/>
        </p:nvSpPr>
        <p:spPr>
          <a:xfrm>
            <a:off x="571500" y="3511451"/>
            <a:ext cx="1971675" cy="4381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450"/>
              </a:lnSpc>
              <a:buNone/>
              <a:defRPr/>
            </a:pPr>
            <a:r>
              <a:rPr lang="en-US" sz="3450" b="1">
                <a:solidFill>
                  <a:srgbClr val="A78BFA"/>
                </a:solidFill>
              </a:rPr>
              <a:t>03</a:t>
            </a:r>
            <a:endParaRPr lang="en-US" sz="3450"/>
          </a:p>
        </p:txBody>
      </p:sp>
      <p:sp>
        <p:nvSpPr>
          <p:cNvPr id="56" name="SK-5-text-55"/>
          <p:cNvSpPr/>
          <p:nvPr/>
        </p:nvSpPr>
        <p:spPr>
          <a:xfrm>
            <a:off x="2552700" y="3389114"/>
            <a:ext cx="9163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벡터 저장 (ChromaDB)</a:t>
            </a:r>
            <a:endParaRPr lang="en-US" sz="15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7" name="SK-5-text-56"/>
          <p:cNvSpPr/>
          <p:nvPr/>
        </p:nvSpPr>
        <p:spPr>
          <a:xfrm>
            <a:off x="2552700" y="3693914"/>
            <a:ext cx="9144000" cy="173236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65"/>
              </a:lnSpc>
              <a:buNone/>
              <a:defRPr/>
            </a:pPr>
            <a:r>
              <a:rPr lang="en-US" sz="97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BGE-M3 파인튜닝 모델 기반 고성능 임베딩, 섹션 단위 지능형 청킹 및 메타데이터 기반 필터링 최적화</a:t>
            </a:r>
            <a:endParaRPr lang="en-US" sz="975">
              <a:latin typeface="나눔스퀘어"/>
            </a:endParaRPr>
          </a:p>
        </p:txBody>
      </p:sp>
      <p:sp>
        <p:nvSpPr>
          <p:cNvPr id="58" name="SK-5-text-57"/>
          <p:cNvSpPr/>
          <p:nvPr/>
        </p:nvSpPr>
        <p:spPr>
          <a:xfrm>
            <a:off x="2628900" y="3905250"/>
            <a:ext cx="686783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ChromaDB</a:t>
            </a:r>
            <a:endParaRPr lang="en-US" sz="675"/>
          </a:p>
        </p:txBody>
      </p:sp>
      <p:sp>
        <p:nvSpPr>
          <p:cNvPr id="59" name="SK-5-text-58"/>
          <p:cNvSpPr/>
          <p:nvPr/>
        </p:nvSpPr>
        <p:spPr>
          <a:xfrm>
            <a:off x="3333750" y="3905250"/>
            <a:ext cx="546847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BGE-M3</a:t>
            </a:r>
            <a:endParaRPr lang="en-US" sz="675"/>
          </a:p>
        </p:txBody>
      </p:sp>
      <p:sp>
        <p:nvSpPr>
          <p:cNvPr id="60" name="SK-5-text-59"/>
          <p:cNvSpPr/>
          <p:nvPr/>
        </p:nvSpPr>
        <p:spPr>
          <a:xfrm>
            <a:off x="3933825" y="3905250"/>
            <a:ext cx="1520853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Semantic Chunking</a:t>
            </a:r>
            <a:endParaRPr lang="en-US" sz="675"/>
          </a:p>
        </p:txBody>
      </p:sp>
      <p:sp>
        <p:nvSpPr>
          <p:cNvPr id="61" name="SK-5-text-60"/>
          <p:cNvSpPr/>
          <p:nvPr/>
        </p:nvSpPr>
        <p:spPr>
          <a:xfrm>
            <a:off x="571500" y="4318099"/>
            <a:ext cx="1971675" cy="4381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450"/>
              </a:lnSpc>
              <a:buNone/>
              <a:defRPr/>
            </a:pPr>
            <a:r>
              <a:rPr lang="en-US" sz="3450" b="1">
                <a:solidFill>
                  <a:srgbClr val="A78BFA"/>
                </a:solidFill>
              </a:rPr>
              <a:t>04</a:t>
            </a:r>
            <a:endParaRPr lang="en-US" sz="3450"/>
          </a:p>
        </p:txBody>
      </p:sp>
      <p:sp>
        <p:nvSpPr>
          <p:cNvPr id="62" name="SK-5-text-61"/>
          <p:cNvSpPr/>
          <p:nvPr/>
        </p:nvSpPr>
        <p:spPr>
          <a:xfrm>
            <a:off x="2552700" y="4195763"/>
            <a:ext cx="9163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RAG 질의응답</a:t>
            </a:r>
            <a:endParaRPr lang="en-US" sz="15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3" name="SK-5-text-62"/>
          <p:cNvSpPr/>
          <p:nvPr/>
        </p:nvSpPr>
        <p:spPr>
          <a:xfrm>
            <a:off x="2552700" y="4500563"/>
            <a:ext cx="9639300" cy="173236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65"/>
              </a:lnSpc>
              <a:buNone/>
              <a:defRPr/>
            </a:pPr>
            <a:r>
              <a:rPr lang="en-US" sz="97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Vector + BM25 하이브리드 검색 및 BGE-Reranker를 통한 검색 결과 재정렬, Redis 캐싱으로 응답 속도 극대화</a:t>
            </a:r>
            <a:endParaRPr lang="en-US" sz="975">
              <a:latin typeface="나눔스퀘어"/>
            </a:endParaRPr>
          </a:p>
        </p:txBody>
      </p:sp>
      <p:sp>
        <p:nvSpPr>
          <p:cNvPr id="64" name="SK-5-text-63"/>
          <p:cNvSpPr/>
          <p:nvPr/>
        </p:nvSpPr>
        <p:spPr>
          <a:xfrm>
            <a:off x="2628900" y="4711898"/>
            <a:ext cx="1120401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Hybrid Search</a:t>
            </a:r>
            <a:endParaRPr lang="en-US" sz="675"/>
          </a:p>
        </p:txBody>
      </p:sp>
      <p:sp>
        <p:nvSpPr>
          <p:cNvPr id="65" name="SK-5-text-64"/>
          <p:cNvSpPr/>
          <p:nvPr/>
        </p:nvSpPr>
        <p:spPr>
          <a:xfrm>
            <a:off x="3438525" y="4711898"/>
            <a:ext cx="742148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Reranking</a:t>
            </a:r>
            <a:endParaRPr lang="en-US" sz="675"/>
          </a:p>
        </p:txBody>
      </p:sp>
      <p:sp>
        <p:nvSpPr>
          <p:cNvPr id="66" name="SK-5-text-65"/>
          <p:cNvSpPr/>
          <p:nvPr/>
        </p:nvSpPr>
        <p:spPr>
          <a:xfrm>
            <a:off x="4095750" y="4711898"/>
            <a:ext cx="929230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Redis Cache</a:t>
            </a:r>
            <a:endParaRPr lang="en-US" sz="675"/>
          </a:p>
        </p:txBody>
      </p:sp>
      <p:sp>
        <p:nvSpPr>
          <p:cNvPr id="67" name="SK-5-text-66"/>
          <p:cNvSpPr/>
          <p:nvPr/>
        </p:nvSpPr>
        <p:spPr>
          <a:xfrm>
            <a:off x="571500" y="5124748"/>
            <a:ext cx="1971675" cy="4381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450"/>
              </a:lnSpc>
              <a:buNone/>
              <a:defRPr/>
            </a:pPr>
            <a:r>
              <a:rPr lang="en-US" sz="3450" b="1">
                <a:solidFill>
                  <a:srgbClr val="A78BFA"/>
                </a:solidFill>
              </a:rPr>
              <a:t>05</a:t>
            </a:r>
            <a:endParaRPr lang="en-US" sz="3450"/>
          </a:p>
        </p:txBody>
      </p:sp>
      <p:sp>
        <p:nvSpPr>
          <p:cNvPr id="68" name="SK-5-text-67"/>
          <p:cNvSpPr/>
          <p:nvPr/>
        </p:nvSpPr>
        <p:spPr>
          <a:xfrm>
            <a:off x="2552700" y="5002411"/>
            <a:ext cx="9163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결재 워크플로우</a:t>
            </a:r>
            <a:endParaRPr lang="en-US" sz="15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9" name="SK-5-text-68"/>
          <p:cNvSpPr/>
          <p:nvPr/>
        </p:nvSpPr>
        <p:spPr>
          <a:xfrm>
            <a:off x="2552700" y="5307211"/>
            <a:ext cx="9144000" cy="173236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65"/>
              </a:lnSpc>
              <a:buNone/>
              <a:defRPr/>
            </a:pPr>
            <a:r>
              <a:rPr lang="en-US" sz="97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요약 보고서 상신, 승인, 반려 프로세스 자동화 및 사용자 역할(Role) 기반의 통합 권한/이력 관리</a:t>
            </a:r>
            <a:endParaRPr lang="en-US" sz="975">
              <a:latin typeface="나눔스퀘어"/>
            </a:endParaRPr>
          </a:p>
        </p:txBody>
      </p:sp>
      <p:sp>
        <p:nvSpPr>
          <p:cNvPr id="70" name="SK-5-text-69"/>
          <p:cNvSpPr/>
          <p:nvPr/>
        </p:nvSpPr>
        <p:spPr>
          <a:xfrm>
            <a:off x="2628900" y="5518547"/>
            <a:ext cx="1224698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Draft Workflow</a:t>
            </a:r>
            <a:endParaRPr lang="en-US" sz="675"/>
          </a:p>
        </p:txBody>
      </p:sp>
      <p:sp>
        <p:nvSpPr>
          <p:cNvPr id="71" name="SK-5-text-70"/>
          <p:cNvSpPr/>
          <p:nvPr/>
        </p:nvSpPr>
        <p:spPr>
          <a:xfrm>
            <a:off x="3495675" y="5518547"/>
            <a:ext cx="323088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RBAC</a:t>
            </a:r>
            <a:endParaRPr lang="en-US" sz="675"/>
          </a:p>
        </p:txBody>
      </p:sp>
      <p:sp>
        <p:nvSpPr>
          <p:cNvPr id="72" name="SK-5-text-71"/>
          <p:cNvSpPr/>
          <p:nvPr/>
        </p:nvSpPr>
        <p:spPr>
          <a:xfrm>
            <a:off x="3990975" y="5518547"/>
            <a:ext cx="1397000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History Tracking</a:t>
            </a:r>
            <a:endParaRPr lang="en-US" sz="675"/>
          </a:p>
        </p:txBody>
      </p:sp>
      <p:sp>
        <p:nvSpPr>
          <p:cNvPr id="73" name="SK-5-text-72"/>
          <p:cNvSpPr/>
          <p:nvPr/>
        </p:nvSpPr>
        <p:spPr>
          <a:xfrm>
            <a:off x="571500" y="5931396"/>
            <a:ext cx="1971675" cy="4381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450"/>
              </a:lnSpc>
              <a:buNone/>
              <a:defRPr/>
            </a:pPr>
            <a:r>
              <a:rPr lang="en-US" sz="3450" b="1">
                <a:solidFill>
                  <a:srgbClr val="A78BFA"/>
                </a:solidFill>
              </a:rPr>
              <a:t>06</a:t>
            </a:r>
            <a:endParaRPr lang="en-US" sz="3450"/>
          </a:p>
        </p:txBody>
      </p:sp>
      <p:sp>
        <p:nvSpPr>
          <p:cNvPr id="74" name="SK-5-text-73"/>
          <p:cNvSpPr/>
          <p:nvPr/>
        </p:nvSpPr>
        <p:spPr>
          <a:xfrm>
            <a:off x="2552700" y="5809059"/>
            <a:ext cx="9163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사용자 관리 &amp; 알림</a:t>
            </a:r>
            <a:endParaRPr lang="en-US" sz="15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5" name="SK-5-text-74"/>
          <p:cNvSpPr/>
          <p:nvPr/>
        </p:nvSpPr>
        <p:spPr>
          <a:xfrm>
            <a:off x="2552700" y="6113859"/>
            <a:ext cx="9639300" cy="173236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65"/>
              </a:lnSpc>
              <a:buNone/>
              <a:defRPr/>
            </a:pPr>
            <a:r>
              <a:rPr lang="en-US" sz="97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PostgreSQL 기반 세션 인증 및 쿠키 보안 관리, SSE(Server-Sent Events)를 통한 실시간 상태 알림</a:t>
            </a:r>
            <a:endParaRPr lang="en-US" sz="975">
              <a:latin typeface="나눔스퀘어"/>
            </a:endParaRPr>
          </a:p>
        </p:txBody>
      </p:sp>
      <p:sp>
        <p:nvSpPr>
          <p:cNvPr id="76" name="SK-5-text-75"/>
          <p:cNvSpPr/>
          <p:nvPr/>
        </p:nvSpPr>
        <p:spPr>
          <a:xfrm>
            <a:off x="2628900" y="6325195"/>
            <a:ext cx="1015848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FastAPI Auth</a:t>
            </a:r>
            <a:endParaRPr lang="en-US" sz="675"/>
          </a:p>
        </p:txBody>
      </p:sp>
      <p:sp>
        <p:nvSpPr>
          <p:cNvPr id="77" name="SK-5-text-76"/>
          <p:cNvSpPr/>
          <p:nvPr/>
        </p:nvSpPr>
        <p:spPr>
          <a:xfrm>
            <a:off x="3381375" y="6325195"/>
            <a:ext cx="1002030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SSE Pipeline</a:t>
            </a:r>
            <a:endParaRPr lang="en-US" sz="675"/>
          </a:p>
        </p:txBody>
      </p:sp>
      <p:sp>
        <p:nvSpPr>
          <p:cNvPr id="78" name="SK-5-text-77"/>
          <p:cNvSpPr/>
          <p:nvPr/>
        </p:nvSpPr>
        <p:spPr>
          <a:xfrm>
            <a:off x="4105275" y="6325195"/>
            <a:ext cx="1217122" cy="1666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013"/>
              </a:lnSpc>
              <a:buNone/>
              <a:defRPr/>
            </a:pPr>
            <a:r>
              <a:rPr lang="en-US" sz="675" b="1">
                <a:solidFill>
                  <a:srgbClr val="A78BFA"/>
                </a:solidFill>
              </a:rPr>
              <a:t>Real-time Push</a:t>
            </a:r>
            <a:endParaRPr lang="en-US" sz="67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6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793677"/>
            <a:ext cx="3530501" cy="2154436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0100" y="1974652"/>
            <a:ext cx="457200" cy="457200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85825" y="2088952"/>
            <a:ext cx="285750" cy="228600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0100" y="3538538"/>
            <a:ext cx="857250" cy="228600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33550" y="3538538"/>
            <a:ext cx="942975" cy="228600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330601" y="1793677"/>
            <a:ext cx="3530650" cy="2154436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559201" y="1974652"/>
            <a:ext cx="457200" cy="457200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644926" y="2088952"/>
            <a:ext cx="285750" cy="228600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559201" y="3538538"/>
            <a:ext cx="1076325" cy="228600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5711726" y="3538538"/>
            <a:ext cx="733425" cy="228600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089850" y="1793677"/>
            <a:ext cx="3530501" cy="2154436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18450" y="1974652"/>
            <a:ext cx="457200" cy="457200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404175" y="2088952"/>
            <a:ext cx="285750" cy="228600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18450" y="3538538"/>
            <a:ext cx="952500" cy="228600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9347150" y="3538538"/>
            <a:ext cx="819150" cy="228600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571500" y="4129088"/>
            <a:ext cx="3530501" cy="2154436"/>
          </a:xfrm>
          <a:prstGeom prst="rect">
            <a:avLst/>
          </a:prstGeom>
        </p:spPr>
      </p:pic>
      <p:pic>
        <p:nvPicPr>
          <p:cNvPr id="22" name="SK-6-img-21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800100" y="4310063"/>
            <a:ext cx="457200" cy="457200"/>
          </a:xfrm>
          <a:prstGeom prst="rect">
            <a:avLst/>
          </a:prstGeom>
        </p:spPr>
      </p:pic>
      <p:pic>
        <p:nvPicPr>
          <p:cNvPr id="23" name="SK-6-img-22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85825" y="4424363"/>
            <a:ext cx="285750" cy="228600"/>
          </a:xfrm>
          <a:prstGeom prst="rect">
            <a:avLst/>
          </a:prstGeom>
        </p:spPr>
      </p:pic>
      <p:pic>
        <p:nvPicPr>
          <p:cNvPr id="24" name="SK-6-img-23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800100" y="5873948"/>
            <a:ext cx="895350" cy="228600"/>
          </a:xfrm>
          <a:prstGeom prst="rect">
            <a:avLst/>
          </a:prstGeom>
        </p:spPr>
      </p:pic>
      <p:pic>
        <p:nvPicPr>
          <p:cNvPr id="25" name="SK-6-img-24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1771650" y="5873948"/>
            <a:ext cx="800100" cy="228600"/>
          </a:xfrm>
          <a:prstGeom prst="rect">
            <a:avLst/>
          </a:prstGeom>
        </p:spPr>
      </p:pic>
      <p:pic>
        <p:nvPicPr>
          <p:cNvPr id="26" name="SK-6-img-25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4330601" y="4129088"/>
            <a:ext cx="3530650" cy="2154436"/>
          </a:xfrm>
          <a:prstGeom prst="rect">
            <a:avLst/>
          </a:prstGeom>
        </p:spPr>
      </p:pic>
      <p:pic>
        <p:nvPicPr>
          <p:cNvPr id="27" name="SK-6-img-26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4559201" y="4310063"/>
            <a:ext cx="457200" cy="457200"/>
          </a:xfrm>
          <a:prstGeom prst="rect">
            <a:avLst/>
          </a:prstGeom>
        </p:spPr>
      </p:pic>
      <p:pic>
        <p:nvPicPr>
          <p:cNvPr id="28" name="SK-6-img-27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644926" y="4424363"/>
            <a:ext cx="285750" cy="228600"/>
          </a:xfrm>
          <a:prstGeom prst="rect">
            <a:avLst/>
          </a:prstGeom>
        </p:spPr>
      </p:pic>
      <p:pic>
        <p:nvPicPr>
          <p:cNvPr id="29" name="SK-6-img-28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4559201" y="5873948"/>
            <a:ext cx="1000125" cy="228600"/>
          </a:xfrm>
          <a:prstGeom prst="rect">
            <a:avLst/>
          </a:prstGeom>
        </p:spPr>
      </p:pic>
      <p:pic>
        <p:nvPicPr>
          <p:cNvPr id="30" name="SK-6-img-29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5635526" y="5873948"/>
            <a:ext cx="790575" cy="228600"/>
          </a:xfrm>
          <a:prstGeom prst="rect">
            <a:avLst/>
          </a:prstGeom>
        </p:spPr>
      </p:pic>
      <p:pic>
        <p:nvPicPr>
          <p:cNvPr id="31" name="SK-6-img-30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8089850" y="4129088"/>
            <a:ext cx="3530501" cy="2154436"/>
          </a:xfrm>
          <a:prstGeom prst="rect">
            <a:avLst/>
          </a:prstGeom>
        </p:spPr>
      </p:pic>
      <p:pic>
        <p:nvPicPr>
          <p:cNvPr id="32" name="SK-6-img-31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8318450" y="4310063"/>
            <a:ext cx="457200" cy="457200"/>
          </a:xfrm>
          <a:prstGeom prst="rect">
            <a:avLst/>
          </a:prstGeom>
        </p:spPr>
      </p:pic>
      <p:pic>
        <p:nvPicPr>
          <p:cNvPr id="33" name="SK-6-img-32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8404175" y="4424363"/>
            <a:ext cx="285750" cy="228600"/>
          </a:xfrm>
          <a:prstGeom prst="rect">
            <a:avLst/>
          </a:prstGeom>
        </p:spPr>
      </p:pic>
      <p:pic>
        <p:nvPicPr>
          <p:cNvPr id="34" name="SK-6-img-33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18450" y="5873948"/>
            <a:ext cx="752475" cy="228600"/>
          </a:xfrm>
          <a:prstGeom prst="rect">
            <a:avLst/>
          </a:prstGeom>
        </p:spPr>
      </p:pic>
      <p:pic>
        <p:nvPicPr>
          <p:cNvPr id="35" name="SK-6-img-34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9147125" y="5873948"/>
            <a:ext cx="847725" cy="228600"/>
          </a:xfrm>
          <a:prstGeom prst="rect">
            <a:avLst/>
          </a:prstGeom>
        </p:spPr>
      </p:pic>
      <p:sp>
        <p:nvSpPr>
          <p:cNvPr id="37" name="SK-6-text-36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정의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및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기능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구성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8" name="SK-6-text-37"/>
          <p:cNvSpPr/>
          <p:nvPr/>
        </p:nvSpPr>
        <p:spPr>
          <a:xfrm>
            <a:off x="800100" y="2555677"/>
            <a:ext cx="3178076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 dirty="0" err="1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</a:t>
            </a:r>
            <a:endParaRPr lang="en-US" sz="165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SK-6-text-38"/>
          <p:cNvSpPr/>
          <p:nvPr/>
        </p:nvSpPr>
        <p:spPr>
          <a:xfrm>
            <a:off x="800100" y="2927152"/>
            <a:ext cx="3073301" cy="4875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사용자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인증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권한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관리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시스템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 </a:t>
            </a:r>
          </a:p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DB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기반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세션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검증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보안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로그인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200" dirty="0">
              <a:latin typeface="나눔스퀘어"/>
            </a:endParaRPr>
          </a:p>
        </p:txBody>
      </p:sp>
      <p:sp>
        <p:nvSpPr>
          <p:cNvPr id="40" name="SK-6-text-39"/>
          <p:cNvSpPr/>
          <p:nvPr/>
        </p:nvSpPr>
        <p:spPr>
          <a:xfrm>
            <a:off x="895350" y="3538538"/>
            <a:ext cx="1143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PostgreSQL</a:t>
            </a:r>
            <a:endParaRPr lang="en-US" sz="900"/>
          </a:p>
        </p:txBody>
      </p:sp>
      <p:sp>
        <p:nvSpPr>
          <p:cNvPr id="41" name="SK-6-text-40"/>
          <p:cNvSpPr/>
          <p:nvPr/>
        </p:nvSpPr>
        <p:spPr>
          <a:xfrm>
            <a:off x="1828800" y="3538538"/>
            <a:ext cx="1389611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Session Auth</a:t>
            </a:r>
            <a:endParaRPr lang="en-US" sz="900"/>
          </a:p>
        </p:txBody>
      </p:sp>
      <p:sp>
        <p:nvSpPr>
          <p:cNvPr id="42" name="SK-6-text-41"/>
          <p:cNvSpPr/>
          <p:nvPr/>
        </p:nvSpPr>
        <p:spPr>
          <a:xfrm>
            <a:off x="4559201" y="2555677"/>
            <a:ext cx="3178225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문서 목록 (대시보드)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SK-6-text-42"/>
          <p:cNvSpPr/>
          <p:nvPr/>
        </p:nvSpPr>
        <p:spPr>
          <a:xfrm>
            <a:off x="4559201" y="2927152"/>
            <a:ext cx="3073450" cy="4875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업로드된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전체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문서의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현황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상태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모니터링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 </a:t>
            </a:r>
          </a:p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카테고리별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필터링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제공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200" dirty="0">
              <a:latin typeface="나눔스퀘어"/>
            </a:endParaRPr>
          </a:p>
        </p:txBody>
      </p:sp>
      <p:sp>
        <p:nvSpPr>
          <p:cNvPr id="44" name="SK-6-text-43"/>
          <p:cNvSpPr/>
          <p:nvPr/>
        </p:nvSpPr>
        <p:spPr>
          <a:xfrm>
            <a:off x="4654451" y="3538538"/>
            <a:ext cx="1769458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Status Tracking</a:t>
            </a:r>
            <a:endParaRPr lang="en-US" sz="900"/>
          </a:p>
        </p:txBody>
      </p:sp>
      <p:sp>
        <p:nvSpPr>
          <p:cNvPr id="45" name="SK-6-text-44"/>
          <p:cNvSpPr/>
          <p:nvPr/>
        </p:nvSpPr>
        <p:spPr>
          <a:xfrm>
            <a:off x="5806976" y="3538538"/>
            <a:ext cx="990006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Data Grid</a:t>
            </a:r>
            <a:endParaRPr lang="en-US" sz="900"/>
          </a:p>
        </p:txBody>
      </p:sp>
      <p:sp>
        <p:nvSpPr>
          <p:cNvPr id="46" name="SK-6-text-45"/>
          <p:cNvSpPr/>
          <p:nvPr/>
        </p:nvSpPr>
        <p:spPr>
          <a:xfrm>
            <a:off x="8318450" y="2555677"/>
            <a:ext cx="3178076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문서 업로드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SK-6-text-46"/>
          <p:cNvSpPr/>
          <p:nvPr/>
        </p:nvSpPr>
        <p:spPr>
          <a:xfrm>
            <a:off x="8318450" y="2927152"/>
            <a:ext cx="3073301" cy="4875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PDF/HWP/DOCX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파일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업로드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</a:t>
            </a:r>
          </a:p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OCR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엔진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연동을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통한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자동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텍스트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추출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200" dirty="0">
              <a:latin typeface="나눔스퀘어"/>
            </a:endParaRPr>
          </a:p>
        </p:txBody>
      </p:sp>
      <p:sp>
        <p:nvSpPr>
          <p:cNvPr id="48" name="SK-6-text-47"/>
          <p:cNvSpPr/>
          <p:nvPr/>
        </p:nvSpPr>
        <p:spPr>
          <a:xfrm>
            <a:off x="8413700" y="3538538"/>
            <a:ext cx="1392936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Multi-Format</a:t>
            </a:r>
            <a:endParaRPr lang="en-US" sz="900"/>
          </a:p>
        </p:txBody>
      </p:sp>
      <p:sp>
        <p:nvSpPr>
          <p:cNvPr id="49" name="SK-6-text-48"/>
          <p:cNvSpPr/>
          <p:nvPr/>
        </p:nvSpPr>
        <p:spPr>
          <a:xfrm>
            <a:off x="9442400" y="3538538"/>
            <a:ext cx="1023561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PaddleOCR</a:t>
            </a:r>
            <a:endParaRPr lang="en-US" sz="900"/>
          </a:p>
        </p:txBody>
      </p:sp>
      <p:sp>
        <p:nvSpPr>
          <p:cNvPr id="50" name="SK-6-text-49"/>
          <p:cNvSpPr/>
          <p:nvPr/>
        </p:nvSpPr>
        <p:spPr>
          <a:xfrm>
            <a:off x="800100" y="4891088"/>
            <a:ext cx="3178076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문서 요약 결과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SK-6-text-50"/>
          <p:cNvSpPr/>
          <p:nvPr/>
        </p:nvSpPr>
        <p:spPr>
          <a:xfrm>
            <a:off x="800100" y="5262563"/>
            <a:ext cx="3073301" cy="4875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LLM 기반 6종 맞춤형 요약 포맷 제공. Markdown 형식의 가독성 높은 출력.</a:t>
            </a:r>
            <a:endParaRPr lang="en-US" sz="1200">
              <a:latin typeface="나눔스퀘어"/>
            </a:endParaRPr>
          </a:p>
        </p:txBody>
      </p:sp>
      <p:sp>
        <p:nvSpPr>
          <p:cNvPr id="52" name="SK-6-text-51"/>
          <p:cNvSpPr/>
          <p:nvPr/>
        </p:nvSpPr>
        <p:spPr>
          <a:xfrm>
            <a:off x="895350" y="5873948"/>
            <a:ext cx="1155970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Map-Reduce</a:t>
            </a:r>
            <a:endParaRPr lang="en-US" sz="900"/>
          </a:p>
        </p:txBody>
      </p:sp>
      <p:sp>
        <p:nvSpPr>
          <p:cNvPr id="53" name="SK-6-text-52"/>
          <p:cNvSpPr/>
          <p:nvPr/>
        </p:nvSpPr>
        <p:spPr>
          <a:xfrm>
            <a:off x="1866900" y="5873948"/>
            <a:ext cx="912223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Markdown</a:t>
            </a:r>
            <a:endParaRPr lang="en-US" sz="900"/>
          </a:p>
        </p:txBody>
      </p:sp>
      <p:sp>
        <p:nvSpPr>
          <p:cNvPr id="54" name="SK-6-text-53"/>
          <p:cNvSpPr/>
          <p:nvPr/>
        </p:nvSpPr>
        <p:spPr>
          <a:xfrm>
            <a:off x="4559201" y="4891088"/>
            <a:ext cx="3178225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RAG 질의응답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5" name="SK-6-text-54"/>
          <p:cNvSpPr/>
          <p:nvPr/>
        </p:nvSpPr>
        <p:spPr>
          <a:xfrm>
            <a:off x="4559201" y="5262563"/>
            <a:ext cx="3073450" cy="4875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하이브리드 검색을 통한 실시간 지식 질의응답 및 답변 근거 문서 노출.</a:t>
            </a:r>
            <a:endParaRPr lang="en-US" sz="1200">
              <a:latin typeface="나눔스퀘어"/>
            </a:endParaRPr>
          </a:p>
        </p:txBody>
      </p:sp>
      <p:sp>
        <p:nvSpPr>
          <p:cNvPr id="56" name="SK-6-text-55"/>
          <p:cNvSpPr/>
          <p:nvPr/>
        </p:nvSpPr>
        <p:spPr>
          <a:xfrm>
            <a:off x="4654451" y="5873948"/>
            <a:ext cx="1519646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Hybrid Search</a:t>
            </a:r>
            <a:endParaRPr lang="en-US" sz="900"/>
          </a:p>
        </p:txBody>
      </p:sp>
      <p:sp>
        <p:nvSpPr>
          <p:cNvPr id="57" name="SK-6-text-56"/>
          <p:cNvSpPr/>
          <p:nvPr/>
        </p:nvSpPr>
        <p:spPr>
          <a:xfrm>
            <a:off x="5730776" y="5873948"/>
            <a:ext cx="1013185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Streaming</a:t>
            </a:r>
            <a:endParaRPr lang="en-US" sz="900"/>
          </a:p>
        </p:txBody>
      </p:sp>
      <p:sp>
        <p:nvSpPr>
          <p:cNvPr id="58" name="SK-6-text-57"/>
          <p:cNvSpPr/>
          <p:nvPr/>
        </p:nvSpPr>
        <p:spPr>
          <a:xfrm>
            <a:off x="8318450" y="4891088"/>
            <a:ext cx="3178076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결재 상신 / 승인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9" name="SK-6-text-58"/>
          <p:cNvSpPr/>
          <p:nvPr/>
        </p:nvSpPr>
        <p:spPr>
          <a:xfrm>
            <a:off x="8318450" y="5262563"/>
            <a:ext cx="3073301" cy="4875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요약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결과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기반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결재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상신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승인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/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반려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</a:p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워크플로우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전체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이력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관리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200" dirty="0">
              <a:latin typeface="나눔스퀘어"/>
            </a:endParaRPr>
          </a:p>
        </p:txBody>
      </p:sp>
      <p:sp>
        <p:nvSpPr>
          <p:cNvPr id="60" name="SK-6-text-59"/>
          <p:cNvSpPr/>
          <p:nvPr/>
        </p:nvSpPr>
        <p:spPr>
          <a:xfrm>
            <a:off x="8413700" y="5873948"/>
            <a:ext cx="895688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Workflow</a:t>
            </a:r>
            <a:endParaRPr lang="en-US" sz="900"/>
          </a:p>
        </p:txBody>
      </p:sp>
      <p:sp>
        <p:nvSpPr>
          <p:cNvPr id="61" name="SK-6-text-60"/>
          <p:cNvSpPr/>
          <p:nvPr/>
        </p:nvSpPr>
        <p:spPr>
          <a:xfrm>
            <a:off x="9242375" y="5873948"/>
            <a:ext cx="1245913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History Log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7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sp>
        <p:nvSpPr>
          <p:cNvPr id="55" name="SK-7-text-54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>
                <a:solidFill>
                  <a:srgbClr val="F5F3FF"/>
                </a:solidFill>
                <a:latin typeface="나눔스퀘어"/>
              </a:rPr>
              <a:t>ERD 및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"/>
              </a:rPr>
              <a:t>데이터베이스</a:t>
            </a:r>
            <a:r>
              <a:rPr lang="en-US" sz="2550" b="1" kern="0" spc="-30" dirty="0">
                <a:solidFill>
                  <a:srgbClr val="F5F3FF"/>
                </a:solidFill>
                <a:latin typeface="나눔스퀘어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"/>
              </a:rPr>
              <a:t>구조</a:t>
            </a:r>
            <a:r>
              <a:rPr lang="en-US" sz="2550" b="1" kern="0" spc="-30" dirty="0">
                <a:solidFill>
                  <a:srgbClr val="F5F3FF"/>
                </a:solidFill>
                <a:latin typeface="나눔스퀘어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"/>
              </a:rPr>
              <a:t>설계</a:t>
            </a:r>
            <a:endParaRPr lang="en-US" sz="2550" dirty="0">
              <a:latin typeface="나눔스퀘어"/>
            </a:endParaRPr>
          </a:p>
        </p:txBody>
      </p:sp>
      <p:pic>
        <p:nvPicPr>
          <p:cNvPr id="176" name="그림 175">
            <a:extLst>
              <a:ext uri="{FF2B5EF4-FFF2-40B4-BE49-F238E27FC236}">
                <a16:creationId xmlns:a16="http://schemas.microsoft.com/office/drawing/2014/main" id="{42AE64A0-4109-405E-9281-8CFD27FCC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599128"/>
            <a:ext cx="9616440" cy="4396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14500"/>
            <a:ext cx="1714500" cy="4762500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2053679"/>
            <a:ext cx="238125" cy="190500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0" y="2444204"/>
            <a:ext cx="8953500" cy="1154311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2920454"/>
            <a:ext cx="8191500" cy="9525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2558504"/>
            <a:ext cx="304800" cy="304800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7650" y="2558504"/>
            <a:ext cx="304800" cy="304800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4901" y="2558504"/>
            <a:ext cx="304800" cy="304800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82151" y="2558504"/>
            <a:ext cx="304800" cy="304800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67000" y="3931890"/>
            <a:ext cx="238125" cy="190500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4322415"/>
            <a:ext cx="8953500" cy="1005780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0" y="4798665"/>
            <a:ext cx="8191500" cy="9525"/>
          </a:xfrm>
          <a:prstGeom prst="rect">
            <a:avLst/>
          </a:prstGeom>
        </p:spPr>
      </p:pic>
      <p:pic>
        <p:nvPicPr>
          <p:cNvPr id="17" name="SK-8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0400" y="4436715"/>
            <a:ext cx="304800" cy="304800"/>
          </a:xfrm>
          <a:prstGeom prst="rect">
            <a:avLst/>
          </a:prstGeom>
        </p:spPr>
      </p:pic>
      <p:pic>
        <p:nvPicPr>
          <p:cNvPr id="18" name="SK-8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27650" y="4436715"/>
            <a:ext cx="304800" cy="304800"/>
          </a:xfrm>
          <a:prstGeom prst="rect">
            <a:avLst/>
          </a:prstGeom>
        </p:spPr>
      </p:pic>
      <p:pic>
        <p:nvPicPr>
          <p:cNvPr id="19" name="SK-8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4901" y="4436715"/>
            <a:ext cx="304800" cy="304800"/>
          </a:xfrm>
          <a:prstGeom prst="rect">
            <a:avLst/>
          </a:prstGeom>
        </p:spPr>
      </p:pic>
      <p:pic>
        <p:nvPicPr>
          <p:cNvPr id="20" name="SK-8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82151" y="4436715"/>
            <a:ext cx="304800" cy="304800"/>
          </a:xfrm>
          <a:prstGeom prst="rect">
            <a:avLst/>
          </a:prstGeom>
        </p:spPr>
      </p:pic>
      <p:pic>
        <p:nvPicPr>
          <p:cNvPr id="21" name="SK-8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67000" y="5709196"/>
            <a:ext cx="8953500" cy="476250"/>
          </a:xfrm>
          <a:prstGeom prst="rect">
            <a:avLst/>
          </a:prstGeom>
        </p:spPr>
      </p:pic>
      <p:pic>
        <p:nvPicPr>
          <p:cNvPr id="22" name="SK-8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57500" y="5871121"/>
            <a:ext cx="190500" cy="152400"/>
          </a:xfrm>
          <a:prstGeom prst="rect">
            <a:avLst/>
          </a:prstGeom>
        </p:spPr>
      </p:pic>
      <p:pic>
        <p:nvPicPr>
          <p:cNvPr id="23" name="SK-8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24200" y="5835402"/>
            <a:ext cx="1076325" cy="223838"/>
          </a:xfrm>
          <a:prstGeom prst="rect">
            <a:avLst/>
          </a:prstGeom>
        </p:spPr>
      </p:pic>
      <p:pic>
        <p:nvPicPr>
          <p:cNvPr id="24" name="SK-8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76725" y="5835402"/>
            <a:ext cx="561975" cy="223838"/>
          </a:xfrm>
          <a:prstGeom prst="rect">
            <a:avLst/>
          </a:prstGeom>
        </p:spPr>
      </p:pic>
      <p:pic>
        <p:nvPicPr>
          <p:cNvPr id="25" name="SK-8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14900" y="5835402"/>
            <a:ext cx="923925" cy="223838"/>
          </a:xfrm>
          <a:prstGeom prst="rect">
            <a:avLst/>
          </a:prstGeom>
        </p:spPr>
      </p:pic>
      <p:pic>
        <p:nvPicPr>
          <p:cNvPr id="26" name="SK-8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5871121"/>
            <a:ext cx="190500" cy="152400"/>
          </a:xfrm>
          <a:prstGeom prst="rect">
            <a:avLst/>
          </a:prstGeom>
        </p:spPr>
      </p:pic>
      <p:pic>
        <p:nvPicPr>
          <p:cNvPr id="27" name="SK-8-img-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34600" y="5861596"/>
            <a:ext cx="1295400" cy="209550"/>
          </a:xfrm>
          <a:prstGeom prst="rect">
            <a:avLst/>
          </a:prstGeom>
        </p:spPr>
      </p:pic>
      <p:sp>
        <p:nvSpPr>
          <p:cNvPr id="29" name="SK-8-text-28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30" dirty="0">
                <a:solidFill>
                  <a:srgbClr val="F5F3FF"/>
                </a:solidFill>
              </a:rPr>
              <a:t>LLM 및 RAG 파이프라인 전체 흐름</a:t>
            </a:r>
            <a:endParaRPr lang="en-US" sz="2550" dirty="0"/>
          </a:p>
        </p:txBody>
      </p:sp>
      <p:sp>
        <p:nvSpPr>
          <p:cNvPr id="30" name="SK-8-text-29"/>
          <p:cNvSpPr/>
          <p:nvPr/>
        </p:nvSpPr>
        <p:spPr>
          <a:xfrm>
            <a:off x="952500" y="2062163"/>
            <a:ext cx="1143000" cy="4067175"/>
          </a:xfrm>
          <a:prstGeom prst="rect">
            <a:avLst/>
          </a:prstGeom>
          <a:noFill/>
          <a:ln/>
        </p:spPr>
        <p:txBody>
          <a:bodyPr vert="vert" wrap="square" lIns="0" tIns="0" rIns="0" bIns="0" rtlCol="0" anchor="ctr"/>
          <a:lstStyle/>
          <a:p>
            <a:pPr marL="0" indent="0">
              <a:lnSpc>
                <a:spcPts val="9000"/>
              </a:lnSpc>
              <a:buNone/>
            </a:pPr>
            <a:r>
              <a:rPr lang="en-US" sz="6000" b="1" kern="0" spc="720" dirty="0">
                <a:solidFill>
                  <a:srgbClr val="A78BFA">
                    <a:alpha val="36000"/>
                  </a:srgbClr>
                </a:solidFill>
              </a:rPr>
              <a:t>PIPELINE</a:t>
            </a:r>
            <a:endParaRPr lang="en-US" sz="6000" dirty="0"/>
          </a:p>
        </p:txBody>
      </p:sp>
      <p:sp>
        <p:nvSpPr>
          <p:cNvPr id="31" name="SK-8-text-30"/>
          <p:cNvSpPr/>
          <p:nvPr/>
        </p:nvSpPr>
        <p:spPr>
          <a:xfrm>
            <a:off x="3019425" y="2006054"/>
            <a:ext cx="917257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4B5FD"/>
                </a:solidFill>
              </a:rPr>
              <a:t>Document Ingestion Pipeline (문서 수집 및 처리)</a:t>
            </a:r>
            <a:endParaRPr lang="en-US" sz="1500" dirty="0"/>
          </a:p>
        </p:txBody>
      </p:sp>
      <p:sp>
        <p:nvSpPr>
          <p:cNvPr id="32" name="SK-8-text-31"/>
          <p:cNvSpPr/>
          <p:nvPr/>
        </p:nvSpPr>
        <p:spPr>
          <a:xfrm>
            <a:off x="3276600" y="2558504"/>
            <a:ext cx="60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50" dirty="0"/>
          </a:p>
        </p:txBody>
      </p:sp>
      <p:sp>
        <p:nvSpPr>
          <p:cNvPr id="33" name="SK-8-text-32"/>
          <p:cNvSpPr/>
          <p:nvPr/>
        </p:nvSpPr>
        <p:spPr>
          <a:xfrm>
            <a:off x="2838450" y="2977604"/>
            <a:ext cx="10287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업로드</a:t>
            </a:r>
            <a:endParaRPr lang="en-US" sz="1125" dirty="0"/>
          </a:p>
        </p:txBody>
      </p:sp>
      <p:sp>
        <p:nvSpPr>
          <p:cNvPr id="34" name="SK-8-text-33"/>
          <p:cNvSpPr/>
          <p:nvPr/>
        </p:nvSpPr>
        <p:spPr>
          <a:xfrm>
            <a:off x="2838450" y="3187154"/>
            <a:ext cx="1028700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PDF, HWP, DOCX</a:t>
            </a:r>
            <a:endParaRPr lang="en-US" sz="900" dirty="0"/>
          </a:p>
        </p:txBody>
      </p:sp>
      <p:sp>
        <p:nvSpPr>
          <p:cNvPr id="35" name="SK-8-text-34"/>
          <p:cNvSpPr/>
          <p:nvPr/>
        </p:nvSpPr>
        <p:spPr>
          <a:xfrm>
            <a:off x="5803850" y="2558504"/>
            <a:ext cx="60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50" dirty="0"/>
          </a:p>
        </p:txBody>
      </p:sp>
      <p:sp>
        <p:nvSpPr>
          <p:cNvPr id="36" name="SK-8-text-35"/>
          <p:cNvSpPr/>
          <p:nvPr/>
        </p:nvSpPr>
        <p:spPr>
          <a:xfrm>
            <a:off x="5408563" y="2977604"/>
            <a:ext cx="94297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추출</a:t>
            </a:r>
            <a:endParaRPr lang="en-US" sz="1125" dirty="0"/>
          </a:p>
        </p:txBody>
      </p:sp>
      <p:sp>
        <p:nvSpPr>
          <p:cNvPr id="37" name="SK-8-text-36"/>
          <p:cNvSpPr/>
          <p:nvPr/>
        </p:nvSpPr>
        <p:spPr>
          <a:xfrm>
            <a:off x="5408563" y="3187154"/>
            <a:ext cx="942975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PaddleOCR 분석</a:t>
            </a:r>
            <a:endParaRPr lang="en-US" sz="900" dirty="0"/>
          </a:p>
        </p:txBody>
      </p:sp>
      <p:sp>
        <p:nvSpPr>
          <p:cNvPr id="38" name="SK-8-text-37"/>
          <p:cNvSpPr/>
          <p:nvPr/>
        </p:nvSpPr>
        <p:spPr>
          <a:xfrm>
            <a:off x="8331101" y="2558504"/>
            <a:ext cx="60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50" dirty="0"/>
          </a:p>
        </p:txBody>
      </p:sp>
      <p:sp>
        <p:nvSpPr>
          <p:cNvPr id="39" name="SK-8-text-38"/>
          <p:cNvSpPr/>
          <p:nvPr/>
        </p:nvSpPr>
        <p:spPr>
          <a:xfrm>
            <a:off x="7926288" y="2977604"/>
            <a:ext cx="96202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청킹 및 임베딩</a:t>
            </a:r>
            <a:endParaRPr lang="en-US" sz="1125" dirty="0"/>
          </a:p>
        </p:txBody>
      </p:sp>
      <p:sp>
        <p:nvSpPr>
          <p:cNvPr id="40" name="SK-8-text-39"/>
          <p:cNvSpPr/>
          <p:nvPr/>
        </p:nvSpPr>
        <p:spPr>
          <a:xfrm>
            <a:off x="7926288" y="3187154"/>
            <a:ext cx="962025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BGE-M3 파인튜닝</a:t>
            </a:r>
            <a:endParaRPr lang="en-US" sz="900" dirty="0"/>
          </a:p>
        </p:txBody>
      </p:sp>
      <p:sp>
        <p:nvSpPr>
          <p:cNvPr id="41" name="SK-8-text-40"/>
          <p:cNvSpPr/>
          <p:nvPr/>
        </p:nvSpPr>
        <p:spPr>
          <a:xfrm>
            <a:off x="10858351" y="2558504"/>
            <a:ext cx="60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50" dirty="0"/>
          </a:p>
        </p:txBody>
      </p:sp>
      <p:sp>
        <p:nvSpPr>
          <p:cNvPr id="42" name="SK-8-text-41"/>
          <p:cNvSpPr/>
          <p:nvPr/>
        </p:nvSpPr>
        <p:spPr>
          <a:xfrm>
            <a:off x="10324951" y="2977604"/>
            <a:ext cx="12192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및 요약</a:t>
            </a:r>
            <a:endParaRPr lang="en-US" sz="1125" dirty="0"/>
          </a:p>
        </p:txBody>
      </p:sp>
      <p:sp>
        <p:nvSpPr>
          <p:cNvPr id="43" name="SK-8-text-42"/>
          <p:cNvSpPr/>
          <p:nvPr/>
        </p:nvSpPr>
        <p:spPr>
          <a:xfrm>
            <a:off x="10363051" y="3187154"/>
            <a:ext cx="114300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ChromaDB / Map-Reduce</a:t>
            </a:r>
            <a:endParaRPr lang="en-US" sz="900" dirty="0"/>
          </a:p>
        </p:txBody>
      </p:sp>
      <p:sp>
        <p:nvSpPr>
          <p:cNvPr id="44" name="SK-8-text-43"/>
          <p:cNvSpPr/>
          <p:nvPr/>
        </p:nvSpPr>
        <p:spPr>
          <a:xfrm>
            <a:off x="3019425" y="3884265"/>
            <a:ext cx="6496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4B5FD"/>
                </a:solidFill>
              </a:rPr>
              <a:t>RAG Q&amp;A Pipeline (질의응답 및 검색)</a:t>
            </a:r>
            <a:endParaRPr lang="en-US" sz="1500" dirty="0"/>
          </a:p>
        </p:txBody>
      </p:sp>
      <p:sp>
        <p:nvSpPr>
          <p:cNvPr id="45" name="SK-8-text-44"/>
          <p:cNvSpPr/>
          <p:nvPr/>
        </p:nvSpPr>
        <p:spPr>
          <a:xfrm>
            <a:off x="3276600" y="4436715"/>
            <a:ext cx="60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50" dirty="0"/>
          </a:p>
        </p:txBody>
      </p:sp>
      <p:sp>
        <p:nvSpPr>
          <p:cNvPr id="46" name="SK-8-text-45"/>
          <p:cNvSpPr/>
          <p:nvPr/>
        </p:nvSpPr>
        <p:spPr>
          <a:xfrm>
            <a:off x="2867025" y="4855815"/>
            <a:ext cx="9715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입력</a:t>
            </a:r>
            <a:endParaRPr lang="en-US" sz="1125" dirty="0"/>
          </a:p>
        </p:txBody>
      </p:sp>
      <p:sp>
        <p:nvSpPr>
          <p:cNvPr id="47" name="SK-8-text-46"/>
          <p:cNvSpPr/>
          <p:nvPr/>
        </p:nvSpPr>
        <p:spPr>
          <a:xfrm>
            <a:off x="2867025" y="5065365"/>
            <a:ext cx="971550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자연어 쿼리</a:t>
            </a:r>
            <a:endParaRPr lang="en-US" sz="900" dirty="0"/>
          </a:p>
        </p:txBody>
      </p:sp>
      <p:sp>
        <p:nvSpPr>
          <p:cNvPr id="48" name="SK-8-text-47"/>
          <p:cNvSpPr/>
          <p:nvPr/>
        </p:nvSpPr>
        <p:spPr>
          <a:xfrm>
            <a:off x="5803850" y="4436715"/>
            <a:ext cx="60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50" dirty="0"/>
          </a:p>
        </p:txBody>
      </p:sp>
      <p:sp>
        <p:nvSpPr>
          <p:cNvPr id="49" name="SK-8-text-48"/>
          <p:cNvSpPr/>
          <p:nvPr/>
        </p:nvSpPr>
        <p:spPr>
          <a:xfrm>
            <a:off x="5356175" y="4855815"/>
            <a:ext cx="10477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검색</a:t>
            </a:r>
            <a:endParaRPr lang="en-US" sz="1125" dirty="0"/>
          </a:p>
        </p:txBody>
      </p:sp>
      <p:sp>
        <p:nvSpPr>
          <p:cNvPr id="50" name="SK-8-text-49"/>
          <p:cNvSpPr/>
          <p:nvPr/>
        </p:nvSpPr>
        <p:spPr>
          <a:xfrm>
            <a:off x="5356175" y="5065365"/>
            <a:ext cx="1047750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 + BM25</a:t>
            </a:r>
            <a:endParaRPr lang="en-US" sz="900" dirty="0"/>
          </a:p>
        </p:txBody>
      </p:sp>
      <p:sp>
        <p:nvSpPr>
          <p:cNvPr id="51" name="SK-8-text-50"/>
          <p:cNvSpPr/>
          <p:nvPr/>
        </p:nvSpPr>
        <p:spPr>
          <a:xfrm>
            <a:off x="8331101" y="4436715"/>
            <a:ext cx="60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50" dirty="0"/>
          </a:p>
        </p:txBody>
      </p:sp>
      <p:sp>
        <p:nvSpPr>
          <p:cNvPr id="52" name="SK-8-text-51"/>
          <p:cNvSpPr/>
          <p:nvPr/>
        </p:nvSpPr>
        <p:spPr>
          <a:xfrm>
            <a:off x="7883426" y="4855815"/>
            <a:ext cx="10477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리랭킹</a:t>
            </a:r>
            <a:endParaRPr lang="en-US" sz="1125" dirty="0"/>
          </a:p>
        </p:txBody>
      </p:sp>
      <p:sp>
        <p:nvSpPr>
          <p:cNvPr id="53" name="SK-8-text-52"/>
          <p:cNvSpPr/>
          <p:nvPr/>
        </p:nvSpPr>
        <p:spPr>
          <a:xfrm>
            <a:off x="7883426" y="5065365"/>
            <a:ext cx="1047750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BGE-Reranker-v2</a:t>
            </a:r>
            <a:endParaRPr lang="en-US" sz="900" dirty="0"/>
          </a:p>
        </p:txBody>
      </p:sp>
      <p:sp>
        <p:nvSpPr>
          <p:cNvPr id="54" name="SK-8-text-53"/>
          <p:cNvSpPr/>
          <p:nvPr/>
        </p:nvSpPr>
        <p:spPr>
          <a:xfrm>
            <a:off x="10858351" y="4436715"/>
            <a:ext cx="60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50" dirty="0"/>
          </a:p>
        </p:txBody>
      </p:sp>
      <p:sp>
        <p:nvSpPr>
          <p:cNvPr id="55" name="SK-8-text-54"/>
          <p:cNvSpPr/>
          <p:nvPr/>
        </p:nvSpPr>
        <p:spPr>
          <a:xfrm>
            <a:off x="10544026" y="4855815"/>
            <a:ext cx="7810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답변</a:t>
            </a:r>
            <a:endParaRPr lang="en-US" sz="1125" dirty="0"/>
          </a:p>
        </p:txBody>
      </p:sp>
      <p:sp>
        <p:nvSpPr>
          <p:cNvPr id="56" name="SK-8-text-55"/>
          <p:cNvSpPr/>
          <p:nvPr/>
        </p:nvSpPr>
        <p:spPr>
          <a:xfrm>
            <a:off x="10544026" y="5065365"/>
            <a:ext cx="781050" cy="148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지식 합성</a:t>
            </a:r>
            <a:endParaRPr lang="en-US" sz="900" dirty="0"/>
          </a:p>
        </p:txBody>
      </p:sp>
      <p:sp>
        <p:nvSpPr>
          <p:cNvPr id="57" name="SK-8-text-56"/>
          <p:cNvSpPr/>
          <p:nvPr/>
        </p:nvSpPr>
        <p:spPr>
          <a:xfrm>
            <a:off x="3200400" y="5835402"/>
            <a:ext cx="186191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C4B5FD"/>
                </a:solidFill>
              </a:rPr>
              <a:t>LangChain LCEL</a:t>
            </a:r>
            <a:endParaRPr lang="en-US" sz="975" dirty="0"/>
          </a:p>
        </p:txBody>
      </p:sp>
      <p:sp>
        <p:nvSpPr>
          <p:cNvPr id="58" name="SK-8-text-57"/>
          <p:cNvSpPr/>
          <p:nvPr/>
        </p:nvSpPr>
        <p:spPr>
          <a:xfrm>
            <a:off x="4352925" y="5835402"/>
            <a:ext cx="725966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C4B5FD"/>
                </a:solidFill>
              </a:rPr>
              <a:t>Ollama</a:t>
            </a:r>
            <a:endParaRPr lang="en-US" sz="975" dirty="0"/>
          </a:p>
        </p:txBody>
      </p:sp>
      <p:sp>
        <p:nvSpPr>
          <p:cNvPr id="59" name="SK-8-text-58"/>
          <p:cNvSpPr/>
          <p:nvPr/>
        </p:nvSpPr>
        <p:spPr>
          <a:xfrm>
            <a:off x="4991100" y="5835402"/>
            <a:ext cx="1523804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C4B5FD"/>
                </a:solidFill>
              </a:rPr>
              <a:t>BAAI/bge-m3</a:t>
            </a:r>
            <a:endParaRPr lang="en-US" sz="975" dirty="0"/>
          </a:p>
        </p:txBody>
      </p:sp>
      <p:sp>
        <p:nvSpPr>
          <p:cNvPr id="60" name="SK-8-text-59"/>
          <p:cNvSpPr/>
          <p:nvPr/>
        </p:nvSpPr>
        <p:spPr>
          <a:xfrm>
            <a:off x="7239000" y="5854452"/>
            <a:ext cx="49530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F5F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Caching : 동일 쿼리 반복 시 응답 속도 극대화</a:t>
            </a:r>
            <a:endParaRPr lang="en-US" sz="975" dirty="0"/>
          </a:p>
        </p:txBody>
      </p:sp>
      <p:sp>
        <p:nvSpPr>
          <p:cNvPr id="61" name="SK-8-text-60"/>
          <p:cNvSpPr/>
          <p:nvPr/>
        </p:nvSpPr>
        <p:spPr>
          <a:xfrm>
            <a:off x="10229850" y="5861596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Boost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9-img-3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571625"/>
            <a:ext cx="238125" cy="190500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1500" y="1962150"/>
            <a:ext cx="6446490" cy="4514850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5800" y="2076450"/>
            <a:ext cx="2181820" cy="466725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867620" y="2076450"/>
            <a:ext cx="1413123" cy="466725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280743" y="2076450"/>
            <a:ext cx="1367879" cy="466725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648623" y="2076450"/>
            <a:ext cx="621655" cy="466725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6270278" y="2076450"/>
            <a:ext cx="633413" cy="466725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85800" y="2543175"/>
            <a:ext cx="2181820" cy="954881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2867620" y="2543175"/>
            <a:ext cx="1413123" cy="954881"/>
          </a:xfrm>
          <a:prstGeom prst="rect">
            <a:avLst/>
          </a:prstGeom>
        </p:spPr>
      </p:pic>
      <p:pic>
        <p:nvPicPr>
          <p:cNvPr id="14" name="SK-9-img-13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4280743" y="2543175"/>
            <a:ext cx="1367879" cy="954881"/>
          </a:xfrm>
          <a:prstGeom prst="rect">
            <a:avLst/>
          </a:prstGeom>
        </p:spPr>
      </p:pic>
      <p:pic>
        <p:nvPicPr>
          <p:cNvPr id="15" name="SK-9-img-14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5648623" y="2543175"/>
            <a:ext cx="621655" cy="954881"/>
          </a:xfrm>
          <a:prstGeom prst="rect">
            <a:avLst/>
          </a:prstGeom>
        </p:spPr>
      </p:pic>
      <p:pic>
        <p:nvPicPr>
          <p:cNvPr id="16" name="SK-9-img-15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5864126" y="2969716"/>
            <a:ext cx="190500" cy="152400"/>
          </a:xfrm>
          <a:prstGeom prst="rect">
            <a:avLst/>
          </a:prstGeom>
        </p:spPr>
      </p:pic>
      <p:pic>
        <p:nvPicPr>
          <p:cNvPr id="17" name="SK-9-img-16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6270278" y="2543175"/>
            <a:ext cx="633413" cy="954881"/>
          </a:xfrm>
          <a:prstGeom prst="rect">
            <a:avLst/>
          </a:prstGeom>
        </p:spPr>
      </p:pic>
      <p:pic>
        <p:nvPicPr>
          <p:cNvPr id="18" name="SK-9-img-17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85800" y="3498056"/>
            <a:ext cx="2181820" cy="954881"/>
          </a:xfrm>
          <a:prstGeom prst="rect">
            <a:avLst/>
          </a:prstGeom>
        </p:spPr>
      </p:pic>
      <p:pic>
        <p:nvPicPr>
          <p:cNvPr id="19" name="SK-9-img-18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2867620" y="3498056"/>
            <a:ext cx="1413123" cy="954881"/>
          </a:xfrm>
          <a:prstGeom prst="rect">
            <a:avLst/>
          </a:prstGeom>
        </p:spPr>
      </p:pic>
      <p:pic>
        <p:nvPicPr>
          <p:cNvPr id="20" name="SK-9-img-19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4280743" y="3498056"/>
            <a:ext cx="1367879" cy="954881"/>
          </a:xfrm>
          <a:prstGeom prst="rect">
            <a:avLst/>
          </a:prstGeom>
        </p:spPr>
      </p:pic>
      <p:pic>
        <p:nvPicPr>
          <p:cNvPr id="21" name="SK-9-img-20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5648623" y="3498056"/>
            <a:ext cx="621655" cy="954881"/>
          </a:xfrm>
          <a:prstGeom prst="rect">
            <a:avLst/>
          </a:prstGeom>
        </p:spPr>
      </p:pic>
      <p:pic>
        <p:nvPicPr>
          <p:cNvPr id="22" name="SK-9-img-21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5864126" y="3924598"/>
            <a:ext cx="190500" cy="152400"/>
          </a:xfrm>
          <a:prstGeom prst="rect">
            <a:avLst/>
          </a:prstGeom>
        </p:spPr>
      </p:pic>
      <p:pic>
        <p:nvPicPr>
          <p:cNvPr id="23" name="SK-9-img-22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6270278" y="3498056"/>
            <a:ext cx="633413" cy="954881"/>
          </a:xfrm>
          <a:prstGeom prst="rect">
            <a:avLst/>
          </a:prstGeom>
        </p:spPr>
      </p:pic>
      <p:pic>
        <p:nvPicPr>
          <p:cNvPr id="24" name="SK-9-img-23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685800" y="4452938"/>
            <a:ext cx="2181820" cy="954881"/>
          </a:xfrm>
          <a:prstGeom prst="rect">
            <a:avLst/>
          </a:prstGeom>
        </p:spPr>
      </p:pic>
      <p:pic>
        <p:nvPicPr>
          <p:cNvPr id="25" name="SK-9-img-24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2867620" y="4452938"/>
            <a:ext cx="1413123" cy="954881"/>
          </a:xfrm>
          <a:prstGeom prst="rect">
            <a:avLst/>
          </a:prstGeom>
        </p:spPr>
      </p:pic>
      <p:pic>
        <p:nvPicPr>
          <p:cNvPr id="26" name="SK-9-img-25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4280743" y="4452938"/>
            <a:ext cx="1367879" cy="954881"/>
          </a:xfrm>
          <a:prstGeom prst="rect">
            <a:avLst/>
          </a:prstGeom>
        </p:spPr>
      </p:pic>
      <p:pic>
        <p:nvPicPr>
          <p:cNvPr id="27" name="SK-9-img-26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5648623" y="4452938"/>
            <a:ext cx="621655" cy="954881"/>
          </a:xfrm>
          <a:prstGeom prst="rect">
            <a:avLst/>
          </a:prstGeom>
        </p:spPr>
      </p:pic>
      <p:pic>
        <p:nvPicPr>
          <p:cNvPr id="28" name="SK-9-img-27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5864126" y="4879479"/>
            <a:ext cx="190500" cy="152400"/>
          </a:xfrm>
          <a:prstGeom prst="rect">
            <a:avLst/>
          </a:prstGeom>
        </p:spPr>
      </p:pic>
      <p:pic>
        <p:nvPicPr>
          <p:cNvPr id="29" name="SK-9-img-28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6270278" y="4452938"/>
            <a:ext cx="633413" cy="954881"/>
          </a:xfrm>
          <a:prstGeom prst="rect">
            <a:avLst/>
          </a:prstGeom>
        </p:spPr>
      </p:pic>
      <p:pic>
        <p:nvPicPr>
          <p:cNvPr id="30" name="SK-9-img-29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685800" y="5407819"/>
            <a:ext cx="6217890" cy="954881"/>
          </a:xfrm>
          <a:prstGeom prst="rect">
            <a:avLst/>
          </a:prstGeom>
        </p:spPr>
      </p:pic>
      <p:pic>
        <p:nvPicPr>
          <p:cNvPr id="31" name="SK-9-img-30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5864126" y="5834360"/>
            <a:ext cx="190500" cy="152400"/>
          </a:xfrm>
          <a:prstGeom prst="rect">
            <a:avLst/>
          </a:prstGeom>
        </p:spPr>
      </p:pic>
      <p:pic>
        <p:nvPicPr>
          <p:cNvPr id="32" name="SK-9-img-31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7322790" y="1524000"/>
            <a:ext cx="4297710" cy="2400300"/>
          </a:xfrm>
          <a:prstGeom prst="rect">
            <a:avLst/>
          </a:prstGeom>
        </p:spPr>
      </p:pic>
      <p:pic>
        <p:nvPicPr>
          <p:cNvPr id="33" name="SK-9-img-32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7513290" y="1714500"/>
            <a:ext cx="381000" cy="381000"/>
          </a:xfrm>
          <a:prstGeom prst="rect">
            <a:avLst/>
          </a:prstGeom>
        </p:spPr>
      </p:pic>
      <p:pic>
        <p:nvPicPr>
          <p:cNvPr id="34" name="SK-9-img-33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7584728" y="1809750"/>
            <a:ext cx="238125" cy="190500"/>
          </a:xfrm>
          <a:prstGeom prst="rect">
            <a:avLst/>
          </a:prstGeom>
        </p:spPr>
      </p:pic>
      <p:pic>
        <p:nvPicPr>
          <p:cNvPr id="35" name="SK-9-img-34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7513290" y="2209800"/>
            <a:ext cx="178594" cy="142875"/>
          </a:xfrm>
          <a:prstGeom prst="rect">
            <a:avLst/>
          </a:prstGeom>
        </p:spPr>
      </p:pic>
      <p:pic>
        <p:nvPicPr>
          <p:cNvPr id="36" name="SK-9-img-35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7513290" y="2500313"/>
            <a:ext cx="178594" cy="142875"/>
          </a:xfrm>
          <a:prstGeom prst="rect">
            <a:avLst/>
          </a:prstGeom>
        </p:spPr>
      </p:pic>
      <p:pic>
        <p:nvPicPr>
          <p:cNvPr id="37" name="SK-9-img-36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7513290" y="2819400"/>
            <a:ext cx="178594" cy="142875"/>
          </a:xfrm>
          <a:prstGeom prst="rect">
            <a:avLst/>
          </a:prstGeom>
        </p:spPr>
      </p:pic>
      <p:pic>
        <p:nvPicPr>
          <p:cNvPr id="38" name="SK-9-img-37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7322790" y="4076700"/>
            <a:ext cx="4297710" cy="2400300"/>
          </a:xfrm>
          <a:prstGeom prst="rect">
            <a:avLst/>
          </a:prstGeom>
        </p:spPr>
      </p:pic>
      <p:pic>
        <p:nvPicPr>
          <p:cNvPr id="39" name="SK-9-img-38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7513290" y="4267200"/>
            <a:ext cx="381000" cy="381000"/>
          </a:xfrm>
          <a:prstGeom prst="rect">
            <a:avLst/>
          </a:prstGeom>
        </p:spPr>
      </p:pic>
      <p:pic>
        <p:nvPicPr>
          <p:cNvPr id="40" name="SK-9-img-39" descr="preencoded.png"/>
          <p:cNvPicPr>
            <a:picLocks noChangeAspect="1"/>
          </p:cNvPicPr>
          <p:nvPr/>
        </p:nvPicPr>
        <p:blipFill rotWithShape="1">
          <a:blip r:embed="rId36"/>
          <a:stretch>
            <a:fillRect/>
          </a:stretch>
        </p:blipFill>
        <p:spPr>
          <a:xfrm>
            <a:off x="7584728" y="4362450"/>
            <a:ext cx="238125" cy="190500"/>
          </a:xfrm>
          <a:prstGeom prst="rect">
            <a:avLst/>
          </a:prstGeom>
        </p:spPr>
      </p:pic>
      <p:pic>
        <p:nvPicPr>
          <p:cNvPr id="41" name="SK-9-img-40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7513290" y="4762500"/>
            <a:ext cx="178594" cy="142875"/>
          </a:xfrm>
          <a:prstGeom prst="rect">
            <a:avLst/>
          </a:prstGeom>
        </p:spPr>
      </p:pic>
      <p:pic>
        <p:nvPicPr>
          <p:cNvPr id="42" name="SK-9-img-41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7513290" y="5053013"/>
            <a:ext cx="178594" cy="142875"/>
          </a:xfrm>
          <a:prstGeom prst="rect">
            <a:avLst/>
          </a:prstGeom>
        </p:spPr>
      </p:pic>
      <p:pic>
        <p:nvPicPr>
          <p:cNvPr id="43" name="SK-9-img-42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7513290" y="5343525"/>
            <a:ext cx="178594" cy="142875"/>
          </a:xfrm>
          <a:prstGeom prst="rect">
            <a:avLst/>
          </a:prstGeom>
        </p:spPr>
      </p:pic>
      <p:sp>
        <p:nvSpPr>
          <p:cNvPr id="45" name="SK-9-text-44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BGE-M3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임베딩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및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한국어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성능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분석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6" name="SK-9-text-45"/>
          <p:cNvSpPr/>
          <p:nvPr/>
        </p:nvSpPr>
        <p:spPr>
          <a:xfrm>
            <a:off x="904875" y="1524000"/>
            <a:ext cx="5353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MTEB-Ko 기준 임베딩 모델 성능 비교</a:t>
            </a:r>
            <a:endParaRPr lang="en-US" sz="15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SK-9-text-46"/>
          <p:cNvSpPr/>
          <p:nvPr/>
        </p:nvSpPr>
        <p:spPr>
          <a:xfrm>
            <a:off x="647700" y="2076450"/>
            <a:ext cx="2105620" cy="4667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575"/>
              </a:lnSpc>
              <a:buNone/>
              <a:defRPr/>
            </a:pPr>
            <a:r>
              <a:rPr lang="en-US" sz="1050" b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모델명</a:t>
            </a:r>
            <a:endParaRPr lang="en-US" sz="10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SK-9-text-47"/>
          <p:cNvSpPr/>
          <p:nvPr/>
        </p:nvSpPr>
        <p:spPr>
          <a:xfrm>
            <a:off x="2829520" y="2076450"/>
            <a:ext cx="1336923" cy="4667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575"/>
              </a:lnSpc>
              <a:buNone/>
              <a:defRPr/>
            </a:pPr>
            <a:r>
              <a:rPr lang="en-US" sz="1050" b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NDCG@10 (검색)</a:t>
            </a:r>
            <a:endParaRPr lang="en-US" sz="10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9" name="SK-9-text-48"/>
          <p:cNvSpPr/>
          <p:nvPr/>
        </p:nvSpPr>
        <p:spPr>
          <a:xfrm>
            <a:off x="4242643" y="2076450"/>
            <a:ext cx="1291679" cy="4667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575"/>
              </a:lnSpc>
              <a:buNone/>
              <a:defRPr/>
            </a:pPr>
            <a:r>
              <a:rPr lang="en-US" sz="1050" b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STS (의미유사도)</a:t>
            </a:r>
            <a:endParaRPr lang="en-US" sz="10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SK-9-text-49"/>
          <p:cNvSpPr/>
          <p:nvPr/>
        </p:nvSpPr>
        <p:spPr>
          <a:xfrm>
            <a:off x="5610523" y="2076450"/>
            <a:ext cx="545455" cy="4667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575"/>
              </a:lnSpc>
              <a:buNone/>
              <a:defRPr/>
            </a:pPr>
            <a:r>
              <a:rPr lang="en-US" sz="1050" b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다국어</a:t>
            </a:r>
            <a:endParaRPr lang="en-US" sz="10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SK-9-text-50"/>
          <p:cNvSpPr/>
          <p:nvPr/>
        </p:nvSpPr>
        <p:spPr>
          <a:xfrm>
            <a:off x="6232178" y="2076450"/>
            <a:ext cx="557213" cy="4667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575"/>
              </a:lnSpc>
              <a:buNone/>
              <a:defRPr/>
            </a:pPr>
            <a:r>
              <a:rPr lang="en-US" sz="1050" b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차원</a:t>
            </a:r>
            <a:endParaRPr lang="en-US" sz="10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2" name="SK-9-text-51"/>
          <p:cNvSpPr/>
          <p:nvPr/>
        </p:nvSpPr>
        <p:spPr>
          <a:xfrm>
            <a:off x="647700" y="2543175"/>
            <a:ext cx="2105620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ko-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sroberta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-multitask</a:t>
            </a:r>
            <a:endParaRPr lang="en-US" sz="1200" dirty="0">
              <a:latin typeface="나눔스퀘어"/>
            </a:endParaRPr>
          </a:p>
        </p:txBody>
      </p:sp>
      <p:sp>
        <p:nvSpPr>
          <p:cNvPr id="53" name="SK-9-text-52"/>
          <p:cNvSpPr/>
          <p:nvPr/>
        </p:nvSpPr>
        <p:spPr>
          <a:xfrm>
            <a:off x="2829520" y="2543175"/>
            <a:ext cx="1336923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52.3%</a:t>
            </a:r>
            <a:endParaRPr lang="en-US" sz="1200">
              <a:latin typeface="나눔스퀘어"/>
            </a:endParaRPr>
          </a:p>
        </p:txBody>
      </p:sp>
      <p:sp>
        <p:nvSpPr>
          <p:cNvPr id="54" name="SK-9-text-53"/>
          <p:cNvSpPr/>
          <p:nvPr/>
        </p:nvSpPr>
        <p:spPr>
          <a:xfrm>
            <a:off x="4242643" y="2543175"/>
            <a:ext cx="1291679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76.4%</a:t>
            </a:r>
            <a:endParaRPr lang="en-US" sz="1200">
              <a:latin typeface="나눔스퀘어"/>
            </a:endParaRPr>
          </a:p>
        </p:txBody>
      </p:sp>
      <p:sp>
        <p:nvSpPr>
          <p:cNvPr id="55" name="SK-9-text-54"/>
          <p:cNvSpPr/>
          <p:nvPr/>
        </p:nvSpPr>
        <p:spPr>
          <a:xfrm>
            <a:off x="6232178" y="2543175"/>
            <a:ext cx="557213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768</a:t>
            </a:r>
            <a:endParaRPr lang="en-US" sz="1200">
              <a:latin typeface="나눔스퀘어"/>
            </a:endParaRPr>
          </a:p>
        </p:txBody>
      </p:sp>
      <p:sp>
        <p:nvSpPr>
          <p:cNvPr id="56" name="SK-9-text-55"/>
          <p:cNvSpPr/>
          <p:nvPr/>
        </p:nvSpPr>
        <p:spPr>
          <a:xfrm>
            <a:off x="647700" y="3498056"/>
            <a:ext cx="2105620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multilingual-e5-large</a:t>
            </a:r>
            <a:endParaRPr lang="en-US" sz="1200">
              <a:latin typeface="나눔스퀘어"/>
            </a:endParaRPr>
          </a:p>
        </p:txBody>
      </p:sp>
      <p:sp>
        <p:nvSpPr>
          <p:cNvPr id="57" name="SK-9-text-56"/>
          <p:cNvSpPr/>
          <p:nvPr/>
        </p:nvSpPr>
        <p:spPr>
          <a:xfrm>
            <a:off x="2829520" y="3498056"/>
            <a:ext cx="1336923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61.7%</a:t>
            </a:r>
            <a:endParaRPr lang="en-US" sz="1200">
              <a:latin typeface="나눔스퀘어"/>
            </a:endParaRPr>
          </a:p>
        </p:txBody>
      </p:sp>
      <p:sp>
        <p:nvSpPr>
          <p:cNvPr id="58" name="SK-9-text-57"/>
          <p:cNvSpPr/>
          <p:nvPr/>
        </p:nvSpPr>
        <p:spPr>
          <a:xfrm>
            <a:off x="4242643" y="3498056"/>
            <a:ext cx="1291679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79.2%</a:t>
            </a:r>
            <a:endParaRPr lang="en-US" sz="1200">
              <a:latin typeface="나눔스퀘어"/>
            </a:endParaRPr>
          </a:p>
        </p:txBody>
      </p:sp>
      <p:sp>
        <p:nvSpPr>
          <p:cNvPr id="59" name="SK-9-text-58"/>
          <p:cNvSpPr/>
          <p:nvPr/>
        </p:nvSpPr>
        <p:spPr>
          <a:xfrm>
            <a:off x="6232178" y="3498056"/>
            <a:ext cx="557213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1024</a:t>
            </a:r>
            <a:endParaRPr lang="en-US" sz="1200">
              <a:latin typeface="나눔스퀘어"/>
            </a:endParaRPr>
          </a:p>
        </p:txBody>
      </p:sp>
      <p:sp>
        <p:nvSpPr>
          <p:cNvPr id="60" name="SK-9-text-59"/>
          <p:cNvSpPr/>
          <p:nvPr/>
        </p:nvSpPr>
        <p:spPr>
          <a:xfrm>
            <a:off x="647700" y="4452938"/>
            <a:ext cx="2105620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BAAI/bge-m3</a:t>
            </a:r>
            <a:endParaRPr lang="en-US" sz="1200">
              <a:latin typeface="나눔스퀘어"/>
            </a:endParaRPr>
          </a:p>
        </p:txBody>
      </p:sp>
      <p:sp>
        <p:nvSpPr>
          <p:cNvPr id="61" name="SK-9-text-60"/>
          <p:cNvSpPr/>
          <p:nvPr/>
        </p:nvSpPr>
        <p:spPr>
          <a:xfrm>
            <a:off x="2829520" y="4452938"/>
            <a:ext cx="1336923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68.4%</a:t>
            </a:r>
            <a:endParaRPr lang="en-US" sz="1200">
              <a:latin typeface="나눔스퀘어"/>
            </a:endParaRPr>
          </a:p>
        </p:txBody>
      </p:sp>
      <p:sp>
        <p:nvSpPr>
          <p:cNvPr id="62" name="SK-9-text-61"/>
          <p:cNvSpPr/>
          <p:nvPr/>
        </p:nvSpPr>
        <p:spPr>
          <a:xfrm>
            <a:off x="4242643" y="4452938"/>
            <a:ext cx="1291679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83.1%</a:t>
            </a:r>
            <a:endParaRPr lang="en-US" sz="1200">
              <a:latin typeface="나눔스퀘어"/>
            </a:endParaRPr>
          </a:p>
        </p:txBody>
      </p:sp>
      <p:sp>
        <p:nvSpPr>
          <p:cNvPr id="63" name="SK-9-text-62"/>
          <p:cNvSpPr/>
          <p:nvPr/>
        </p:nvSpPr>
        <p:spPr>
          <a:xfrm>
            <a:off x="6232178" y="4452938"/>
            <a:ext cx="557213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1024</a:t>
            </a:r>
            <a:endParaRPr lang="en-US" sz="1200">
              <a:latin typeface="나눔스퀘어"/>
            </a:endParaRPr>
          </a:p>
        </p:txBody>
      </p:sp>
      <p:sp>
        <p:nvSpPr>
          <p:cNvPr id="64" name="SK-9-text-63"/>
          <p:cNvSpPr/>
          <p:nvPr/>
        </p:nvSpPr>
        <p:spPr>
          <a:xfrm>
            <a:off x="647700" y="5407819"/>
            <a:ext cx="2105620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A78BFA"/>
                </a:solidFill>
                <a:latin typeface="나눔스퀘어"/>
                <a:ea typeface="Noto Sans KR"/>
                <a:cs typeface="Noto Sans KR"/>
              </a:rPr>
              <a:t>bge-m3 (파인튜닝)</a:t>
            </a:r>
            <a:endParaRPr lang="en-US" sz="1200">
              <a:latin typeface="나눔스퀘어"/>
            </a:endParaRPr>
          </a:p>
        </p:txBody>
      </p:sp>
      <p:sp>
        <p:nvSpPr>
          <p:cNvPr id="65" name="SK-9-text-64"/>
          <p:cNvSpPr/>
          <p:nvPr/>
        </p:nvSpPr>
        <p:spPr>
          <a:xfrm>
            <a:off x="2829520" y="5407819"/>
            <a:ext cx="1336923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A78BFA"/>
                </a:solidFill>
                <a:latin typeface="나눔스퀘어"/>
                <a:ea typeface="Noto Sans KR"/>
                <a:cs typeface="Noto Sans KR"/>
              </a:rPr>
              <a:t>72.1%</a:t>
            </a:r>
            <a:endParaRPr lang="en-US" sz="1200">
              <a:latin typeface="나눔스퀘어"/>
            </a:endParaRPr>
          </a:p>
        </p:txBody>
      </p:sp>
      <p:sp>
        <p:nvSpPr>
          <p:cNvPr id="66" name="SK-9-text-65"/>
          <p:cNvSpPr/>
          <p:nvPr/>
        </p:nvSpPr>
        <p:spPr>
          <a:xfrm>
            <a:off x="4242643" y="5407819"/>
            <a:ext cx="1291679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A78BFA"/>
                </a:solidFill>
                <a:latin typeface="나눔스퀘어"/>
                <a:ea typeface="Noto Sans KR"/>
                <a:cs typeface="Noto Sans KR"/>
              </a:rPr>
              <a:t>85.6%</a:t>
            </a:r>
            <a:endParaRPr lang="en-US" sz="1200">
              <a:latin typeface="나눔스퀘어"/>
            </a:endParaRPr>
          </a:p>
        </p:txBody>
      </p:sp>
      <p:sp>
        <p:nvSpPr>
          <p:cNvPr id="67" name="SK-9-text-66"/>
          <p:cNvSpPr/>
          <p:nvPr/>
        </p:nvSpPr>
        <p:spPr>
          <a:xfrm>
            <a:off x="6232178" y="5407819"/>
            <a:ext cx="557213" cy="95488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1024</a:t>
            </a:r>
            <a:endParaRPr lang="en-US" sz="1200">
              <a:latin typeface="나눔스퀘어"/>
            </a:endParaRPr>
          </a:p>
        </p:txBody>
      </p:sp>
      <p:sp>
        <p:nvSpPr>
          <p:cNvPr id="68" name="SK-9-text-67"/>
          <p:cNvSpPr/>
          <p:nvPr/>
        </p:nvSpPr>
        <p:spPr>
          <a:xfrm>
            <a:off x="8008590" y="1776413"/>
            <a:ext cx="255460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 dirty="0" err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파인튜닝</a:t>
            </a:r>
            <a:r>
              <a:rPr lang="en-US" sz="1350" b="1" dirty="0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350" b="1" dirty="0" err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목적</a:t>
            </a:r>
            <a:r>
              <a:rPr lang="en-US" sz="1350" b="1" dirty="0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및 </a:t>
            </a:r>
            <a:r>
              <a:rPr lang="en-US" sz="1350" b="1" dirty="0" err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환경</a:t>
            </a:r>
            <a:endParaRPr lang="en-US" sz="135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9" name="SK-9-text-68"/>
          <p:cNvSpPr/>
          <p:nvPr/>
        </p:nvSpPr>
        <p:spPr>
          <a:xfrm>
            <a:off x="7768084" y="2209800"/>
            <a:ext cx="4362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한국어</a:t>
            </a:r>
            <a:r>
              <a:rPr lang="en-US" sz="1125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행정·법률</a:t>
            </a:r>
            <a:r>
              <a:rPr lang="en-US" sz="1125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문서</a:t>
            </a:r>
            <a:r>
              <a:rPr lang="en-US" sz="1125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도메인</a:t>
            </a:r>
            <a:r>
              <a:rPr lang="en-US" sz="1125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특화</a:t>
            </a:r>
            <a:r>
              <a:rPr lang="en-US" sz="1125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성능</a:t>
            </a:r>
            <a:r>
              <a:rPr lang="en-US" sz="1125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향상</a:t>
            </a:r>
            <a:endParaRPr lang="en-US" sz="1125" dirty="0">
              <a:latin typeface="나눔스퀘어"/>
            </a:endParaRPr>
          </a:p>
        </p:txBody>
      </p:sp>
      <p:sp>
        <p:nvSpPr>
          <p:cNvPr id="70" name="SK-9-text-69"/>
          <p:cNvSpPr/>
          <p:nvPr/>
        </p:nvSpPr>
        <p:spPr>
          <a:xfrm>
            <a:off x="7768084" y="2500313"/>
            <a:ext cx="2657475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463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저장 형식: </a:t>
            </a:r>
            <a:r>
              <a:rPr lang="en-US" sz="975" b="1">
                <a:solidFill>
                  <a:srgbClr val="A78BFA"/>
                </a:solidFill>
                <a:latin typeface="나눔스퀘어"/>
              </a:rPr>
              <a:t>bge-m3_fine_tuning.safetensors</a:t>
            </a:r>
            <a:endParaRPr lang="en-US" sz="1125">
              <a:latin typeface="나눔스퀘어"/>
            </a:endParaRPr>
          </a:p>
        </p:txBody>
      </p:sp>
      <p:sp>
        <p:nvSpPr>
          <p:cNvPr id="71" name="SK-9-text-70"/>
          <p:cNvSpPr/>
          <p:nvPr/>
        </p:nvSpPr>
        <p:spPr>
          <a:xfrm>
            <a:off x="7768084" y="2819400"/>
            <a:ext cx="430530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BAAI/bge-m3 기반 다국어 지원 유지</a:t>
            </a:r>
            <a:endParaRPr lang="en-US" sz="1125">
              <a:latin typeface="나눔스퀘어"/>
            </a:endParaRPr>
          </a:p>
        </p:txBody>
      </p:sp>
      <p:sp>
        <p:nvSpPr>
          <p:cNvPr id="72" name="SK-9-text-71"/>
          <p:cNvSpPr/>
          <p:nvPr/>
        </p:nvSpPr>
        <p:spPr>
          <a:xfrm>
            <a:off x="8008590" y="4329113"/>
            <a:ext cx="173164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기술 구현 상세</a:t>
            </a:r>
            <a:endParaRPr lang="en-US" sz="13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3" name="SK-9-text-72"/>
          <p:cNvSpPr/>
          <p:nvPr/>
        </p:nvSpPr>
        <p:spPr>
          <a:xfrm>
            <a:off x="7768084" y="4762500"/>
            <a:ext cx="4423916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적용: ChromaDB 저장 임베딩 + RAG 쿼리 임베딩</a:t>
            </a:r>
            <a:endParaRPr lang="en-US" sz="1125">
              <a:latin typeface="나눔스퀘어"/>
            </a:endParaRPr>
          </a:p>
        </p:txBody>
      </p:sp>
      <p:sp>
        <p:nvSpPr>
          <p:cNvPr id="74" name="SK-9-text-73"/>
          <p:cNvSpPr/>
          <p:nvPr/>
        </p:nvSpPr>
        <p:spPr>
          <a:xfrm>
            <a:off x="7768084" y="5053013"/>
            <a:ext cx="4423916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풀링 방식: [CLS] 토큰 벡터 추출 + L2 정규화</a:t>
            </a:r>
            <a:endParaRPr lang="en-US" sz="1125">
              <a:latin typeface="나눔스퀘어"/>
            </a:endParaRPr>
          </a:p>
        </p:txBody>
      </p:sp>
      <p:sp>
        <p:nvSpPr>
          <p:cNvPr id="75" name="SK-9-text-74"/>
          <p:cNvSpPr/>
          <p:nvPr/>
        </p:nvSpPr>
        <p:spPr>
          <a:xfrm>
            <a:off x="7768084" y="5343525"/>
            <a:ext cx="4423916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최적화: 코사인 유사도(Cosine Similarity) 기반 검색</a:t>
            </a:r>
            <a:endParaRPr lang="en-US" sz="1125">
              <a:latin typeface="나눔스퀘어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10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6" name="SK-10-img-5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524000"/>
            <a:ext cx="5372100" cy="4953000"/>
          </a:xfrm>
          <a:prstGeom prst="rect">
            <a:avLst/>
          </a:prstGeom>
        </p:spPr>
      </p:pic>
      <p:pic>
        <p:nvPicPr>
          <p:cNvPr id="7" name="SK-10-img-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0100" y="1752600"/>
            <a:ext cx="457200" cy="457200"/>
          </a:xfrm>
          <a:prstGeom prst="rect">
            <a:avLst/>
          </a:prstGeom>
        </p:spPr>
      </p:pic>
      <p:pic>
        <p:nvPicPr>
          <p:cNvPr id="8" name="SK-10-img-7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09638" y="1885950"/>
            <a:ext cx="238125" cy="190500"/>
          </a:xfrm>
          <a:prstGeom prst="rect">
            <a:avLst/>
          </a:prstGeom>
        </p:spPr>
      </p:pic>
      <p:pic>
        <p:nvPicPr>
          <p:cNvPr id="9" name="SK-10-img-8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0100" y="2495550"/>
            <a:ext cx="76200" cy="76200"/>
          </a:xfrm>
          <a:prstGeom prst="rect">
            <a:avLst/>
          </a:prstGeom>
        </p:spPr>
      </p:pic>
      <p:pic>
        <p:nvPicPr>
          <p:cNvPr id="10" name="SK-10-img-9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0100" y="3409950"/>
            <a:ext cx="76200" cy="76200"/>
          </a:xfrm>
          <a:prstGeom prst="rect">
            <a:avLst/>
          </a:prstGeom>
        </p:spPr>
      </p:pic>
      <p:pic>
        <p:nvPicPr>
          <p:cNvPr id="11" name="SK-10-img-10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0100" y="4324350"/>
            <a:ext cx="76200" cy="76200"/>
          </a:xfrm>
          <a:prstGeom prst="rect">
            <a:avLst/>
          </a:prstGeom>
        </p:spPr>
      </p:pic>
      <p:pic>
        <p:nvPicPr>
          <p:cNvPr id="12" name="SK-10-img-11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00100" y="5505450"/>
            <a:ext cx="4914900" cy="742950"/>
          </a:xfrm>
          <a:prstGeom prst="rect">
            <a:avLst/>
          </a:prstGeom>
        </p:spPr>
      </p:pic>
      <p:pic>
        <p:nvPicPr>
          <p:cNvPr id="13" name="SK-10-img-12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338388" y="5800725"/>
            <a:ext cx="190500" cy="152400"/>
          </a:xfrm>
          <a:prstGeom prst="rect">
            <a:avLst/>
          </a:prstGeom>
        </p:spPr>
      </p:pic>
      <p:pic>
        <p:nvPicPr>
          <p:cNvPr id="14" name="SK-10-img-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24288" y="5800725"/>
            <a:ext cx="190500" cy="152400"/>
          </a:xfrm>
          <a:prstGeom prst="rect">
            <a:avLst/>
          </a:prstGeom>
        </p:spPr>
      </p:pic>
      <p:pic>
        <p:nvPicPr>
          <p:cNvPr id="15" name="SK-10-img-14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48400" y="1524000"/>
            <a:ext cx="5372100" cy="4953000"/>
          </a:xfrm>
          <a:prstGeom prst="rect">
            <a:avLst/>
          </a:prstGeom>
        </p:spPr>
      </p:pic>
      <p:pic>
        <p:nvPicPr>
          <p:cNvPr id="16" name="SK-10-img-15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477000" y="1752600"/>
            <a:ext cx="457200" cy="457200"/>
          </a:xfrm>
          <a:prstGeom prst="rect">
            <a:avLst/>
          </a:prstGeom>
        </p:spPr>
      </p:pic>
      <p:pic>
        <p:nvPicPr>
          <p:cNvPr id="17" name="SK-10-img-16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586538" y="1885950"/>
            <a:ext cx="238125" cy="190500"/>
          </a:xfrm>
          <a:prstGeom prst="rect">
            <a:avLst/>
          </a:prstGeom>
        </p:spPr>
      </p:pic>
      <p:pic>
        <p:nvPicPr>
          <p:cNvPr id="18" name="SK-10-img-17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477000" y="2743200"/>
            <a:ext cx="2400300" cy="442913"/>
          </a:xfrm>
          <a:prstGeom prst="rect">
            <a:avLst/>
          </a:prstGeom>
        </p:spPr>
      </p:pic>
      <p:pic>
        <p:nvPicPr>
          <p:cNvPr id="19" name="SK-10-img-18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591300" y="2896046"/>
            <a:ext cx="166688" cy="137220"/>
          </a:xfrm>
          <a:prstGeom prst="rect">
            <a:avLst/>
          </a:prstGeom>
        </p:spPr>
      </p:pic>
      <p:pic>
        <p:nvPicPr>
          <p:cNvPr id="20" name="SK-10-img-19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991600" y="2743200"/>
            <a:ext cx="2400300" cy="442913"/>
          </a:xfrm>
          <a:prstGeom prst="rect">
            <a:avLst/>
          </a:prstGeom>
        </p:spPr>
      </p:pic>
      <p:pic>
        <p:nvPicPr>
          <p:cNvPr id="21" name="SK-10-img-20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9105900" y="2896046"/>
            <a:ext cx="166688" cy="137220"/>
          </a:xfrm>
          <a:prstGeom prst="rect">
            <a:avLst/>
          </a:prstGeom>
        </p:spPr>
      </p:pic>
      <p:pic>
        <p:nvPicPr>
          <p:cNvPr id="22" name="SK-10-img-21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6477000" y="3300413"/>
            <a:ext cx="2400300" cy="442913"/>
          </a:xfrm>
          <a:prstGeom prst="rect">
            <a:avLst/>
          </a:prstGeom>
        </p:spPr>
      </p:pic>
      <p:pic>
        <p:nvPicPr>
          <p:cNvPr id="23" name="SK-10-img-22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591300" y="3453259"/>
            <a:ext cx="166688" cy="137220"/>
          </a:xfrm>
          <a:prstGeom prst="rect">
            <a:avLst/>
          </a:prstGeom>
        </p:spPr>
      </p:pic>
      <p:pic>
        <p:nvPicPr>
          <p:cNvPr id="24" name="SK-10-img-2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991600" y="3300413"/>
            <a:ext cx="2400300" cy="442913"/>
          </a:xfrm>
          <a:prstGeom prst="rect">
            <a:avLst/>
          </a:prstGeom>
        </p:spPr>
      </p:pic>
      <p:pic>
        <p:nvPicPr>
          <p:cNvPr id="25" name="SK-10-img-24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9105900" y="3453259"/>
            <a:ext cx="166688" cy="137220"/>
          </a:xfrm>
          <a:prstGeom prst="rect">
            <a:avLst/>
          </a:prstGeom>
        </p:spPr>
      </p:pic>
      <p:pic>
        <p:nvPicPr>
          <p:cNvPr id="26" name="SK-10-img-25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477000" y="3857625"/>
            <a:ext cx="2400300" cy="442913"/>
          </a:xfrm>
          <a:prstGeom prst="rect">
            <a:avLst/>
          </a:prstGeom>
        </p:spPr>
      </p:pic>
      <p:pic>
        <p:nvPicPr>
          <p:cNvPr id="27" name="SK-10-img-26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6591300" y="4010471"/>
            <a:ext cx="166688" cy="137220"/>
          </a:xfrm>
          <a:prstGeom prst="rect">
            <a:avLst/>
          </a:prstGeom>
        </p:spPr>
      </p:pic>
      <p:pic>
        <p:nvPicPr>
          <p:cNvPr id="28" name="SK-10-img-27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991600" y="3857625"/>
            <a:ext cx="2400300" cy="442913"/>
          </a:xfrm>
          <a:prstGeom prst="rect">
            <a:avLst/>
          </a:prstGeom>
        </p:spPr>
      </p:pic>
      <p:pic>
        <p:nvPicPr>
          <p:cNvPr id="29" name="SK-10-img-28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9105900" y="4010471"/>
            <a:ext cx="166688" cy="137220"/>
          </a:xfrm>
          <a:prstGeom prst="rect">
            <a:avLst/>
          </a:prstGeom>
        </p:spPr>
      </p:pic>
      <p:pic>
        <p:nvPicPr>
          <p:cNvPr id="30" name="SK-10-img-29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6477000" y="4586288"/>
            <a:ext cx="76200" cy="76200"/>
          </a:xfrm>
          <a:prstGeom prst="rect">
            <a:avLst/>
          </a:prstGeom>
        </p:spPr>
      </p:pic>
      <p:pic>
        <p:nvPicPr>
          <p:cNvPr id="31" name="SK-10-img-30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6477000" y="5529263"/>
            <a:ext cx="4914900" cy="719138"/>
          </a:xfrm>
          <a:prstGeom prst="rect">
            <a:avLst/>
          </a:prstGeom>
        </p:spPr>
      </p:pic>
      <p:pic>
        <p:nvPicPr>
          <p:cNvPr id="32" name="SK-10-img-31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6629400" y="5774531"/>
            <a:ext cx="285750" cy="228600"/>
          </a:xfrm>
          <a:prstGeom prst="rect">
            <a:avLst/>
          </a:prstGeom>
        </p:spPr>
      </p:pic>
      <p:sp>
        <p:nvSpPr>
          <p:cNvPr id="34" name="SK-10-text-33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하이브리드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검색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및 Map-Reduce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요약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전략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5" name="SK-10-text-34"/>
          <p:cNvSpPr/>
          <p:nvPr/>
        </p:nvSpPr>
        <p:spPr>
          <a:xfrm>
            <a:off x="1371600" y="1809750"/>
            <a:ext cx="752094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700"/>
              </a:lnSpc>
              <a:buNone/>
              <a:defRPr/>
            </a:pPr>
            <a:r>
              <a:rPr lang="en-US" sz="1800" b="1" dirty="0" err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하이브리드</a:t>
            </a:r>
            <a:r>
              <a:rPr lang="en-US" sz="1800" b="1" dirty="0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sz="1800" b="1" dirty="0" err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검색</a:t>
            </a:r>
            <a:r>
              <a:rPr lang="en-US" sz="1800" b="1" dirty="0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sz="1800" b="1" dirty="0" err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구조</a:t>
            </a:r>
            <a:r>
              <a:rPr lang="en-US" sz="1800" b="1" dirty="0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(Hybrid Search)</a:t>
            </a:r>
            <a:endParaRPr 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SK-10-text-35"/>
          <p:cNvSpPr/>
          <p:nvPr/>
        </p:nvSpPr>
        <p:spPr>
          <a:xfrm>
            <a:off x="1028700" y="2400300"/>
            <a:ext cx="4886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Vector + BM25 </a:t>
            </a:r>
            <a:r>
              <a:rPr lang="en-US" sz="1350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하이브리드</a:t>
            </a:r>
            <a:r>
              <a:rPr lang="en-US" sz="1350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350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결합</a:t>
            </a:r>
            <a:endParaRPr lang="en-US" sz="135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SK-10-text-36"/>
          <p:cNvSpPr/>
          <p:nvPr/>
        </p:nvSpPr>
        <p:spPr>
          <a:xfrm>
            <a:off x="1028700" y="2695575"/>
            <a:ext cx="468630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ChromaDB의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벡터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검색과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rank-bm25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알고리즘을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병합하여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</a:p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검색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정밀도를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극대화합니다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125" dirty="0">
              <a:latin typeface="나눔스퀘어"/>
            </a:endParaRPr>
          </a:p>
        </p:txBody>
      </p:sp>
      <p:sp>
        <p:nvSpPr>
          <p:cNvPr id="38" name="SK-10-text-37"/>
          <p:cNvSpPr/>
          <p:nvPr/>
        </p:nvSpPr>
        <p:spPr>
          <a:xfrm>
            <a:off x="1028700" y="3314700"/>
            <a:ext cx="477202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코사인 거리 임계값 필터링</a:t>
            </a:r>
            <a:endParaRPr lang="en-US" sz="13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SK-10-text-38"/>
          <p:cNvSpPr/>
          <p:nvPr/>
        </p:nvSpPr>
        <p:spPr>
          <a:xfrm>
            <a:off x="1028700" y="3609975"/>
            <a:ext cx="468630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유사도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거리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임계값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(≤ 1.0)을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적용하여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질문과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무관한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문서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노출을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</a:p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사전에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차단합니다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125" dirty="0">
              <a:latin typeface="나눔스퀘어"/>
            </a:endParaRPr>
          </a:p>
        </p:txBody>
      </p:sp>
      <p:sp>
        <p:nvSpPr>
          <p:cNvPr id="40" name="SK-10-text-39"/>
          <p:cNvSpPr/>
          <p:nvPr/>
        </p:nvSpPr>
        <p:spPr>
          <a:xfrm>
            <a:off x="1028700" y="4229100"/>
            <a:ext cx="477202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메타데이터 기반 다중 필터링</a:t>
            </a:r>
            <a:endParaRPr lang="en-US" sz="13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SK-10-text-40"/>
          <p:cNvSpPr/>
          <p:nvPr/>
        </p:nvSpPr>
        <p:spPr>
          <a:xfrm>
            <a:off x="1028700" y="4524375"/>
            <a:ext cx="468630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사용자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권한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문서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카테고리별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메타데이터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필터를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적용하여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</a:p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검색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범위를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최적화합니다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125" dirty="0">
              <a:latin typeface="나눔스퀘어"/>
            </a:endParaRPr>
          </a:p>
        </p:txBody>
      </p:sp>
      <p:sp>
        <p:nvSpPr>
          <p:cNvPr id="42" name="SK-10-text-41"/>
          <p:cNvSpPr/>
          <p:nvPr/>
        </p:nvSpPr>
        <p:spPr>
          <a:xfrm>
            <a:off x="1023938" y="5657850"/>
            <a:ext cx="1133475" cy="1714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350"/>
              </a:lnSpc>
              <a:buNone/>
              <a:defRPr/>
            </a:pPr>
            <a:r>
              <a:rPr lang="en-US" sz="900" b="1" dirty="0">
                <a:solidFill>
                  <a:srgbClr val="A78BFA"/>
                </a:solidFill>
                <a:latin typeface="나눔스퀘어"/>
                <a:ea typeface="Noto Sans KR"/>
                <a:cs typeface="Noto Sans KR"/>
              </a:rPr>
              <a:t>SEMANTIC</a:t>
            </a:r>
            <a:endParaRPr lang="en-US" sz="900" dirty="0">
              <a:latin typeface="나눔스퀘어"/>
            </a:endParaRPr>
          </a:p>
        </p:txBody>
      </p:sp>
      <p:sp>
        <p:nvSpPr>
          <p:cNvPr id="43" name="SK-10-text-42"/>
          <p:cNvSpPr/>
          <p:nvPr/>
        </p:nvSpPr>
        <p:spPr>
          <a:xfrm>
            <a:off x="1023938" y="5867400"/>
            <a:ext cx="1133475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Vector Search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SK-10-text-43"/>
          <p:cNvSpPr/>
          <p:nvPr/>
        </p:nvSpPr>
        <p:spPr>
          <a:xfrm>
            <a:off x="2709863" y="5657850"/>
            <a:ext cx="933450" cy="1714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350"/>
              </a:lnSpc>
              <a:buNone/>
              <a:defRPr/>
            </a:pPr>
            <a:r>
              <a:rPr lang="en-US" sz="900" b="1">
                <a:solidFill>
                  <a:srgbClr val="A78BFA"/>
                </a:solidFill>
                <a:latin typeface="나눔스퀘어"/>
                <a:ea typeface="Noto Sans KR"/>
                <a:cs typeface="Noto Sans KR"/>
              </a:rPr>
              <a:t>KEYWORD</a:t>
            </a:r>
            <a:endParaRPr lang="en-US" sz="900">
              <a:latin typeface="나눔스퀘어"/>
            </a:endParaRPr>
          </a:p>
        </p:txBody>
      </p:sp>
      <p:sp>
        <p:nvSpPr>
          <p:cNvPr id="45" name="SK-10-text-44"/>
          <p:cNvSpPr/>
          <p:nvPr/>
        </p:nvSpPr>
        <p:spPr>
          <a:xfrm>
            <a:off x="2709863" y="5867400"/>
            <a:ext cx="933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BM25 Rank</a:t>
            </a:r>
            <a:endParaRPr lang="en-US" sz="12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SK-10-text-45"/>
          <p:cNvSpPr/>
          <p:nvPr/>
        </p:nvSpPr>
        <p:spPr>
          <a:xfrm>
            <a:off x="4195763" y="5657850"/>
            <a:ext cx="1295400" cy="1714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350"/>
              </a:lnSpc>
              <a:buNone/>
              <a:defRPr/>
            </a:pPr>
            <a:r>
              <a:rPr lang="en-US" sz="900" b="1">
                <a:solidFill>
                  <a:srgbClr val="A78BFA"/>
                </a:solidFill>
                <a:latin typeface="나눔스퀘어"/>
                <a:ea typeface="Noto Sans KR"/>
                <a:cs typeface="Noto Sans KR"/>
              </a:rPr>
              <a:t>FINAL</a:t>
            </a:r>
            <a:endParaRPr lang="en-US" sz="900">
              <a:latin typeface="나눔스퀘어"/>
            </a:endParaRPr>
          </a:p>
        </p:txBody>
      </p:sp>
      <p:sp>
        <p:nvSpPr>
          <p:cNvPr id="47" name="SK-10-text-46"/>
          <p:cNvSpPr/>
          <p:nvPr/>
        </p:nvSpPr>
        <p:spPr>
          <a:xfrm>
            <a:off x="4195763" y="5867400"/>
            <a:ext cx="129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Reranked Result</a:t>
            </a:r>
            <a:endParaRPr lang="en-US" sz="12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SK-10-text-47"/>
          <p:cNvSpPr/>
          <p:nvPr/>
        </p:nvSpPr>
        <p:spPr>
          <a:xfrm>
            <a:off x="7048500" y="1809750"/>
            <a:ext cx="514350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700"/>
              </a:lnSpc>
              <a:buNone/>
              <a:defRPr/>
            </a:pPr>
            <a:r>
              <a:rPr lang="en-US" sz="1800" b="1" dirty="0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Map-Reduce </a:t>
            </a:r>
            <a:r>
              <a:rPr lang="en-US" sz="1800" b="1" dirty="0" err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문서</a:t>
            </a:r>
            <a:r>
              <a:rPr lang="en-US" sz="1800" b="1" dirty="0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sz="1800" b="1" dirty="0" err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요약</a:t>
            </a:r>
            <a:r>
              <a:rPr lang="en-US" sz="1800" b="1" dirty="0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sz="1800" b="1" dirty="0" err="1">
                <a:solidFill>
                  <a:srgbClr val="C4B5F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</a:t>
            </a:r>
            <a:endParaRPr 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9" name="SK-10-text-48"/>
          <p:cNvSpPr/>
          <p:nvPr/>
        </p:nvSpPr>
        <p:spPr>
          <a:xfrm>
            <a:off x="6477000" y="2400300"/>
            <a:ext cx="4991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 dirty="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6종 </a:t>
            </a:r>
            <a:r>
              <a:rPr lang="en-US" sz="1200" b="1" dirty="0" err="1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맞춤형</a:t>
            </a:r>
            <a:r>
              <a:rPr lang="en-US" sz="1200" b="1" dirty="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카테고리</a:t>
            </a:r>
            <a:r>
              <a:rPr lang="en-US" sz="1200" b="1" dirty="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포맷</a:t>
            </a:r>
            <a:r>
              <a:rPr lang="en-US" sz="1200" b="1" dirty="0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적용</a:t>
            </a:r>
            <a:endParaRPr lang="en-US" sz="1200" dirty="0"/>
          </a:p>
        </p:txBody>
      </p:sp>
      <p:sp>
        <p:nvSpPr>
          <p:cNvPr id="50" name="SK-10-text-49"/>
          <p:cNvSpPr/>
          <p:nvPr/>
        </p:nvSpPr>
        <p:spPr>
          <a:xfrm>
            <a:off x="6853238" y="2857500"/>
            <a:ext cx="1276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법령 · 조례</a:t>
            </a:r>
            <a:endParaRPr lang="en-US" sz="112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SK-10-text-50"/>
          <p:cNvSpPr/>
          <p:nvPr/>
        </p:nvSpPr>
        <p:spPr>
          <a:xfrm>
            <a:off x="9367838" y="2857500"/>
            <a:ext cx="179070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가이드라인 · 지침</a:t>
            </a:r>
            <a:endParaRPr lang="en-US" sz="112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2" name="SK-10-text-51"/>
          <p:cNvSpPr/>
          <p:nvPr/>
        </p:nvSpPr>
        <p:spPr>
          <a:xfrm>
            <a:off x="6853238" y="3414713"/>
            <a:ext cx="1276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공모 · 사업</a:t>
            </a:r>
            <a:endParaRPr lang="en-US" sz="112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3" name="SK-10-text-52"/>
          <p:cNvSpPr/>
          <p:nvPr/>
        </p:nvSpPr>
        <p:spPr>
          <a:xfrm>
            <a:off x="9367838" y="3414713"/>
            <a:ext cx="41910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감사</a:t>
            </a:r>
            <a:endParaRPr lang="en-US" sz="112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4" name="SK-10-text-53"/>
          <p:cNvSpPr/>
          <p:nvPr/>
        </p:nvSpPr>
        <p:spPr>
          <a:xfrm>
            <a:off x="6853238" y="3971925"/>
            <a:ext cx="762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내부규정</a:t>
            </a:r>
            <a:endParaRPr lang="en-US" sz="112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5" name="SK-10-text-54"/>
          <p:cNvSpPr/>
          <p:nvPr/>
        </p:nvSpPr>
        <p:spPr>
          <a:xfrm>
            <a:off x="9367838" y="3971925"/>
            <a:ext cx="41910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기타</a:t>
            </a:r>
            <a:endParaRPr lang="en-US" sz="112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6" name="SK-10-text-55"/>
          <p:cNvSpPr/>
          <p:nvPr/>
        </p:nvSpPr>
        <p:spPr>
          <a:xfrm>
            <a:off x="6705600" y="4491038"/>
            <a:ext cx="477202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병렬</a:t>
            </a:r>
            <a:r>
              <a:rPr lang="en-US" sz="1350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Map-Reduce </a:t>
            </a:r>
            <a:r>
              <a:rPr lang="en-US" sz="1350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처리</a:t>
            </a:r>
            <a:endParaRPr lang="en-US" sz="135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7" name="SK-10-text-56"/>
          <p:cNvSpPr/>
          <p:nvPr/>
        </p:nvSpPr>
        <p:spPr>
          <a:xfrm>
            <a:off x="6705600" y="4786313"/>
            <a:ext cx="468630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대용량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문서를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섹션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단위로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나누어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병렬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요약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(Map) 후 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요약본을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생성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(Reduce)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하여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속도를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개선합니다</a:t>
            </a:r>
            <a:r>
              <a:rPr lang="en-US" sz="1125" dirty="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.</a:t>
            </a:r>
            <a:endParaRPr lang="en-US" sz="1125" dirty="0"/>
          </a:p>
        </p:txBody>
      </p:sp>
      <p:sp>
        <p:nvSpPr>
          <p:cNvPr id="58" name="SK-10-text-57"/>
          <p:cNvSpPr/>
          <p:nvPr/>
        </p:nvSpPr>
        <p:spPr>
          <a:xfrm>
            <a:off x="7029450" y="5681663"/>
            <a:ext cx="3676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 dirty="0" err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대용량</a:t>
            </a:r>
            <a:r>
              <a:rPr lang="en-US" sz="12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처리</a:t>
            </a:r>
            <a:r>
              <a:rPr lang="en-US" sz="12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최적화</a:t>
            </a:r>
            <a:r>
              <a:rPr lang="en-US" sz="12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완료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9" name="SK-10-text-58"/>
          <p:cNvSpPr/>
          <p:nvPr/>
        </p:nvSpPr>
        <p:spPr>
          <a:xfrm>
            <a:off x="7029450" y="5910263"/>
            <a:ext cx="5162550" cy="18573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LangChain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 LCEL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기반의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병렬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나눔스퀘어"/>
                <a:ea typeface="Noto Sans KR"/>
                <a:cs typeface="Noto Sans KR"/>
              </a:rPr>
              <a:t>파이프라인으로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대기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시간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 40% </a:t>
            </a:r>
            <a:r>
              <a:rPr lang="en-US" sz="975" dirty="0" err="1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  <a:cs typeface="Noto Sans KR"/>
              </a:rPr>
              <a:t>단축</a:t>
            </a:r>
            <a:endParaRPr lang="en-US" sz="97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11-img-3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5" name="SK-11-img-4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790700"/>
            <a:ext cx="6674346" cy="661988"/>
          </a:xfrm>
          <a:prstGeom prst="rect">
            <a:avLst/>
          </a:prstGeom>
        </p:spPr>
      </p:pic>
      <p:pic>
        <p:nvPicPr>
          <p:cNvPr id="6" name="SK-11-img-5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42950" y="1931194"/>
            <a:ext cx="190500" cy="152400"/>
          </a:xfrm>
          <a:prstGeom prst="rect">
            <a:avLst/>
          </a:prstGeom>
        </p:spPr>
      </p:pic>
      <p:pic>
        <p:nvPicPr>
          <p:cNvPr id="7" name="SK-11-img-6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1500" y="2557463"/>
            <a:ext cx="6674346" cy="661988"/>
          </a:xfrm>
          <a:prstGeom prst="rect">
            <a:avLst/>
          </a:prstGeom>
        </p:spPr>
      </p:pic>
      <p:pic>
        <p:nvPicPr>
          <p:cNvPr id="8" name="SK-11-img-7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42950" y="2697956"/>
            <a:ext cx="190500" cy="152400"/>
          </a:xfrm>
          <a:prstGeom prst="rect">
            <a:avLst/>
          </a:prstGeom>
        </p:spPr>
      </p:pic>
      <p:pic>
        <p:nvPicPr>
          <p:cNvPr id="9" name="SK-11-img-8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3324225"/>
            <a:ext cx="6674346" cy="661988"/>
          </a:xfrm>
          <a:prstGeom prst="rect">
            <a:avLst/>
          </a:prstGeom>
        </p:spPr>
      </p:pic>
      <p:pic>
        <p:nvPicPr>
          <p:cNvPr id="10" name="SK-11-img-9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42950" y="3464719"/>
            <a:ext cx="190500" cy="152400"/>
          </a:xfrm>
          <a:prstGeom prst="rect">
            <a:avLst/>
          </a:prstGeom>
        </p:spPr>
      </p:pic>
      <p:pic>
        <p:nvPicPr>
          <p:cNvPr id="11" name="SK-11-img-10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1500" y="4090987"/>
            <a:ext cx="6674346" cy="661988"/>
          </a:xfrm>
          <a:prstGeom prst="rect">
            <a:avLst/>
          </a:prstGeom>
        </p:spPr>
      </p:pic>
      <p:pic>
        <p:nvPicPr>
          <p:cNvPr id="12" name="SK-11-img-11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42950" y="4231481"/>
            <a:ext cx="190500" cy="152400"/>
          </a:xfrm>
          <a:prstGeom prst="rect">
            <a:avLst/>
          </a:prstGeom>
        </p:spPr>
      </p:pic>
      <p:pic>
        <p:nvPicPr>
          <p:cNvPr id="13" name="SK-11-img-12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71500" y="4857750"/>
            <a:ext cx="6674346" cy="661988"/>
          </a:xfrm>
          <a:prstGeom prst="rect">
            <a:avLst/>
          </a:prstGeom>
        </p:spPr>
      </p:pic>
      <p:pic>
        <p:nvPicPr>
          <p:cNvPr id="14" name="SK-11-img-1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42950" y="4998244"/>
            <a:ext cx="190500" cy="152400"/>
          </a:xfrm>
          <a:prstGeom prst="rect">
            <a:avLst/>
          </a:prstGeom>
        </p:spPr>
      </p:pic>
      <p:pic>
        <p:nvPicPr>
          <p:cNvPr id="15" name="SK-11-img-1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1500" y="5624513"/>
            <a:ext cx="6674346" cy="661988"/>
          </a:xfrm>
          <a:prstGeom prst="rect">
            <a:avLst/>
          </a:prstGeom>
        </p:spPr>
      </p:pic>
      <p:pic>
        <p:nvPicPr>
          <p:cNvPr id="16" name="SK-11-img-15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42950" y="5765006"/>
            <a:ext cx="190500" cy="152400"/>
          </a:xfrm>
          <a:prstGeom prst="rect">
            <a:avLst/>
          </a:prstGeom>
        </p:spPr>
      </p:pic>
      <p:pic>
        <p:nvPicPr>
          <p:cNvPr id="17" name="SK-11-img-1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531596" y="1524000"/>
            <a:ext cx="4088904" cy="5029200"/>
          </a:xfrm>
          <a:prstGeom prst="rect">
            <a:avLst/>
          </a:prstGeom>
        </p:spPr>
      </p:pic>
      <p:pic>
        <p:nvPicPr>
          <p:cNvPr id="18" name="SK-11-img-1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7722096" y="1859756"/>
            <a:ext cx="190500" cy="152400"/>
          </a:xfrm>
          <a:prstGeom prst="rect">
            <a:avLst/>
          </a:prstGeom>
        </p:spPr>
      </p:pic>
      <p:pic>
        <p:nvPicPr>
          <p:cNvPr id="19" name="SK-11-img-1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7722096" y="2328863"/>
            <a:ext cx="178594" cy="142875"/>
          </a:xfrm>
          <a:prstGeom prst="rect">
            <a:avLst/>
          </a:prstGeom>
        </p:spPr>
      </p:pic>
      <p:pic>
        <p:nvPicPr>
          <p:cNvPr id="20" name="SK-11-img-1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7722096" y="2564606"/>
            <a:ext cx="3707904" cy="523875"/>
          </a:xfrm>
          <a:prstGeom prst="rect">
            <a:avLst/>
          </a:prstGeom>
        </p:spPr>
      </p:pic>
      <p:pic>
        <p:nvPicPr>
          <p:cNvPr id="21" name="SK-11-img-2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7722096" y="3248025"/>
            <a:ext cx="178594" cy="142875"/>
          </a:xfrm>
          <a:prstGeom prst="rect">
            <a:avLst/>
          </a:prstGeom>
        </p:spPr>
      </p:pic>
      <p:pic>
        <p:nvPicPr>
          <p:cNvPr id="22" name="SK-11-img-2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7722096" y="3483769"/>
            <a:ext cx="3707904" cy="523875"/>
          </a:xfrm>
          <a:prstGeom prst="rect">
            <a:avLst/>
          </a:prstGeom>
        </p:spPr>
      </p:pic>
      <p:pic>
        <p:nvPicPr>
          <p:cNvPr id="23" name="SK-11-img-22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7722096" y="4167188"/>
            <a:ext cx="178594" cy="142875"/>
          </a:xfrm>
          <a:prstGeom prst="rect">
            <a:avLst/>
          </a:prstGeom>
        </p:spPr>
      </p:pic>
      <p:pic>
        <p:nvPicPr>
          <p:cNvPr id="24" name="SK-11-img-23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7722096" y="4402931"/>
            <a:ext cx="3707904" cy="523875"/>
          </a:xfrm>
          <a:prstGeom prst="rect">
            <a:avLst/>
          </a:prstGeom>
        </p:spPr>
      </p:pic>
      <p:pic>
        <p:nvPicPr>
          <p:cNvPr id="25" name="SK-11-img-24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7722096" y="5086350"/>
            <a:ext cx="178594" cy="142875"/>
          </a:xfrm>
          <a:prstGeom prst="rect">
            <a:avLst/>
          </a:prstGeom>
        </p:spPr>
      </p:pic>
      <p:pic>
        <p:nvPicPr>
          <p:cNvPr id="26" name="SK-11-img-25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7722096" y="5322094"/>
            <a:ext cx="3707904" cy="523875"/>
          </a:xfrm>
          <a:prstGeom prst="rect">
            <a:avLst/>
          </a:prstGeom>
        </p:spPr>
      </p:pic>
      <p:pic>
        <p:nvPicPr>
          <p:cNvPr id="27" name="SK-11-img-26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7722096" y="6074569"/>
            <a:ext cx="723900" cy="195263"/>
          </a:xfrm>
          <a:prstGeom prst="rect">
            <a:avLst/>
          </a:prstGeom>
        </p:spPr>
      </p:pic>
      <p:pic>
        <p:nvPicPr>
          <p:cNvPr id="28" name="SK-11-img-27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522196" y="6074569"/>
            <a:ext cx="704850" cy="195263"/>
          </a:xfrm>
          <a:prstGeom prst="rect">
            <a:avLst/>
          </a:prstGeom>
        </p:spPr>
      </p:pic>
      <p:pic>
        <p:nvPicPr>
          <p:cNvPr id="29" name="SK-11-img-28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9303246" y="6074569"/>
            <a:ext cx="552450" cy="195263"/>
          </a:xfrm>
          <a:prstGeom prst="rect">
            <a:avLst/>
          </a:prstGeom>
        </p:spPr>
      </p:pic>
      <p:sp>
        <p:nvSpPr>
          <p:cNvPr id="31" name="SK-11-text-30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LLM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파트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트러블슈팅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및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해결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사례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2" name="SK-11-text-31"/>
          <p:cNvSpPr/>
          <p:nvPr/>
        </p:nvSpPr>
        <p:spPr>
          <a:xfrm>
            <a:off x="1021080" y="1863090"/>
            <a:ext cx="5715952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라이브러리</a:t>
            </a:r>
            <a:r>
              <a:rPr lang="en-US" sz="1275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275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충돌</a:t>
            </a:r>
            <a:r>
              <a:rPr lang="en-US" sz="1275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(Segmentation Fault)</a:t>
            </a:r>
            <a:endParaRPr lang="en-US" sz="1275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SK-11-text-32"/>
          <p:cNvSpPr/>
          <p:nvPr/>
        </p:nvSpPr>
        <p:spPr>
          <a:xfrm>
            <a:off x="982980" y="2134553"/>
            <a:ext cx="9137112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ChromaDB와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sentence-transformers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동시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로드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시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httpx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메모리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충돌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발생</a:t>
            </a:r>
            <a:endParaRPr lang="en-US" sz="1125" dirty="0">
              <a:latin typeface="나눔스퀘어"/>
            </a:endParaRPr>
          </a:p>
        </p:txBody>
      </p:sp>
      <p:sp>
        <p:nvSpPr>
          <p:cNvPr id="34" name="SK-11-text-33"/>
          <p:cNvSpPr/>
          <p:nvPr/>
        </p:nvSpPr>
        <p:spPr>
          <a:xfrm>
            <a:off x="1021080" y="2629853"/>
            <a:ext cx="2801303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인사말</a:t>
            </a:r>
            <a:r>
              <a:rPr lang="en-US" sz="1275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시 </a:t>
            </a:r>
            <a:r>
              <a:rPr lang="en-US" sz="1275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무관</a:t>
            </a:r>
            <a:r>
              <a:rPr lang="en-US" sz="1275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275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문서</a:t>
            </a:r>
            <a:r>
              <a:rPr lang="en-US" sz="1275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275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노출</a:t>
            </a:r>
            <a:endParaRPr lang="en-US" sz="1275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SK-11-text-34"/>
          <p:cNvSpPr/>
          <p:nvPr/>
        </p:nvSpPr>
        <p:spPr>
          <a:xfrm>
            <a:off x="982980" y="2901315"/>
            <a:ext cx="6159996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거리 임계값 설정 없이 Top-K 무조건 반환으로 인한 환각 유도</a:t>
            </a:r>
            <a:endParaRPr lang="en-US" sz="1125">
              <a:latin typeface="나눔스퀘어"/>
            </a:endParaRPr>
          </a:p>
        </p:txBody>
      </p:sp>
      <p:sp>
        <p:nvSpPr>
          <p:cNvPr id="36" name="SK-11-text-35"/>
          <p:cNvSpPr/>
          <p:nvPr/>
        </p:nvSpPr>
        <p:spPr>
          <a:xfrm>
            <a:off x="1021080" y="3396615"/>
            <a:ext cx="2995613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재업로드</a:t>
            </a:r>
            <a:r>
              <a:rPr lang="en-US" sz="1275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시 </a:t>
            </a:r>
            <a:r>
              <a:rPr lang="en-US" sz="1275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중복</a:t>
            </a:r>
            <a:r>
              <a:rPr lang="en-US" sz="1275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275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청크</a:t>
            </a:r>
            <a:r>
              <a:rPr lang="en-US" sz="1275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275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누적</a:t>
            </a:r>
            <a:endParaRPr lang="en-US" sz="1275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SK-11-text-36"/>
          <p:cNvSpPr/>
          <p:nvPr/>
        </p:nvSpPr>
        <p:spPr>
          <a:xfrm>
            <a:off x="982980" y="3668077"/>
            <a:ext cx="650121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동일 문서 재업로드 시 새 doc_id 발급으로 기존 벡터 데이터 잔존</a:t>
            </a:r>
            <a:endParaRPr lang="en-US" sz="1125">
              <a:latin typeface="나눔스퀘어"/>
            </a:endParaRPr>
          </a:p>
        </p:txBody>
      </p:sp>
      <p:sp>
        <p:nvSpPr>
          <p:cNvPr id="38" name="SK-11-text-37"/>
          <p:cNvSpPr/>
          <p:nvPr/>
        </p:nvSpPr>
        <p:spPr>
          <a:xfrm>
            <a:off x="1021080" y="4163378"/>
            <a:ext cx="2218373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출처 문서 중복 표시</a:t>
            </a:r>
            <a:endParaRPr lang="en-US" sz="127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SK-11-text-38"/>
          <p:cNvSpPr/>
          <p:nvPr/>
        </p:nvSpPr>
        <p:spPr>
          <a:xfrm>
            <a:off x="982980" y="4434840"/>
            <a:ext cx="6336467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한 문서에서 여러 청크 검색 시 동일 출처가 반복적으로 노출되는 현상</a:t>
            </a:r>
            <a:endParaRPr lang="en-US" sz="1125">
              <a:latin typeface="나눔스퀘어"/>
            </a:endParaRPr>
          </a:p>
        </p:txBody>
      </p:sp>
      <p:sp>
        <p:nvSpPr>
          <p:cNvPr id="40" name="SK-11-text-39"/>
          <p:cNvSpPr/>
          <p:nvPr/>
        </p:nvSpPr>
        <p:spPr>
          <a:xfrm>
            <a:off x="1021080" y="4930140"/>
            <a:ext cx="5845492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사용자 필터링 결과 0건 (Type Mismatch)</a:t>
            </a:r>
            <a:endParaRPr lang="en-US" sz="127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SK-11-text-40"/>
          <p:cNvSpPr/>
          <p:nvPr/>
        </p:nvSpPr>
        <p:spPr>
          <a:xfrm>
            <a:off x="982980" y="5201603"/>
            <a:ext cx="6665954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Ingest 시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문자열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저장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vs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검색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시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정수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비교로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인한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타입</a:t>
            </a:r>
            <a:r>
              <a:rPr lang="en-US" sz="1125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불일치</a:t>
            </a:r>
            <a:endParaRPr lang="en-US" sz="1125" dirty="0">
              <a:latin typeface="나눔스퀘어"/>
            </a:endParaRPr>
          </a:p>
        </p:txBody>
      </p:sp>
      <p:sp>
        <p:nvSpPr>
          <p:cNvPr id="42" name="SK-11-text-41"/>
          <p:cNvSpPr/>
          <p:nvPr/>
        </p:nvSpPr>
        <p:spPr>
          <a:xfrm>
            <a:off x="1021080" y="5696903"/>
            <a:ext cx="2606993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머지 충돌 및 구문 오류</a:t>
            </a:r>
            <a:endParaRPr lang="en-US" sz="127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SK-11-text-42"/>
          <p:cNvSpPr/>
          <p:nvPr/>
        </p:nvSpPr>
        <p:spPr>
          <a:xfrm>
            <a:off x="982980" y="5968365"/>
            <a:ext cx="7489673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Git 머지 과정의 실수로 retriever.py에 충돌 마커 및 중복 블록 잔존</a:t>
            </a:r>
            <a:endParaRPr lang="en-US" sz="1125">
              <a:latin typeface="나눔스퀘어"/>
            </a:endParaRPr>
          </a:p>
        </p:txBody>
      </p:sp>
      <p:sp>
        <p:nvSpPr>
          <p:cNvPr id="44" name="SK-11-text-43"/>
          <p:cNvSpPr/>
          <p:nvPr/>
        </p:nvSpPr>
        <p:spPr>
          <a:xfrm>
            <a:off x="7988796" y="1807369"/>
            <a:ext cx="317182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 dirty="0">
                <a:solidFill>
                  <a:srgbClr val="A78BFA"/>
                </a:solidFill>
              </a:rPr>
              <a:t>RESOLUTION RAIL</a:t>
            </a:r>
            <a:endParaRPr lang="en-US" sz="1350" dirty="0"/>
          </a:p>
        </p:txBody>
      </p:sp>
      <p:sp>
        <p:nvSpPr>
          <p:cNvPr id="45" name="SK-11-text-44"/>
          <p:cNvSpPr/>
          <p:nvPr/>
        </p:nvSpPr>
        <p:spPr>
          <a:xfrm>
            <a:off x="7976890" y="2293144"/>
            <a:ext cx="3707904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환경변수</a:t>
            </a:r>
            <a:r>
              <a:rPr lang="en-US" sz="1125" dirty="0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분리</a:t>
            </a:r>
            <a:r>
              <a:rPr lang="en-US" sz="1125" dirty="0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 및 </a:t>
            </a:r>
            <a:r>
              <a:rPr lang="en-US" sz="1125" dirty="0" err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임포트</a:t>
            </a:r>
            <a:r>
              <a:rPr lang="en-US" sz="1125" dirty="0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순서</a:t>
            </a:r>
            <a:r>
              <a:rPr lang="en-US" sz="1125" dirty="0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25" dirty="0" err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고정</a:t>
            </a:r>
            <a:endParaRPr lang="en-US" sz="1125" dirty="0"/>
          </a:p>
        </p:txBody>
      </p:sp>
      <p:sp>
        <p:nvSpPr>
          <p:cNvPr id="46" name="SK-11-text-45"/>
          <p:cNvSpPr/>
          <p:nvPr/>
        </p:nvSpPr>
        <p:spPr>
          <a:xfrm>
            <a:off x="7855446" y="2564606"/>
            <a:ext cx="3441204" cy="5238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FF7B72"/>
                </a:solidFill>
              </a:rPr>
              <a:t>if</a:t>
            </a:r>
            <a:r>
              <a:rPr lang="en-US" sz="975">
                <a:solidFill>
                  <a:srgbClr val="A5D6FF"/>
                </a:solidFill>
              </a:rPr>
              <a:t> os.getenv("ENABLE_RERANKER"):</a:t>
            </a:r>
          </a:p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A5D6FF"/>
                </a:solidFill>
              </a:rPr>
              <a:t>  </a:t>
            </a:r>
            <a:r>
              <a:rPr lang="en-US" sz="975">
                <a:solidFill>
                  <a:srgbClr val="FF7B72"/>
                </a:solidFill>
              </a:rPr>
              <a:t>import</a:t>
            </a:r>
            <a:r>
              <a:rPr lang="en-US" sz="975">
                <a:solidFill>
                  <a:srgbClr val="A5D6FF"/>
                </a:solidFill>
              </a:rPr>
              <a:t> rank_bm25 </a:t>
            </a:r>
            <a:r>
              <a:rPr lang="en-US" sz="975">
                <a:solidFill>
                  <a:srgbClr val="8B949E"/>
                </a:solidFill>
              </a:rPr>
              <a:t># Fixed order</a:t>
            </a:r>
            <a:endParaRPr lang="en-US" sz="975"/>
          </a:p>
        </p:txBody>
      </p:sp>
      <p:sp>
        <p:nvSpPr>
          <p:cNvPr id="47" name="SK-11-text-46"/>
          <p:cNvSpPr/>
          <p:nvPr/>
        </p:nvSpPr>
        <p:spPr>
          <a:xfrm>
            <a:off x="7976890" y="3212306"/>
            <a:ext cx="3707904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코사인 거리 임계값 필터 적용</a:t>
            </a:r>
            <a:endParaRPr lang="en-US" sz="1125"/>
          </a:p>
        </p:txBody>
      </p:sp>
      <p:sp>
        <p:nvSpPr>
          <p:cNvPr id="48" name="SK-11-text-47"/>
          <p:cNvSpPr/>
          <p:nvPr/>
        </p:nvSpPr>
        <p:spPr>
          <a:xfrm>
            <a:off x="7855446" y="3483769"/>
            <a:ext cx="3441204" cy="5238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A5D6FF"/>
                </a:solidFill>
              </a:rPr>
              <a:t>results = [doc </a:t>
            </a:r>
            <a:r>
              <a:rPr lang="en-US" sz="975">
                <a:solidFill>
                  <a:srgbClr val="FF7B72"/>
                </a:solidFill>
              </a:rPr>
              <a:t>for</a:t>
            </a:r>
            <a:r>
              <a:rPr lang="en-US" sz="975">
                <a:solidFill>
                  <a:srgbClr val="A5D6FF"/>
                </a:solidFill>
              </a:rPr>
              <a:t> doc, score </a:t>
            </a:r>
            <a:r>
              <a:rPr lang="en-US" sz="975">
                <a:solidFill>
                  <a:srgbClr val="FF7B72"/>
                </a:solidFill>
              </a:rPr>
              <a:t>in</a:t>
            </a:r>
            <a:r>
              <a:rPr lang="en-US" sz="975">
                <a:solidFill>
                  <a:srgbClr val="A5D6FF"/>
                </a:solidFill>
              </a:rPr>
              <a:t> search_res</a:t>
            </a:r>
          </a:p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A5D6FF"/>
                </a:solidFill>
              </a:rPr>
              <a:t>  </a:t>
            </a:r>
            <a:r>
              <a:rPr lang="en-US" sz="975">
                <a:solidFill>
                  <a:srgbClr val="FF7B72"/>
                </a:solidFill>
              </a:rPr>
              <a:t>if</a:t>
            </a:r>
            <a:r>
              <a:rPr lang="en-US" sz="975">
                <a:solidFill>
                  <a:srgbClr val="A5D6FF"/>
                </a:solidFill>
              </a:rPr>
              <a:t> score &lt;= 1.0]</a:t>
            </a:r>
            <a:endParaRPr lang="en-US" sz="975"/>
          </a:p>
        </p:txBody>
      </p:sp>
      <p:sp>
        <p:nvSpPr>
          <p:cNvPr id="49" name="SK-11-text-48"/>
          <p:cNvSpPr/>
          <p:nvPr/>
        </p:nvSpPr>
        <p:spPr>
          <a:xfrm>
            <a:off x="7976890" y="4131469"/>
            <a:ext cx="3707904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데이터 덮어쓰기 로직 구현</a:t>
            </a:r>
            <a:endParaRPr lang="en-US" sz="1125"/>
          </a:p>
        </p:txBody>
      </p:sp>
      <p:sp>
        <p:nvSpPr>
          <p:cNvPr id="50" name="SK-11-text-49"/>
          <p:cNvSpPr/>
          <p:nvPr/>
        </p:nvSpPr>
        <p:spPr>
          <a:xfrm>
            <a:off x="7855446" y="4402931"/>
            <a:ext cx="3441204" cy="5238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A5D6FF"/>
                </a:solidFill>
              </a:rPr>
              <a:t>vector_db.delete(where={"doc_name": name})</a:t>
            </a:r>
          </a:p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A5D6FF"/>
                </a:solidFill>
              </a:rPr>
              <a:t>vector_db.add_documents(new_chunks)</a:t>
            </a:r>
            <a:endParaRPr lang="en-US" sz="975"/>
          </a:p>
        </p:txBody>
      </p:sp>
      <p:sp>
        <p:nvSpPr>
          <p:cNvPr id="51" name="SK-11-text-50"/>
          <p:cNvSpPr/>
          <p:nvPr/>
        </p:nvSpPr>
        <p:spPr>
          <a:xfrm>
            <a:off x="7976890" y="5050631"/>
            <a:ext cx="3707904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출처 중복 제거 (Dedup)</a:t>
            </a:r>
            <a:endParaRPr lang="en-US" sz="1125"/>
          </a:p>
        </p:txBody>
      </p:sp>
      <p:sp>
        <p:nvSpPr>
          <p:cNvPr id="52" name="SK-11-text-51"/>
          <p:cNvSpPr/>
          <p:nvPr/>
        </p:nvSpPr>
        <p:spPr>
          <a:xfrm>
            <a:off x="7855446" y="5322094"/>
            <a:ext cx="3441204" cy="5238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A5D6FF"/>
                </a:solidFill>
              </a:rPr>
              <a:t>unique_sources = list({d.id: d </a:t>
            </a:r>
            <a:r>
              <a:rPr lang="en-US" sz="975">
                <a:solidFill>
                  <a:srgbClr val="FF7B72"/>
                </a:solidFill>
              </a:rPr>
              <a:t>for</a:t>
            </a:r>
            <a:r>
              <a:rPr lang="en-US" sz="975">
                <a:solidFill>
                  <a:srgbClr val="A5D6FF"/>
                </a:solidFill>
              </a:rPr>
              <a:t> d </a:t>
            </a:r>
            <a:r>
              <a:rPr lang="en-US" sz="975">
                <a:solidFill>
                  <a:srgbClr val="FF7B72"/>
                </a:solidFill>
              </a:rPr>
              <a:t>in</a:t>
            </a:r>
            <a:r>
              <a:rPr lang="en-US" sz="975">
                <a:solidFill>
                  <a:srgbClr val="A5D6FF"/>
                </a:solidFill>
              </a:rPr>
              <a:t> docs}.values())</a:t>
            </a:r>
            <a:endParaRPr lang="en-US" sz="975"/>
          </a:p>
        </p:txBody>
      </p:sp>
      <p:sp>
        <p:nvSpPr>
          <p:cNvPr id="53" name="SK-11-text-52"/>
          <p:cNvSpPr/>
          <p:nvPr/>
        </p:nvSpPr>
        <p:spPr>
          <a:xfrm>
            <a:off x="7798296" y="6074569"/>
            <a:ext cx="870284" cy="19526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238"/>
              </a:lnSpc>
              <a:buNone/>
              <a:defRPr/>
            </a:pPr>
            <a:r>
              <a:rPr lang="en-US" sz="825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ChromaDB</a:t>
            </a:r>
            <a:endParaRPr lang="en-US" sz="825"/>
          </a:p>
        </p:txBody>
      </p:sp>
      <p:sp>
        <p:nvSpPr>
          <p:cNvPr id="54" name="SK-11-text-53"/>
          <p:cNvSpPr/>
          <p:nvPr/>
        </p:nvSpPr>
        <p:spPr>
          <a:xfrm>
            <a:off x="8598396" y="6074569"/>
            <a:ext cx="963106" cy="19526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238"/>
              </a:lnSpc>
              <a:buNone/>
              <a:defRPr/>
            </a:pPr>
            <a:r>
              <a:rPr lang="en-US" sz="825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LangChain</a:t>
            </a:r>
            <a:endParaRPr lang="en-US" sz="825"/>
          </a:p>
        </p:txBody>
      </p:sp>
      <p:sp>
        <p:nvSpPr>
          <p:cNvPr id="55" name="SK-11-text-54"/>
          <p:cNvSpPr/>
          <p:nvPr/>
        </p:nvSpPr>
        <p:spPr>
          <a:xfrm>
            <a:off x="9379446" y="6074569"/>
            <a:ext cx="713521" cy="19526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238"/>
              </a:lnSpc>
              <a:buNone/>
              <a:defRPr/>
            </a:pPr>
            <a:r>
              <a:rPr lang="en-US" sz="825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FastAPI</a:t>
            </a:r>
            <a:endParaRPr lang="en-US" sz="82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1"/>
          <p:cNvSpPr txBox="1"/>
          <p:nvPr/>
        </p:nvSpPr>
        <p:spPr>
          <a:xfrm>
            <a:off x="487678" y="606432"/>
            <a:ext cx="8534402" cy="392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19200">
              <a:defRPr sz="31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55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PDF, HWP, DOCX OCR </a:t>
            </a:r>
          </a:p>
        </p:txBody>
      </p:sp>
      <p:sp>
        <p:nvSpPr>
          <p:cNvPr id="28" name="TextBox 11"/>
          <p:cNvSpPr txBox="1"/>
          <p:nvPr/>
        </p:nvSpPr>
        <p:spPr>
          <a:xfrm>
            <a:off x="546408" y="1813293"/>
            <a:ext cx="3416595" cy="350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400" b="1">
                <a:solidFill>
                  <a:srgbClr val="C4B5F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PDF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문서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텍스트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추출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흐름</a:t>
            </a:r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563213" y="1813293"/>
            <a:ext cx="3693616" cy="350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400" b="1">
                <a:solidFill>
                  <a:srgbClr val="C4B5F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HWP 문서 텍스트 추출 흐름</a:t>
            </a:r>
          </a:p>
        </p:txBody>
      </p:sp>
      <p:sp>
        <p:nvSpPr>
          <p:cNvPr id="30" name="Rectangle 47"/>
          <p:cNvSpPr/>
          <p:nvPr/>
        </p:nvSpPr>
        <p:spPr>
          <a:xfrm>
            <a:off x="8783167" y="2224747"/>
            <a:ext cx="3219129" cy="3906376"/>
          </a:xfrm>
          <a:prstGeom prst="rect">
            <a:avLst/>
          </a:prstGeom>
          <a:solidFill>
            <a:srgbClr val="231F32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8" tIns="60958" rIns="60958" bIns="60958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  <a:endParaRPr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49"/>
          <p:cNvSpPr txBox="1"/>
          <p:nvPr/>
        </p:nvSpPr>
        <p:spPr>
          <a:xfrm>
            <a:off x="8995549" y="1813293"/>
            <a:ext cx="2862553" cy="350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400" b="1">
                <a:solidFill>
                  <a:srgbClr val="C4B5F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주요 기능</a:t>
            </a:r>
          </a:p>
        </p:txBody>
      </p:sp>
      <p:sp>
        <p:nvSpPr>
          <p:cNvPr id="32" name="Rectangle 50"/>
          <p:cNvSpPr/>
          <p:nvPr/>
        </p:nvSpPr>
        <p:spPr>
          <a:xfrm>
            <a:off x="8893975" y="2381475"/>
            <a:ext cx="55407" cy="58923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8" tIns="60958" rIns="60958" bIns="60958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  <a:endParaRPr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51"/>
          <p:cNvSpPr txBox="1"/>
          <p:nvPr/>
        </p:nvSpPr>
        <p:spPr>
          <a:xfrm>
            <a:off x="9078655" y="2360433"/>
            <a:ext cx="2770214" cy="31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7C3AE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이중 추출 방지</a:t>
            </a:r>
          </a:p>
        </p:txBody>
      </p:sp>
      <p:sp>
        <p:nvSpPr>
          <p:cNvPr id="34" name="TextBox 52"/>
          <p:cNvSpPr txBox="1"/>
          <p:nvPr/>
        </p:nvSpPr>
        <p:spPr>
          <a:xfrm>
            <a:off x="9078655" y="2634004"/>
            <a:ext cx="2770214" cy="430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이미지 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  <a:sym typeface="Calibri"/>
              </a:rPr>
              <a:t>bbox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텍스트 레이어 존재 시</a:t>
            </a:r>
            <a:endParaRPr>
              <a:solidFill>
                <a:srgbClr val="6B728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defTabSz="609600">
              <a:defRPr sz="1000">
                <a:solidFill>
                  <a:srgbClr val="FFFFFF"/>
                </a:solidFill>
              </a:defRPr>
            </a:pP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OCR 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  <a:sym typeface="Helvetica"/>
              </a:rPr>
              <a:t>자동 스킵</a:t>
            </a:r>
          </a:p>
        </p:txBody>
      </p:sp>
      <p:sp>
        <p:nvSpPr>
          <p:cNvPr id="35" name="Rectangle 53"/>
          <p:cNvSpPr/>
          <p:nvPr/>
        </p:nvSpPr>
        <p:spPr>
          <a:xfrm>
            <a:off x="8893975" y="3689142"/>
            <a:ext cx="55407" cy="58923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8" tIns="60958" rIns="60958" bIns="60958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  <a:endParaRPr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54"/>
          <p:cNvSpPr txBox="1"/>
          <p:nvPr/>
        </p:nvSpPr>
        <p:spPr>
          <a:xfrm>
            <a:off x="9078655" y="3668099"/>
            <a:ext cx="2770214" cy="312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200" b="1">
                <a:solidFill>
                  <a:srgbClr val="7C3AED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폴백 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  <a:sym typeface="Calibri"/>
              </a:rPr>
              <a:t>OCR</a:t>
            </a:r>
          </a:p>
        </p:txBody>
      </p:sp>
      <p:sp>
        <p:nvSpPr>
          <p:cNvPr id="37" name="TextBox 55"/>
          <p:cNvSpPr txBox="1"/>
          <p:nvPr/>
        </p:nvSpPr>
        <p:spPr>
          <a:xfrm>
            <a:off x="9078655" y="3941669"/>
            <a:ext cx="3219128" cy="430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6B7280"/>
                </a:solidFill>
              </a:defRPr>
            </a:pPr>
            <a:r>
              <a:rPr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PPStructureV3 </a:t>
            </a:r>
            <a:r>
              <a:rPr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Helvetica"/>
              </a:rPr>
              <a:t>실패 시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  <a:sym typeface="Helvetica"/>
              </a:rPr>
              <a:t> </a:t>
            </a:r>
          </a:p>
          <a:p>
            <a:pPr defTabSz="6096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기본 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  <a:sym typeface="Calibri"/>
              </a:rPr>
              <a:t>PaddleOCR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자동 전환</a:t>
            </a:r>
          </a:p>
        </p:txBody>
      </p:sp>
      <p:sp>
        <p:nvSpPr>
          <p:cNvPr id="38" name="Rectangle 59"/>
          <p:cNvSpPr/>
          <p:nvPr/>
        </p:nvSpPr>
        <p:spPr>
          <a:xfrm>
            <a:off x="8893975" y="4865142"/>
            <a:ext cx="55407" cy="58923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8" tIns="60958" rIns="60958" bIns="60958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  <a:endParaRPr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60"/>
          <p:cNvSpPr txBox="1"/>
          <p:nvPr/>
        </p:nvSpPr>
        <p:spPr>
          <a:xfrm>
            <a:off x="9078655" y="4844100"/>
            <a:ext cx="2770214" cy="31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7C3AE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마크다운 출력</a:t>
            </a:r>
          </a:p>
        </p:txBody>
      </p:sp>
      <p:sp>
        <p:nvSpPr>
          <p:cNvPr id="40" name="TextBox 61"/>
          <p:cNvSpPr txBox="1"/>
          <p:nvPr/>
        </p:nvSpPr>
        <p:spPr>
          <a:xfrm>
            <a:off x="9078655" y="5117670"/>
            <a:ext cx="2770214" cy="430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텍스트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  <a:sym typeface="Calibri"/>
              </a:rPr>
              <a:t>·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  <a:sym typeface="Calibri"/>
              </a:rPr>
              <a:t>·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이미지 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  <a:sym typeface="Calibri"/>
              </a:rPr>
              <a:t>OCR 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결과를</a:t>
            </a:r>
          </a:p>
          <a:p>
            <a:pPr defTabSz="6096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구조화된 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  <a:sym typeface="Calibri"/>
              </a:rPr>
              <a:t>Markdown</a:t>
            </a:r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반환</a:t>
            </a:r>
          </a:p>
        </p:txBody>
      </p:sp>
      <p:graphicFrame>
        <p:nvGraphicFramePr>
          <p:cNvPr id="41" name="표 1"/>
          <p:cNvGraphicFramePr/>
          <p:nvPr>
            <p:extLst>
              <p:ext uri="{D42A27DB-BD31-4B8C-83A1-F6EECF244321}">
                <p14:modId xmlns:p14="http://schemas.microsoft.com/office/powerpoint/2010/main" val="1209705849"/>
              </p:ext>
            </p:extLst>
          </p:nvPr>
        </p:nvGraphicFramePr>
        <p:xfrm>
          <a:off x="330259" y="2335794"/>
          <a:ext cx="3780782" cy="3805025"/>
        </p:xfrm>
        <a:graphic>
          <a:graphicData uri="http://schemas.openxmlformats.org/drawingml/2006/table">
            <a:tbl>
              <a:tblPr bandRow="1"/>
              <a:tblGrid>
                <a:gridCol w="1110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524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라이브러리</a:t>
                      </a:r>
                      <a:endParaRPr sz="1100" b="1" dirty="0">
                        <a:solidFill>
                          <a:srgbClr val="FFFFFF"/>
                        </a:solidFill>
                        <a:latin typeface="나눔스퀘어"/>
                        <a:sym typeface="Helvetica"/>
                      </a:endParaRP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역할</a:t>
                      </a:r>
                      <a:endParaRPr sz="1100" b="1" dirty="0">
                        <a:solidFill>
                          <a:srgbClr val="FFFFFF"/>
                        </a:solidFill>
                        <a:latin typeface="나눔스퀘어"/>
                        <a:sym typeface="Helvetica"/>
                      </a:endParaRP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338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PyMuPDF</a:t>
                      </a:r>
                      <a:endParaRPr sz="1100" dirty="0">
                        <a:solidFill>
                          <a:srgbClr val="FFFFFF"/>
                        </a:solidFill>
                        <a:latin typeface="나눔스퀘어"/>
                        <a:sym typeface="Helvetica"/>
                      </a:endParaRP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이미지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오브젝트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감지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+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픽셀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추출</a:t>
                      </a:r>
                      <a:endParaRPr sz="1100" dirty="0">
                        <a:solidFill>
                          <a:srgbClr val="FFFFFF"/>
                        </a:solidFill>
                        <a:latin typeface="나눔스퀘어"/>
                        <a:sym typeface="Helvetica"/>
                      </a:endParaRP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524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PaddleOCR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이미지 OCR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01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Docling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텍스트·표 레이아웃 분석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338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pypdfium2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텍스트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레이어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추출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(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bbox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기준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)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" name="표 1-1"/>
          <p:cNvGraphicFramePr/>
          <p:nvPr>
            <p:extLst>
              <p:ext uri="{D42A27DB-BD31-4B8C-83A1-F6EECF244321}">
                <p14:modId xmlns:p14="http://schemas.microsoft.com/office/powerpoint/2010/main" val="4085995501"/>
              </p:ext>
            </p:extLst>
          </p:nvPr>
        </p:nvGraphicFramePr>
        <p:xfrm>
          <a:off x="4349661" y="2326662"/>
          <a:ext cx="4191124" cy="1492320"/>
        </p:xfrm>
        <a:graphic>
          <a:graphicData uri="http://schemas.openxmlformats.org/drawingml/2006/table">
            <a:tbl>
              <a:tblPr bandRow="1"/>
              <a:tblGrid>
                <a:gridCol w="2107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440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라이브러리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역할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440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rhwp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-python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텍스트·표·이미지 파싱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440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PPStructureV3 (PaddleOCR)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이미지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OCR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" name="TextBox 29"/>
          <p:cNvSpPr txBox="1"/>
          <p:nvPr/>
        </p:nvSpPr>
        <p:spPr>
          <a:xfrm>
            <a:off x="4465211" y="4063175"/>
            <a:ext cx="3693615" cy="350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400" b="1">
                <a:solidFill>
                  <a:srgbClr val="C4B5F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DOCX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문서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텍스트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추출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흐름</a:t>
            </a:r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44" name="표 1-2"/>
          <p:cNvGraphicFramePr/>
          <p:nvPr>
            <p:extLst>
              <p:ext uri="{D42A27DB-BD31-4B8C-83A1-F6EECF244321}">
                <p14:modId xmlns:p14="http://schemas.microsoft.com/office/powerpoint/2010/main" val="3668037544"/>
              </p:ext>
            </p:extLst>
          </p:nvPr>
        </p:nvGraphicFramePr>
        <p:xfrm>
          <a:off x="4345660" y="4649818"/>
          <a:ext cx="4199125" cy="1492320"/>
        </p:xfrm>
        <a:graphic>
          <a:graphicData uri="http://schemas.openxmlformats.org/drawingml/2006/table">
            <a:tbl>
              <a:tblPr bandRow="1"/>
              <a:tblGrid>
                <a:gridCol w="216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438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라이브러리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역할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255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Docling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텍스트·표·이미지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파싱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및 
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레이아웃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분석</a:t>
                      </a:r>
                      <a:endParaRPr sz="1100" dirty="0">
                        <a:solidFill>
                          <a:srgbClr val="FFFFFF"/>
                        </a:solidFill>
                        <a:latin typeface="나눔스퀘어"/>
                        <a:sym typeface="Helvetica"/>
                      </a:endParaRP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7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PPStructureV3 (PaddleOCR)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이미지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sym typeface="Helvetica"/>
                        </a:rPr>
                        <a:t> OCR</a:t>
                      </a:r>
                    </a:p>
                  </a:txBody>
                  <a:tcPr marL="25400" marR="25400" marT="25400" marB="254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1"/>
          <p:cNvSpPr txBox="1"/>
          <p:nvPr/>
        </p:nvSpPr>
        <p:spPr>
          <a:xfrm>
            <a:off x="706070" y="684769"/>
            <a:ext cx="8534403" cy="392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19200">
              <a:defRPr sz="31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55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LLM </a:t>
            </a:r>
            <a:r>
              <a:rPr sz="255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모델</a:t>
            </a:r>
            <a:r>
              <a:rPr sz="255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sz="255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선택</a:t>
            </a:r>
            <a:endParaRPr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52" name="그룹화"/>
          <p:cNvGrpSpPr/>
          <p:nvPr/>
        </p:nvGrpSpPr>
        <p:grpSpPr>
          <a:xfrm>
            <a:off x="208527" y="2102208"/>
            <a:ext cx="9188100" cy="3394355"/>
            <a:chOff x="47829" y="0"/>
            <a:chExt cx="9303213" cy="3394354"/>
          </a:xfrm>
        </p:grpSpPr>
        <p:sp>
          <p:nvSpPr>
            <p:cNvPr id="49" name="모서리가 둥근 직사각형"/>
            <p:cNvSpPr/>
            <p:nvPr/>
          </p:nvSpPr>
          <p:spPr>
            <a:xfrm>
              <a:off x="47829" y="0"/>
              <a:ext cx="9303213" cy="3394354"/>
            </a:xfrm>
            <a:prstGeom prst="roundRect">
              <a:avLst>
                <a:gd name="adj" fmla="val 10179"/>
              </a:avLst>
            </a:prstGeom>
            <a:solidFill>
              <a:schemeClr val="accent1">
                <a:lumMod val="60000"/>
                <a:lumOff val="40000"/>
                <a:alpha val="6424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50" name="붙여넣은 동영상.png" descr="붙여넣은 동영상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058" y="132739"/>
              <a:ext cx="4291028" cy="31288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" name="붙여넣은 동영상.png" descr="붙여넣은 동영상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2940" y="82697"/>
              <a:ext cx="4428285" cy="322895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aphicFrame>
        <p:nvGraphicFramePr>
          <p:cNvPr id="53" name="표 1"/>
          <p:cNvGraphicFramePr/>
          <p:nvPr>
            <p:extLst>
              <p:ext uri="{D42A27DB-BD31-4B8C-83A1-F6EECF244321}">
                <p14:modId xmlns:p14="http://schemas.microsoft.com/office/powerpoint/2010/main" val="3600922900"/>
              </p:ext>
            </p:extLst>
          </p:nvPr>
        </p:nvGraphicFramePr>
        <p:xfrm>
          <a:off x="9571809" y="2147073"/>
          <a:ext cx="2516879" cy="3304620"/>
        </p:xfrm>
        <a:graphic>
          <a:graphicData uri="http://schemas.openxmlformats.org/drawingml/2006/table">
            <a:tbl>
              <a:tblPr bandRow="1"/>
              <a:tblGrid>
                <a:gridCol w="1032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0747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지표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측정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747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ROUGE-L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순서 고려한 단어 겹침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402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BERTScore F1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단어가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달라도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의미가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비슷한지</a:t>
                      </a:r>
                      <a:endParaRPr sz="1100" dirty="0">
                        <a:solidFill>
                          <a:srgbClr val="FFFFFF"/>
                        </a:solidFill>
                        <a:latin typeface="나눔스퀘어"/>
                        <a:ea typeface="Apple SD 산돌고딕 Neo 일반체"/>
                        <a:cs typeface="Apple SD 산돌고딕 Neo 일반체"/>
                        <a:sym typeface="Apple SD 산돌고딕 Neo 일반체"/>
                      </a:endParaRP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724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Faithfulness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답변이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참고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문서에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 </a:t>
                      </a:r>
                      <a:endParaRPr lang="en-US" sz="1100" dirty="0">
                        <a:solidFill>
                          <a:srgbClr val="FFFFFF"/>
                        </a:solidFill>
                        <a:latin typeface="나눔스퀘어"/>
                        <a:ea typeface="Apple SD 산돌고딕 Neo 일반체"/>
                        <a:cs typeface="Apple SD 산돌고딕 Neo 일반체"/>
                        <a:sym typeface="Apple SD 산돌고딕 Neo 일반체"/>
                      </a:endParaRPr>
                    </a:p>
                    <a:p>
                      <a:pPr algn="l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근거하는지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 (hallucination </a:t>
                      </a:r>
                      <a:r>
                        <a:rPr sz="1100" dirty="0" err="1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탐지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)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" name="*rag용을 위해 질의응답/지시 수행이 가능한 chat template를 따르는 instruction tuned된…"/>
          <p:cNvSpPr txBox="1"/>
          <p:nvPr/>
        </p:nvSpPr>
        <p:spPr>
          <a:xfrm>
            <a:off x="179951" y="5606889"/>
            <a:ext cx="7601973" cy="502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0958" tIns="60958" rIns="60958" bIns="60958">
            <a:spAutoFit/>
          </a:bodyPr>
          <a:lstStyle>
            <a:lvl1pPr defTabSz="609600">
              <a:defRPr sz="1200">
                <a:solidFill>
                  <a:srgbClr val="A7A7A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rag용을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위해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질의응답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지시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수행이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가능한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chat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template를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따르는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instruction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tuned된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모델을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선정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endParaRPr 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중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한국어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파인튜닝된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모델을</a:t>
            </a:r>
            <a:r>
              <a:rPr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선정</a:t>
            </a:r>
            <a:endParaRPr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57" name="그룹화"/>
          <p:cNvGrpSpPr/>
          <p:nvPr/>
        </p:nvGrpSpPr>
        <p:grpSpPr>
          <a:xfrm>
            <a:off x="4211647" y="601577"/>
            <a:ext cx="1392119" cy="1396357"/>
            <a:chOff x="0" y="0"/>
            <a:chExt cx="1392117" cy="1396356"/>
          </a:xfrm>
        </p:grpSpPr>
        <p:sp>
          <p:nvSpPr>
            <p:cNvPr id="55" name="1순위. rtzr/ko-gemma-2-9b-it"/>
            <p:cNvSpPr/>
            <p:nvPr/>
          </p:nvSpPr>
          <p:spPr>
            <a:xfrm>
              <a:off x="122117" y="12635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0958" tIns="60958" rIns="60958" bIns="60958" numCol="1" anchor="t">
              <a:spAutoFit/>
            </a:bodyPr>
            <a:lstStyle>
              <a:lvl1pPr defTabSz="1219200">
                <a:defRPr sz="1300">
                  <a:solidFill>
                    <a:srgbClr val="FFFFFF"/>
                  </a:solidFill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lvl1pPr>
            </a:lstStyle>
            <a:p>
              <a:r>
                <a:rPr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1순위. </a:t>
              </a:r>
              <a:r>
                <a:rPr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rtzr</a:t>
              </a:r>
              <a:r>
                <a:rPr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/ko-gemma-2-9b-it</a:t>
              </a:r>
            </a:p>
          </p:txBody>
        </p:sp>
        <p:sp>
          <p:nvSpPr>
            <p:cNvPr id="56" name="Rectangle 50"/>
            <p:cNvSpPr/>
            <p:nvPr/>
          </p:nvSpPr>
          <p:spPr>
            <a:xfrm>
              <a:off x="0" y="0"/>
              <a:ext cx="57704" cy="558800"/>
            </a:xfrm>
            <a:prstGeom prst="rect">
              <a:avLst/>
            </a:prstGeom>
            <a:solidFill>
              <a:srgbClr val="C4B5FD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0958" tIns="60958" rIns="60958" bIns="60958" numCol="1" anchor="ctr">
              <a:noAutofit/>
            </a:bodyPr>
            <a:lstStyle/>
            <a:p>
              <a:pPr algn="ctr" defTabSz="609600">
                <a:defRPr sz="2400">
                  <a:solidFill>
                    <a:srgbClr val="FFFFFF"/>
                  </a:solidFill>
                </a:defRPr>
              </a:pPr>
              <a:endParaRPr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60" name="그룹화"/>
          <p:cNvGrpSpPr/>
          <p:nvPr/>
        </p:nvGrpSpPr>
        <p:grpSpPr>
          <a:xfrm>
            <a:off x="7082174" y="601576"/>
            <a:ext cx="1439205" cy="1361269"/>
            <a:chOff x="0" y="0"/>
            <a:chExt cx="1439204" cy="1361268"/>
          </a:xfrm>
        </p:grpSpPr>
        <p:sp>
          <p:nvSpPr>
            <p:cNvPr id="58" name="2순위. RangDev/gemma-2b-it-legal-sum-ko"/>
            <p:cNvSpPr/>
            <p:nvPr/>
          </p:nvSpPr>
          <p:spPr>
            <a:xfrm>
              <a:off x="169203" y="9126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0958" tIns="60958" rIns="60958" bIns="60958" numCol="1" anchor="t">
              <a:spAutoFit/>
            </a:bodyPr>
            <a:lstStyle>
              <a:lvl1pPr defTabSz="1219200">
                <a:defRPr sz="1300">
                  <a:solidFill>
                    <a:srgbClr val="FFFFFF"/>
                  </a:solidFill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lvl1pPr>
            </a:lstStyle>
            <a:p>
              <a:r>
                <a:rPr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2순위. </a:t>
              </a:r>
              <a:r>
                <a:rPr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RangDev</a:t>
              </a:r>
              <a:r>
                <a:rPr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/gemma-2b-it-legal-sum-ko               </a:t>
              </a:r>
            </a:p>
          </p:txBody>
        </p:sp>
        <p:sp>
          <p:nvSpPr>
            <p:cNvPr id="59" name="Rectangle 50"/>
            <p:cNvSpPr/>
            <p:nvPr/>
          </p:nvSpPr>
          <p:spPr>
            <a:xfrm>
              <a:off x="-1" y="0"/>
              <a:ext cx="57705" cy="558802"/>
            </a:xfrm>
            <a:prstGeom prst="rect">
              <a:avLst/>
            </a:prstGeom>
            <a:solidFill>
              <a:srgbClr val="C4B5FD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0958" tIns="60958" rIns="60958" bIns="60958" numCol="1" anchor="ctr">
              <a:noAutofit/>
            </a:bodyPr>
            <a:lstStyle/>
            <a:p>
              <a:pPr algn="ctr" defTabSz="609600">
                <a:defRPr sz="2400">
                  <a:solidFill>
                    <a:srgbClr val="FFFFFF"/>
                  </a:solidFill>
                </a:defRPr>
              </a:pPr>
              <a:endParaRPr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모서리가 둥근 직사각형"/>
          <p:cNvSpPr/>
          <p:nvPr/>
        </p:nvSpPr>
        <p:spPr>
          <a:xfrm>
            <a:off x="7899160" y="1237804"/>
            <a:ext cx="3584559" cy="5175623"/>
          </a:xfrm>
          <a:prstGeom prst="roundRect">
            <a:avLst>
              <a:gd name="adj" fmla="val 15000"/>
            </a:avLst>
          </a:prstGeom>
          <a:solidFill>
            <a:srgbClr val="231F3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231F32"/>
                </a:solidFill>
              </a:defRPr>
            </a:pPr>
            <a:endParaRPr/>
          </a:p>
        </p:txBody>
      </p:sp>
      <p:sp>
        <p:nvSpPr>
          <p:cNvPr id="65" name="모서리가 둥근 직사각형"/>
          <p:cNvSpPr/>
          <p:nvPr/>
        </p:nvSpPr>
        <p:spPr>
          <a:xfrm>
            <a:off x="4044313" y="1238178"/>
            <a:ext cx="3584558" cy="5175623"/>
          </a:xfrm>
          <a:prstGeom prst="roundRect">
            <a:avLst>
              <a:gd name="adj" fmla="val 15000"/>
            </a:avLst>
          </a:prstGeom>
          <a:solidFill>
            <a:srgbClr val="231F3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231F32"/>
                </a:solidFill>
              </a:defRPr>
            </a:pPr>
            <a:endParaRPr/>
          </a:p>
        </p:txBody>
      </p:sp>
      <p:sp>
        <p:nvSpPr>
          <p:cNvPr id="66" name="모서리가 둥근 직사각형"/>
          <p:cNvSpPr/>
          <p:nvPr/>
        </p:nvSpPr>
        <p:spPr>
          <a:xfrm>
            <a:off x="273713" y="1238178"/>
            <a:ext cx="3584559" cy="5175623"/>
          </a:xfrm>
          <a:prstGeom prst="roundRect">
            <a:avLst>
              <a:gd name="adj" fmla="val 15000"/>
            </a:avLst>
          </a:prstGeom>
          <a:solidFill>
            <a:srgbClr val="231F3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231F32"/>
                </a:solidFill>
              </a:defRPr>
            </a:pPr>
            <a:endParaRPr/>
          </a:p>
        </p:txBody>
      </p:sp>
      <p:sp>
        <p:nvSpPr>
          <p:cNvPr id="67" name="Text 1"/>
          <p:cNvSpPr txBox="1"/>
          <p:nvPr/>
        </p:nvSpPr>
        <p:spPr>
          <a:xfrm>
            <a:off x="582854" y="483294"/>
            <a:ext cx="8534402" cy="392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19200">
              <a:defRPr sz="33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55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Rag용</a:t>
            </a:r>
            <a:r>
              <a:rPr sz="255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fine-tuning</a:t>
            </a:r>
          </a:p>
        </p:txBody>
      </p:sp>
      <p:sp>
        <p:nvSpPr>
          <p:cNvPr id="68" name="TextBox 6"/>
          <p:cNvSpPr txBox="1"/>
          <p:nvPr/>
        </p:nvSpPr>
        <p:spPr>
          <a:xfrm>
            <a:off x="462374" y="1559478"/>
            <a:ext cx="3207237" cy="31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C4B5F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개요</a:t>
            </a:r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9" name="TextBox 7"/>
          <p:cNvSpPr txBox="1"/>
          <p:nvPr/>
        </p:nvSpPr>
        <p:spPr>
          <a:xfrm>
            <a:off x="526891" y="2195761"/>
            <a:ext cx="1509289" cy="31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2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베이스 모델</a:t>
            </a:r>
          </a:p>
        </p:txBody>
      </p:sp>
      <p:sp>
        <p:nvSpPr>
          <p:cNvPr id="70" name="TextBox 8"/>
          <p:cNvSpPr txBox="1"/>
          <p:nvPr/>
        </p:nvSpPr>
        <p:spPr>
          <a:xfrm>
            <a:off x="1835234" y="2195761"/>
            <a:ext cx="1650785" cy="492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 dirty="0" err="1">
                <a:latin typeface="나눔스퀘어"/>
              </a:rPr>
              <a:t>rtzr</a:t>
            </a:r>
            <a:r>
              <a:rPr dirty="0">
                <a:latin typeface="나눔스퀘어"/>
              </a:rPr>
              <a:t>/ko-gemma-2-9b-it</a:t>
            </a:r>
          </a:p>
        </p:txBody>
      </p:sp>
      <p:sp>
        <p:nvSpPr>
          <p:cNvPr id="71" name="TextBox 9"/>
          <p:cNvSpPr txBox="1"/>
          <p:nvPr/>
        </p:nvSpPr>
        <p:spPr>
          <a:xfrm>
            <a:off x="526891" y="2832043"/>
            <a:ext cx="1509289" cy="312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2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학습 방식</a:t>
            </a:r>
          </a:p>
        </p:txBody>
      </p:sp>
      <p:sp>
        <p:nvSpPr>
          <p:cNvPr id="72" name="TextBox 10"/>
          <p:cNvSpPr txBox="1"/>
          <p:nvPr/>
        </p:nvSpPr>
        <p:spPr>
          <a:xfrm>
            <a:off x="1835234" y="2832043"/>
            <a:ext cx="2030647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0958" tIns="60958" rIns="60958" bIns="60958">
            <a:spAutoFit/>
          </a:bodyPr>
          <a:lstStyle/>
          <a:p>
            <a:pPr defTabSz="609600">
              <a:defRPr sz="1200" b="1">
                <a:solidFill>
                  <a:srgbClr val="FFFFFF"/>
                </a:solidFill>
              </a:defRPr>
            </a:pPr>
            <a:r>
              <a:rPr dirty="0" err="1">
                <a:latin typeface="나눔스퀘어"/>
              </a:rPr>
              <a:t>QLoRA</a:t>
            </a:r>
            <a:r>
              <a:rPr dirty="0">
                <a:latin typeface="나눔스퀘어"/>
              </a:rPr>
              <a:t> (4-bit NF4 </a:t>
            </a:r>
            <a:r>
              <a:rPr dirty="0" err="1">
                <a:latin typeface="나눔스퀘어"/>
                <a:sym typeface="Helvetica"/>
              </a:rPr>
              <a:t>양자화</a:t>
            </a:r>
            <a:r>
              <a:rPr dirty="0">
                <a:latin typeface="나눔스퀘어"/>
              </a:rPr>
              <a:t>)</a:t>
            </a:r>
          </a:p>
        </p:txBody>
      </p:sp>
      <p:sp>
        <p:nvSpPr>
          <p:cNvPr id="73" name="TextBox 11"/>
          <p:cNvSpPr txBox="1"/>
          <p:nvPr/>
        </p:nvSpPr>
        <p:spPr>
          <a:xfrm>
            <a:off x="526891" y="3468326"/>
            <a:ext cx="1509289" cy="31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2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데이터</a:t>
            </a:r>
          </a:p>
        </p:txBody>
      </p:sp>
      <p:sp>
        <p:nvSpPr>
          <p:cNvPr id="74" name="TextBox 12"/>
          <p:cNvSpPr txBox="1"/>
          <p:nvPr/>
        </p:nvSpPr>
        <p:spPr>
          <a:xfrm>
            <a:off x="1835233" y="3429001"/>
            <a:ext cx="1906857" cy="492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0958" tIns="60958" rIns="60958" bIns="60958">
            <a:spAutoFit/>
          </a:bodyPr>
          <a:lstStyle/>
          <a:p>
            <a:pPr defTabSz="609600">
              <a:defRPr sz="1200" b="1">
                <a:solidFill>
                  <a:srgbClr val="FFFFFF"/>
                </a:solidFill>
              </a:defRPr>
            </a:pPr>
            <a:r>
              <a:rPr dirty="0">
                <a:latin typeface="나눔스퀘어"/>
              </a:rPr>
              <a:t>Q&amp;A </a:t>
            </a:r>
            <a:r>
              <a:rPr dirty="0" err="1">
                <a:latin typeface="나눔스퀘어"/>
                <a:sym typeface="Helvetica"/>
              </a:rPr>
              <a:t>법률</a:t>
            </a:r>
            <a:r>
              <a:rPr dirty="0">
                <a:latin typeface="나눔스퀘어"/>
                <a:sym typeface="Helvetica"/>
              </a:rPr>
              <a:t> </a:t>
            </a:r>
            <a:r>
              <a:rPr dirty="0" err="1">
                <a:latin typeface="나눔스퀘어"/>
                <a:sym typeface="Helvetica"/>
              </a:rPr>
              <a:t>문서</a:t>
            </a:r>
            <a:r>
              <a:rPr dirty="0">
                <a:latin typeface="나눔스퀘어"/>
                <a:sym typeface="Helvetica"/>
              </a:rPr>
              <a:t> 5.7만건,</a:t>
            </a:r>
          </a:p>
          <a:p>
            <a:pPr defTabSz="609600">
              <a:defRPr sz="12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dirty="0">
                <a:latin typeface="나눔스퀘어"/>
              </a:rPr>
              <a:t>Fake Data 3천건</a:t>
            </a:r>
          </a:p>
        </p:txBody>
      </p:sp>
      <p:sp>
        <p:nvSpPr>
          <p:cNvPr id="75" name="TextBox 13"/>
          <p:cNvSpPr txBox="1"/>
          <p:nvPr/>
        </p:nvSpPr>
        <p:spPr>
          <a:xfrm>
            <a:off x="526891" y="4104609"/>
            <a:ext cx="1509289" cy="31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2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학습 에폭</a:t>
            </a:r>
          </a:p>
        </p:txBody>
      </p:sp>
      <p:sp>
        <p:nvSpPr>
          <p:cNvPr id="76" name="TextBox 14"/>
          <p:cNvSpPr txBox="1"/>
          <p:nvPr/>
        </p:nvSpPr>
        <p:spPr>
          <a:xfrm>
            <a:off x="1835234" y="4104609"/>
            <a:ext cx="1650785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1 epoch</a:t>
            </a:r>
          </a:p>
        </p:txBody>
      </p:sp>
      <p:sp>
        <p:nvSpPr>
          <p:cNvPr id="77" name="TextBox 15"/>
          <p:cNvSpPr txBox="1"/>
          <p:nvPr/>
        </p:nvSpPr>
        <p:spPr>
          <a:xfrm>
            <a:off x="526891" y="4740892"/>
            <a:ext cx="1509289" cy="31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2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최대 길이</a:t>
            </a:r>
          </a:p>
        </p:txBody>
      </p:sp>
      <p:sp>
        <p:nvSpPr>
          <p:cNvPr id="78" name="TextBox 16"/>
          <p:cNvSpPr txBox="1"/>
          <p:nvPr/>
        </p:nvSpPr>
        <p:spPr>
          <a:xfrm>
            <a:off x="1835234" y="4740892"/>
            <a:ext cx="1650785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2,048 tokens</a:t>
            </a:r>
          </a:p>
        </p:txBody>
      </p:sp>
      <p:sp>
        <p:nvSpPr>
          <p:cNvPr id="79" name="TextBox 17"/>
          <p:cNvSpPr txBox="1"/>
          <p:nvPr/>
        </p:nvSpPr>
        <p:spPr>
          <a:xfrm>
            <a:off x="526891" y="5377174"/>
            <a:ext cx="1509289" cy="31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2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학습 환경</a:t>
            </a:r>
          </a:p>
        </p:txBody>
      </p:sp>
      <p:sp>
        <p:nvSpPr>
          <p:cNvPr id="80" name="TextBox 18"/>
          <p:cNvSpPr txBox="1"/>
          <p:nvPr/>
        </p:nvSpPr>
        <p:spPr>
          <a:xfrm>
            <a:off x="1835234" y="5377174"/>
            <a:ext cx="1650785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Google Colab (GPU)</a:t>
            </a:r>
          </a:p>
        </p:txBody>
      </p:sp>
      <p:sp>
        <p:nvSpPr>
          <p:cNvPr id="81" name="TextBox 20"/>
          <p:cNvSpPr txBox="1"/>
          <p:nvPr/>
        </p:nvSpPr>
        <p:spPr>
          <a:xfrm>
            <a:off x="4215693" y="1525843"/>
            <a:ext cx="3207235" cy="31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200" b="1">
                <a:solidFill>
                  <a:srgbClr val="C4B5FD"/>
                </a:solidFill>
              </a:defRPr>
            </a:pP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LoRA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  <a:sym typeface="Helvetica"/>
              </a:rPr>
              <a:t>하이퍼파라미터</a:t>
            </a:r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  <a:sym typeface="Helvetica"/>
            </a:endParaRPr>
          </a:p>
        </p:txBody>
      </p:sp>
      <p:sp>
        <p:nvSpPr>
          <p:cNvPr id="82" name="TextBox 21"/>
          <p:cNvSpPr txBox="1"/>
          <p:nvPr/>
        </p:nvSpPr>
        <p:spPr>
          <a:xfrm>
            <a:off x="4394439" y="2195761"/>
            <a:ext cx="1603619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Rank (r)</a:t>
            </a:r>
          </a:p>
        </p:txBody>
      </p:sp>
      <p:sp>
        <p:nvSpPr>
          <p:cNvPr id="83" name="TextBox 22"/>
          <p:cNvSpPr txBox="1"/>
          <p:nvPr/>
        </p:nvSpPr>
        <p:spPr>
          <a:xfrm>
            <a:off x="5664680" y="2167186"/>
            <a:ext cx="1603620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8</a:t>
            </a:r>
          </a:p>
        </p:txBody>
      </p:sp>
      <p:sp>
        <p:nvSpPr>
          <p:cNvPr id="84" name="TextBox 23"/>
          <p:cNvSpPr txBox="1"/>
          <p:nvPr/>
        </p:nvSpPr>
        <p:spPr>
          <a:xfrm>
            <a:off x="4365864" y="2705043"/>
            <a:ext cx="1603619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Alpha</a:t>
            </a:r>
          </a:p>
        </p:txBody>
      </p:sp>
      <p:sp>
        <p:nvSpPr>
          <p:cNvPr id="85" name="TextBox 24"/>
          <p:cNvSpPr txBox="1"/>
          <p:nvPr/>
        </p:nvSpPr>
        <p:spPr>
          <a:xfrm>
            <a:off x="5664680" y="2676468"/>
            <a:ext cx="1603620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16</a:t>
            </a:r>
          </a:p>
        </p:txBody>
      </p:sp>
      <p:sp>
        <p:nvSpPr>
          <p:cNvPr id="86" name="TextBox 25"/>
          <p:cNvSpPr txBox="1"/>
          <p:nvPr/>
        </p:nvSpPr>
        <p:spPr>
          <a:xfrm>
            <a:off x="4365864" y="3341326"/>
            <a:ext cx="1603619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Dropout</a:t>
            </a:r>
          </a:p>
        </p:txBody>
      </p:sp>
      <p:sp>
        <p:nvSpPr>
          <p:cNvPr id="87" name="TextBox 26"/>
          <p:cNvSpPr txBox="1"/>
          <p:nvPr/>
        </p:nvSpPr>
        <p:spPr>
          <a:xfrm>
            <a:off x="5664680" y="3312751"/>
            <a:ext cx="1603620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0.05</a:t>
            </a:r>
          </a:p>
        </p:txBody>
      </p:sp>
      <p:sp>
        <p:nvSpPr>
          <p:cNvPr id="88" name="TextBox 27"/>
          <p:cNvSpPr txBox="1"/>
          <p:nvPr/>
        </p:nvSpPr>
        <p:spPr>
          <a:xfrm>
            <a:off x="4365864" y="3977609"/>
            <a:ext cx="1603619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Learning Rate</a:t>
            </a:r>
          </a:p>
        </p:txBody>
      </p:sp>
      <p:sp>
        <p:nvSpPr>
          <p:cNvPr id="89" name="TextBox 28"/>
          <p:cNvSpPr txBox="1"/>
          <p:nvPr/>
        </p:nvSpPr>
        <p:spPr>
          <a:xfrm>
            <a:off x="5664680" y="3949034"/>
            <a:ext cx="1603620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2e-4</a:t>
            </a:r>
          </a:p>
        </p:txBody>
      </p:sp>
      <p:sp>
        <p:nvSpPr>
          <p:cNvPr id="90" name="TextBox 29"/>
          <p:cNvSpPr txBox="1"/>
          <p:nvPr/>
        </p:nvSpPr>
        <p:spPr>
          <a:xfrm>
            <a:off x="4365864" y="4613892"/>
            <a:ext cx="1603619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Batch Size</a:t>
            </a:r>
          </a:p>
        </p:txBody>
      </p:sp>
      <p:sp>
        <p:nvSpPr>
          <p:cNvPr id="91" name="TextBox 30"/>
          <p:cNvSpPr txBox="1"/>
          <p:nvPr/>
        </p:nvSpPr>
        <p:spPr>
          <a:xfrm>
            <a:off x="5664679" y="4585317"/>
            <a:ext cx="1915325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 dirty="0">
                <a:latin typeface="나눔스퀘어"/>
              </a:rPr>
              <a:t>1 (</a:t>
            </a:r>
            <a:r>
              <a:rPr dirty="0" err="1">
                <a:latin typeface="나눔스퀘어"/>
              </a:rPr>
              <a:t>grad_accum</a:t>
            </a:r>
            <a:r>
              <a:rPr dirty="0">
                <a:latin typeface="나눔스퀘어"/>
              </a:rPr>
              <a:t> × 16)</a:t>
            </a:r>
          </a:p>
        </p:txBody>
      </p:sp>
      <p:sp>
        <p:nvSpPr>
          <p:cNvPr id="92" name="TextBox 31"/>
          <p:cNvSpPr txBox="1"/>
          <p:nvPr/>
        </p:nvSpPr>
        <p:spPr>
          <a:xfrm>
            <a:off x="4365864" y="5250174"/>
            <a:ext cx="1603619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Optimizer</a:t>
            </a:r>
          </a:p>
        </p:txBody>
      </p:sp>
      <p:sp>
        <p:nvSpPr>
          <p:cNvPr id="93" name="TextBox 32"/>
          <p:cNvSpPr txBox="1"/>
          <p:nvPr/>
        </p:nvSpPr>
        <p:spPr>
          <a:xfrm>
            <a:off x="5664680" y="5221599"/>
            <a:ext cx="1603620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AdamW 8-bit</a:t>
            </a:r>
          </a:p>
        </p:txBody>
      </p:sp>
      <p:sp>
        <p:nvSpPr>
          <p:cNvPr id="94" name="TextBox 33"/>
          <p:cNvSpPr txBox="1"/>
          <p:nvPr/>
        </p:nvSpPr>
        <p:spPr>
          <a:xfrm>
            <a:off x="4365864" y="5759456"/>
            <a:ext cx="1603619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>
                <a:solidFill>
                  <a:srgbClr val="94A3B8"/>
                </a:solidFill>
              </a:defRPr>
            </a:lvl1pPr>
          </a:lstStyle>
          <a:p>
            <a:r>
              <a:rPr dirty="0">
                <a:latin typeface="나눔스퀘어"/>
              </a:rPr>
              <a:t>• Target Modules</a:t>
            </a:r>
          </a:p>
        </p:txBody>
      </p:sp>
      <p:sp>
        <p:nvSpPr>
          <p:cNvPr id="95" name="TextBox 34"/>
          <p:cNvSpPr txBox="1"/>
          <p:nvPr/>
        </p:nvSpPr>
        <p:spPr>
          <a:xfrm>
            <a:off x="5664680" y="5730881"/>
            <a:ext cx="1865743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q/k/v/o/gate/up/down</a:t>
            </a:r>
          </a:p>
        </p:txBody>
      </p:sp>
      <p:sp>
        <p:nvSpPr>
          <p:cNvPr id="96" name="TextBox 36"/>
          <p:cNvSpPr txBox="1"/>
          <p:nvPr/>
        </p:nvSpPr>
        <p:spPr>
          <a:xfrm>
            <a:off x="8113272" y="1525843"/>
            <a:ext cx="3689602" cy="31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 b="1">
                <a:solidFill>
                  <a:srgbClr val="C4B5F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프롬프트 구조</a:t>
            </a:r>
          </a:p>
        </p:txBody>
      </p:sp>
      <p:sp>
        <p:nvSpPr>
          <p:cNvPr id="97" name="TextBox 37"/>
          <p:cNvSpPr txBox="1"/>
          <p:nvPr/>
        </p:nvSpPr>
        <p:spPr>
          <a:xfrm>
            <a:off x="8096339" y="2020342"/>
            <a:ext cx="3689602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DDDDDD"/>
                </a:solidFill>
              </a:defRPr>
            </a:lvl1pPr>
          </a:lstStyle>
          <a:p>
            <a:r>
              <a:rPr>
                <a:latin typeface="나눔스퀘어"/>
              </a:rPr>
              <a:t>&lt;start_of_turn&gt;user</a:t>
            </a:r>
          </a:p>
        </p:txBody>
      </p:sp>
      <p:sp>
        <p:nvSpPr>
          <p:cNvPr id="98" name="TextBox 38"/>
          <p:cNvSpPr txBox="1"/>
          <p:nvPr/>
        </p:nvSpPr>
        <p:spPr>
          <a:xfrm>
            <a:off x="8073280" y="2415929"/>
            <a:ext cx="3689602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388BFD"/>
                </a:solidFill>
              </a:defRPr>
            </a:lvl1pPr>
          </a:lstStyle>
          <a:p>
            <a:r>
              <a:rPr>
                <a:latin typeface="나눔스퀘어"/>
              </a:rPr>
              <a:t>Instruction: [TASK: RAG]</a:t>
            </a:r>
          </a:p>
        </p:txBody>
      </p:sp>
      <p:sp>
        <p:nvSpPr>
          <p:cNvPr id="99" name="TextBox 39"/>
          <p:cNvSpPr txBox="1"/>
          <p:nvPr/>
        </p:nvSpPr>
        <p:spPr>
          <a:xfrm>
            <a:off x="8096339" y="2784867"/>
            <a:ext cx="3689602" cy="274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DDDDDD"/>
                </a:solidFill>
              </a:defRPr>
            </a:pPr>
            <a:r>
              <a:rPr>
                <a:latin typeface="나눔스퀘어"/>
              </a:rPr>
              <a:t>[</a:t>
            </a:r>
            <a:r>
              <a:rPr>
                <a:latin typeface="나눔스퀘어"/>
                <a:sym typeface="Helvetica"/>
              </a:rPr>
              <a:t>지시사항</a:t>
            </a:r>
            <a:r>
              <a:rPr>
                <a:latin typeface="나눔스퀘어"/>
              </a:rPr>
              <a:t>]</a:t>
            </a:r>
          </a:p>
        </p:txBody>
      </p:sp>
      <p:sp>
        <p:nvSpPr>
          <p:cNvPr id="100" name="TextBox 40"/>
          <p:cNvSpPr txBox="1"/>
          <p:nvPr/>
        </p:nvSpPr>
        <p:spPr>
          <a:xfrm>
            <a:off x="8096339" y="3091214"/>
            <a:ext cx="3689602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DDDDDD"/>
                </a:solidFill>
              </a:defRPr>
            </a:pPr>
            <a:r>
              <a:rPr>
                <a:latin typeface="나눔스퀘어"/>
              </a:rPr>
              <a:t>1. </a:t>
            </a:r>
            <a:r>
              <a:rPr>
                <a:latin typeface="나눔스퀘어"/>
                <a:sym typeface="Helvetica"/>
              </a:rPr>
              <a:t>답변은 반드시 </a:t>
            </a:r>
            <a:r>
              <a:rPr>
                <a:latin typeface="나눔스퀘어"/>
              </a:rPr>
              <a:t>[</a:t>
            </a:r>
            <a:r>
              <a:rPr>
                <a:latin typeface="나눔스퀘어"/>
                <a:sym typeface="Helvetica"/>
              </a:rPr>
              <a:t>참고 법률 원문</a:t>
            </a:r>
            <a:r>
              <a:rPr>
                <a:latin typeface="나눔스퀘어"/>
              </a:rPr>
              <a:t>]</a:t>
            </a:r>
            <a:r>
              <a:rPr>
                <a:latin typeface="나눔스퀘어"/>
                <a:sym typeface="Helvetica"/>
              </a:rPr>
              <a:t>에 근거해야 합니다</a:t>
            </a:r>
            <a:r>
              <a:rPr>
                <a:latin typeface="나눔스퀘어"/>
              </a:rPr>
              <a:t>.</a:t>
            </a:r>
          </a:p>
        </p:txBody>
      </p:sp>
      <p:sp>
        <p:nvSpPr>
          <p:cNvPr id="101" name="TextBox 42"/>
          <p:cNvSpPr txBox="1"/>
          <p:nvPr/>
        </p:nvSpPr>
        <p:spPr>
          <a:xfrm>
            <a:off x="8096339" y="3472448"/>
            <a:ext cx="3689602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DDDDDD"/>
                </a:solidFill>
              </a:defRPr>
            </a:pPr>
            <a:r>
              <a:rPr>
                <a:latin typeface="나눔스퀘어"/>
              </a:rPr>
              <a:t>2. </a:t>
            </a:r>
            <a:r>
              <a:rPr>
                <a:latin typeface="나눔스퀘어"/>
                <a:sym typeface="Helvetica"/>
              </a:rPr>
              <a:t>정보 부족 시 </a:t>
            </a:r>
            <a:r>
              <a:rPr>
                <a:latin typeface="나눔스퀘어"/>
              </a:rPr>
              <a:t>'</a:t>
            </a:r>
            <a:r>
              <a:rPr>
                <a:latin typeface="나눔스퀘어"/>
                <a:sym typeface="Helvetica"/>
              </a:rPr>
              <a:t>관련 정보가 없습니다</a:t>
            </a:r>
            <a:r>
              <a:rPr>
                <a:latin typeface="나눔스퀘어"/>
              </a:rPr>
              <a:t>’</a:t>
            </a:r>
            <a:r>
              <a:rPr>
                <a:latin typeface="나눔스퀘어"/>
                <a:sym typeface="Helvetica"/>
              </a:rPr>
              <a:t>라고 답변하세요</a:t>
            </a:r>
            <a:r>
              <a:rPr>
                <a:latin typeface="나눔스퀘어"/>
              </a:rPr>
              <a:t>.</a:t>
            </a:r>
          </a:p>
        </p:txBody>
      </p:sp>
      <p:sp>
        <p:nvSpPr>
          <p:cNvPr id="102" name="TextBox 44"/>
          <p:cNvSpPr txBox="1"/>
          <p:nvPr/>
        </p:nvSpPr>
        <p:spPr>
          <a:xfrm>
            <a:off x="8113272" y="3807585"/>
            <a:ext cx="3689602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DDDDDD"/>
                </a:solidFill>
              </a:defRPr>
            </a:pPr>
            <a:r>
              <a:rPr>
                <a:latin typeface="나눔스퀘어"/>
              </a:rPr>
              <a:t>3. </a:t>
            </a:r>
            <a:r>
              <a:rPr>
                <a:latin typeface="나눔스퀘어"/>
                <a:sym typeface="Helvetica"/>
              </a:rPr>
              <a:t>원문에 없는 내용을 추론하지 마세요</a:t>
            </a:r>
            <a:r>
              <a:rPr>
                <a:latin typeface="나눔스퀘어"/>
              </a:rPr>
              <a:t>.</a:t>
            </a:r>
          </a:p>
        </p:txBody>
      </p:sp>
      <p:sp>
        <p:nvSpPr>
          <p:cNvPr id="103" name="TextBox 45"/>
          <p:cNvSpPr txBox="1"/>
          <p:nvPr/>
        </p:nvSpPr>
        <p:spPr>
          <a:xfrm>
            <a:off x="8113272" y="4222501"/>
            <a:ext cx="3689602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DDDDDD"/>
                </a:solidFill>
              </a:defRPr>
            </a:lvl1pPr>
          </a:lstStyle>
          <a:p>
            <a:r>
              <a:rPr>
                <a:latin typeface="나눔스퀘어"/>
              </a:rPr>
              <a:t>Input:</a:t>
            </a:r>
          </a:p>
        </p:txBody>
      </p:sp>
      <p:sp>
        <p:nvSpPr>
          <p:cNvPr id="104" name="TextBox 46"/>
          <p:cNvSpPr txBox="1"/>
          <p:nvPr/>
        </p:nvSpPr>
        <p:spPr>
          <a:xfrm>
            <a:off x="8096339" y="4456163"/>
            <a:ext cx="3689602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DDDDDD"/>
                </a:solidFill>
              </a:defRPr>
            </a:pPr>
            <a:r>
              <a:rPr>
                <a:latin typeface="나눔스퀘어"/>
              </a:rPr>
              <a:t>[</a:t>
            </a:r>
            <a:r>
              <a:rPr>
                <a:latin typeface="나눔스퀘어"/>
                <a:sym typeface="Helvetica"/>
              </a:rPr>
              <a:t>참고 법률 원문</a:t>
            </a:r>
            <a:r>
              <a:rPr>
                <a:latin typeface="나눔스퀘어"/>
              </a:rPr>
              <a:t>]: {</a:t>
            </a:r>
            <a:r>
              <a:rPr>
                <a:latin typeface="나눔스퀘어"/>
                <a:sym typeface="Helvetica"/>
              </a:rPr>
              <a:t>원문 텍스트</a:t>
            </a:r>
            <a:r>
              <a:rPr>
                <a:latin typeface="나눔스퀘어"/>
              </a:rPr>
              <a:t>}</a:t>
            </a:r>
          </a:p>
        </p:txBody>
      </p:sp>
      <p:sp>
        <p:nvSpPr>
          <p:cNvPr id="105" name="TextBox 47"/>
          <p:cNvSpPr txBox="1"/>
          <p:nvPr/>
        </p:nvSpPr>
        <p:spPr>
          <a:xfrm>
            <a:off x="8113272" y="4774578"/>
            <a:ext cx="3689602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latin typeface="나눔스퀘어"/>
              </a:rPr>
              <a:t>질문</a:t>
            </a:r>
            <a:r>
              <a:rPr>
                <a:latin typeface="나눔스퀘어"/>
                <a:ea typeface="+mj-ea"/>
                <a:cs typeface="+mj-cs"/>
                <a:sym typeface="Calibri"/>
              </a:rPr>
              <a:t>: {</a:t>
            </a:r>
            <a:r>
              <a:rPr>
                <a:latin typeface="나눔스퀘어"/>
              </a:rPr>
              <a:t>질문 텍스트</a:t>
            </a:r>
            <a:r>
              <a:rPr>
                <a:latin typeface="나눔스퀘어"/>
                <a:ea typeface="+mj-ea"/>
                <a:cs typeface="+mj-cs"/>
                <a:sym typeface="Calibri"/>
              </a:rPr>
              <a:t>}</a:t>
            </a:r>
          </a:p>
        </p:txBody>
      </p:sp>
      <p:sp>
        <p:nvSpPr>
          <p:cNvPr id="106" name="TextBox 48"/>
          <p:cNvSpPr txBox="1"/>
          <p:nvPr/>
        </p:nvSpPr>
        <p:spPr>
          <a:xfrm>
            <a:off x="8096339" y="5051251"/>
            <a:ext cx="3689602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DDDDDD"/>
                </a:solidFill>
              </a:defRPr>
            </a:lvl1pPr>
          </a:lstStyle>
          <a:p>
            <a:r>
              <a:rPr>
                <a:latin typeface="나눔스퀘어"/>
              </a:rPr>
              <a:t>&lt;end_of_turn&gt;</a:t>
            </a:r>
          </a:p>
        </p:txBody>
      </p:sp>
      <p:sp>
        <p:nvSpPr>
          <p:cNvPr id="107" name="TextBox 49"/>
          <p:cNvSpPr txBox="1"/>
          <p:nvPr/>
        </p:nvSpPr>
        <p:spPr>
          <a:xfrm>
            <a:off x="8096339" y="5307043"/>
            <a:ext cx="3689602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DDDDDD"/>
                </a:solidFill>
              </a:defRPr>
            </a:lvl1pPr>
          </a:lstStyle>
          <a:p>
            <a:r>
              <a:rPr>
                <a:latin typeface="나눔스퀘어"/>
              </a:rPr>
              <a:t>&lt;start_of_turn&gt;model</a:t>
            </a:r>
          </a:p>
        </p:txBody>
      </p:sp>
      <p:sp>
        <p:nvSpPr>
          <p:cNvPr id="108" name="TextBox 50"/>
          <p:cNvSpPr txBox="1"/>
          <p:nvPr/>
        </p:nvSpPr>
        <p:spPr>
          <a:xfrm>
            <a:off x="8073280" y="5602968"/>
            <a:ext cx="3689602" cy="283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FFFFFF"/>
                </a:solidFill>
              </a:defRPr>
            </a:pPr>
            <a:r>
              <a:rPr>
                <a:latin typeface="나눔스퀘어"/>
              </a:rPr>
              <a:t>{</a:t>
            </a:r>
            <a:r>
              <a:rPr>
                <a:latin typeface="나눔스퀘어"/>
                <a:sym typeface="Helvetica"/>
              </a:rPr>
              <a:t>정답 텍스트</a:t>
            </a:r>
            <a:r>
              <a:rPr>
                <a:latin typeface="나눔스퀘어"/>
              </a:rPr>
              <a:t>}  &lt;end_of_turn&gt;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모서리가 둥근 직사각형"/>
          <p:cNvSpPr/>
          <p:nvPr/>
        </p:nvSpPr>
        <p:spPr>
          <a:xfrm>
            <a:off x="4373646" y="1246816"/>
            <a:ext cx="7774134" cy="4364368"/>
          </a:xfrm>
          <a:prstGeom prst="roundRect">
            <a:avLst>
              <a:gd name="adj" fmla="val 7917"/>
            </a:avLst>
          </a:prstGeom>
          <a:solidFill>
            <a:schemeClr val="accent1">
              <a:lumMod val="60000"/>
              <a:lumOff val="40000"/>
              <a:alpha val="64249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3" name="Text 1"/>
          <p:cNvSpPr txBox="1"/>
          <p:nvPr/>
        </p:nvSpPr>
        <p:spPr>
          <a:xfrm>
            <a:off x="487678" y="552302"/>
            <a:ext cx="8534402" cy="392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19200">
              <a:defRPr sz="32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55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Rag용</a:t>
            </a:r>
            <a:r>
              <a:rPr sz="255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fine-tuning Ragas </a:t>
            </a:r>
            <a:r>
              <a:rPr sz="255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평가</a:t>
            </a:r>
            <a:endParaRPr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14" name="붙여넣은 동영상.png" descr="붙여넣은 동영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592" y="1349583"/>
            <a:ext cx="7490243" cy="5461638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15" name="표 1"/>
          <p:cNvGraphicFramePr/>
          <p:nvPr>
            <p:extLst>
              <p:ext uri="{D42A27DB-BD31-4B8C-83A1-F6EECF244321}">
                <p14:modId xmlns:p14="http://schemas.microsoft.com/office/powerpoint/2010/main" val="837658108"/>
              </p:ext>
            </p:extLst>
          </p:nvPr>
        </p:nvGraphicFramePr>
        <p:xfrm>
          <a:off x="255591" y="1445864"/>
          <a:ext cx="3989511" cy="3966267"/>
        </p:xfrm>
        <a:graphic>
          <a:graphicData uri="http://schemas.openxmlformats.org/drawingml/2006/table">
            <a:tbl>
              <a:tblPr bandRow="1"/>
              <a:tblGrid>
                <a:gridCol w="1376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938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볼드체"/>
                          <a:sym typeface="Apple SD 산돌고딕 Neo 볼드체"/>
                        </a:rPr>
                        <a:t>지표</a:t>
                      </a:r>
                      <a:endParaRPr sz="1100" dirty="0">
                        <a:solidFill>
                          <a:schemeClr val="bg1">
                            <a:lumMod val="95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pple SD 산돌고딕 Neo 볼드체"/>
                        <a:sym typeface="Apple SD 산돌고딕 Neo 볼드체"/>
                      </a:endParaRP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볼드체"/>
                          <a:sym typeface="Apple SD 산돌고딕 Neo 볼드체"/>
                        </a:rPr>
                        <a:t>비교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볼드체"/>
                          <a:sym typeface="Apple SD 산돌고딕 Neo 볼드체"/>
                        </a:rPr>
                        <a:t>측정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654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AnswerRelevancy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생성된 답변 </a:t>
                      </a:r>
                    </a:p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vs </a:t>
                      </a:r>
                    </a:p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질문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답변이 질문에 맞는가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8367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AnswerCorrectness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생성된</a:t>
                      </a:r>
                      <a:r>
                        <a:rPr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답변</a:t>
                      </a:r>
                      <a:r>
                        <a:rPr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</a:p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vs </a:t>
                      </a:r>
                    </a:p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정답</a:t>
                      </a:r>
                      <a:endParaRPr dirty="0">
                        <a:solidFill>
                          <a:schemeClr val="bg1">
                            <a:lumMod val="95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정답과 얼마나 일치하는가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654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Faithfulness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생성된 답변 </a:t>
                      </a:r>
                    </a:p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vs </a:t>
                      </a:r>
                    </a:p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컨텍스트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답변이 원문에 근거하는가 </a:t>
                      </a:r>
                    </a:p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(환각 측정)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654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거절률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생성된 답변 </a:t>
                      </a:r>
                    </a:p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vs </a:t>
                      </a:r>
                    </a:p>
                    <a:p>
                      <a:pPr algn="ctr" defTabSz="609600">
                        <a:defRPr sz="1100"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거절 정답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거절을</a:t>
                      </a:r>
                      <a:r>
                        <a:rPr sz="11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 </a:t>
                      </a:r>
                      <a:r>
                        <a:rPr sz="11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얼마나</a:t>
                      </a:r>
                      <a:r>
                        <a:rPr sz="11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 </a:t>
                      </a:r>
                      <a:r>
                        <a:rPr sz="1100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pple SD 산돌고딕 Neo 일반체"/>
                          <a:sym typeface="Apple SD 산돌고딕 Neo 일반체"/>
                        </a:rPr>
                        <a:t>잘하는지</a:t>
                      </a:r>
                      <a:endParaRPr sz="1100" dirty="0">
                        <a:solidFill>
                          <a:schemeClr val="bg1">
                            <a:lumMod val="95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pple SD 산돌고딕 Neo 일반체"/>
                        <a:sym typeface="Apple SD 산돌고딕 Neo 일반체"/>
                      </a:endParaRP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모서리가 둥근 직사각형"/>
          <p:cNvSpPr/>
          <p:nvPr/>
        </p:nvSpPr>
        <p:spPr>
          <a:xfrm>
            <a:off x="7852208" y="1342339"/>
            <a:ext cx="3977679" cy="5175623"/>
          </a:xfrm>
          <a:prstGeom prst="roundRect">
            <a:avLst>
              <a:gd name="adj" fmla="val 13518"/>
            </a:avLst>
          </a:prstGeom>
          <a:solidFill>
            <a:srgbClr val="231F3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231F32"/>
                </a:solidFill>
              </a:defRPr>
            </a:pPr>
            <a:endParaRPr/>
          </a:p>
        </p:txBody>
      </p:sp>
      <p:sp>
        <p:nvSpPr>
          <p:cNvPr id="120" name="모서리가 둥근 직사각형"/>
          <p:cNvSpPr/>
          <p:nvPr/>
        </p:nvSpPr>
        <p:spPr>
          <a:xfrm>
            <a:off x="4122490" y="1342339"/>
            <a:ext cx="3584559" cy="5175623"/>
          </a:xfrm>
          <a:prstGeom prst="roundRect">
            <a:avLst>
              <a:gd name="adj" fmla="val 15000"/>
            </a:avLst>
          </a:prstGeom>
          <a:solidFill>
            <a:srgbClr val="231F3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231F32"/>
                </a:solidFill>
              </a:defRPr>
            </a:pPr>
            <a:endParaRPr/>
          </a:p>
        </p:txBody>
      </p:sp>
      <p:sp>
        <p:nvSpPr>
          <p:cNvPr id="121" name="모서리가 둥근 직사각형"/>
          <p:cNvSpPr/>
          <p:nvPr/>
        </p:nvSpPr>
        <p:spPr>
          <a:xfrm>
            <a:off x="392773" y="1342339"/>
            <a:ext cx="3584559" cy="5175623"/>
          </a:xfrm>
          <a:prstGeom prst="roundRect">
            <a:avLst>
              <a:gd name="adj" fmla="val 15000"/>
            </a:avLst>
          </a:prstGeom>
          <a:solidFill>
            <a:srgbClr val="231F3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231F32"/>
                </a:solidFill>
              </a:defRPr>
            </a:pPr>
            <a:endParaRPr/>
          </a:p>
        </p:txBody>
      </p:sp>
      <p:sp>
        <p:nvSpPr>
          <p:cNvPr id="122" name="Text 1"/>
          <p:cNvSpPr txBox="1"/>
          <p:nvPr/>
        </p:nvSpPr>
        <p:spPr>
          <a:xfrm>
            <a:off x="611406" y="622314"/>
            <a:ext cx="8534403" cy="392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19200">
              <a:defRPr sz="30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55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카테고리용</a:t>
            </a:r>
            <a:r>
              <a:rPr sz="255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LLM fine-tuning</a:t>
            </a:r>
          </a:p>
        </p:txBody>
      </p:sp>
      <p:sp>
        <p:nvSpPr>
          <p:cNvPr id="123" name="TextBox 6"/>
          <p:cNvSpPr txBox="1"/>
          <p:nvPr/>
        </p:nvSpPr>
        <p:spPr>
          <a:xfrm>
            <a:off x="596816" y="1877618"/>
            <a:ext cx="3136374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C4B5F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1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</a:t>
            </a:r>
            <a:r>
              <a:rPr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개요</a:t>
            </a:r>
            <a:endParaRPr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4" name="TextBox 7"/>
          <p:cNvSpPr txBox="1"/>
          <p:nvPr/>
        </p:nvSpPr>
        <p:spPr>
          <a:xfrm>
            <a:off x="681038" y="2367478"/>
            <a:ext cx="1475942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94A3B8"/>
                </a:solidFill>
              </a:defRPr>
            </a:pPr>
            <a:r>
              <a:rPr dirty="0">
                <a:latin typeface="나눔스퀘어"/>
              </a:rPr>
              <a:t>• </a:t>
            </a:r>
            <a:r>
              <a:rPr dirty="0" err="1">
                <a:latin typeface="나눔스퀘어"/>
                <a:sym typeface="Helvetica"/>
              </a:rPr>
              <a:t>베이스</a:t>
            </a:r>
            <a:r>
              <a:rPr dirty="0">
                <a:latin typeface="나눔스퀘어"/>
                <a:sym typeface="Helvetica"/>
              </a:rPr>
              <a:t> </a:t>
            </a:r>
            <a:r>
              <a:rPr dirty="0" err="1">
                <a:latin typeface="나눔스퀘어"/>
                <a:sym typeface="Helvetica"/>
              </a:rPr>
              <a:t>모델</a:t>
            </a:r>
            <a:endParaRPr dirty="0">
              <a:latin typeface="나눔스퀘어"/>
              <a:sym typeface="Helvetica"/>
            </a:endParaRPr>
          </a:p>
        </p:txBody>
      </p:sp>
      <p:sp>
        <p:nvSpPr>
          <p:cNvPr id="125" name="TextBox 8"/>
          <p:cNvSpPr txBox="1"/>
          <p:nvPr/>
        </p:nvSpPr>
        <p:spPr>
          <a:xfrm>
            <a:off x="1925375" y="2367478"/>
            <a:ext cx="1614311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rtzr/ko-gemma-2-9b-it</a:t>
            </a:r>
          </a:p>
        </p:txBody>
      </p:sp>
      <p:sp>
        <p:nvSpPr>
          <p:cNvPr id="126" name="TextBox 9"/>
          <p:cNvSpPr txBox="1"/>
          <p:nvPr/>
        </p:nvSpPr>
        <p:spPr>
          <a:xfrm>
            <a:off x="681038" y="2946406"/>
            <a:ext cx="1475942" cy="283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학습 방식</a:t>
            </a:r>
          </a:p>
        </p:txBody>
      </p:sp>
      <p:sp>
        <p:nvSpPr>
          <p:cNvPr id="127" name="TextBox 10"/>
          <p:cNvSpPr txBox="1"/>
          <p:nvPr/>
        </p:nvSpPr>
        <p:spPr>
          <a:xfrm>
            <a:off x="1925375" y="2946406"/>
            <a:ext cx="1614311" cy="430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 b="1">
                <a:solidFill>
                  <a:srgbClr val="FFFFFF"/>
                </a:solidFill>
              </a:defRPr>
            </a:pPr>
            <a:r>
              <a:rPr>
                <a:latin typeface="나눔스퀘어"/>
              </a:rPr>
              <a:t>QLoRA (4-bit NF4 </a:t>
            </a:r>
            <a:r>
              <a:rPr>
                <a:latin typeface="나눔스퀘어"/>
                <a:sym typeface="Helvetica"/>
              </a:rPr>
              <a:t>양자화</a:t>
            </a:r>
            <a:r>
              <a:rPr>
                <a:latin typeface="나눔스퀘어"/>
              </a:rPr>
              <a:t>)</a:t>
            </a:r>
          </a:p>
        </p:txBody>
      </p:sp>
      <p:sp>
        <p:nvSpPr>
          <p:cNvPr id="128" name="TextBox 11"/>
          <p:cNvSpPr txBox="1"/>
          <p:nvPr/>
        </p:nvSpPr>
        <p:spPr>
          <a:xfrm>
            <a:off x="681038" y="3525333"/>
            <a:ext cx="1475942" cy="274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데이터</a:t>
            </a:r>
          </a:p>
        </p:txBody>
      </p:sp>
      <p:sp>
        <p:nvSpPr>
          <p:cNvPr id="129" name="TextBox 12"/>
          <p:cNvSpPr txBox="1"/>
          <p:nvPr/>
        </p:nvSpPr>
        <p:spPr>
          <a:xfrm>
            <a:off x="1925376" y="3525333"/>
            <a:ext cx="1870981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latin typeface="나눔스퀘어"/>
              </a:rPr>
              <a:t>법률 문서 5천건 </a:t>
            </a:r>
            <a:r>
              <a:rPr>
                <a:latin typeface="나눔스퀘어"/>
                <a:ea typeface="+mj-ea"/>
                <a:cs typeface="+mj-cs"/>
                <a:sym typeface="Calibri"/>
              </a:rPr>
              <a:t>(</a:t>
            </a:r>
            <a:r>
              <a:rPr>
                <a:latin typeface="나눔스퀘어"/>
              </a:rPr>
              <a:t>분류 레이블</a:t>
            </a:r>
            <a:r>
              <a:rPr>
                <a:latin typeface="나눔스퀘어"/>
                <a:ea typeface="+mj-ea"/>
                <a:cs typeface="+mj-cs"/>
                <a:sym typeface="Calibri"/>
              </a:rPr>
              <a:t>)</a:t>
            </a:r>
          </a:p>
        </p:txBody>
      </p:sp>
      <p:sp>
        <p:nvSpPr>
          <p:cNvPr id="130" name="TextBox 13"/>
          <p:cNvSpPr txBox="1"/>
          <p:nvPr/>
        </p:nvSpPr>
        <p:spPr>
          <a:xfrm>
            <a:off x="681038" y="4104261"/>
            <a:ext cx="1475942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학습 에폭</a:t>
            </a:r>
          </a:p>
        </p:txBody>
      </p:sp>
      <p:sp>
        <p:nvSpPr>
          <p:cNvPr id="131" name="TextBox 14"/>
          <p:cNvSpPr txBox="1"/>
          <p:nvPr/>
        </p:nvSpPr>
        <p:spPr>
          <a:xfrm>
            <a:off x="1925375" y="4104261"/>
            <a:ext cx="1614311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2 epochs</a:t>
            </a:r>
          </a:p>
        </p:txBody>
      </p:sp>
      <p:sp>
        <p:nvSpPr>
          <p:cNvPr id="132" name="TextBox 15"/>
          <p:cNvSpPr txBox="1"/>
          <p:nvPr/>
        </p:nvSpPr>
        <p:spPr>
          <a:xfrm>
            <a:off x="681038" y="4683188"/>
            <a:ext cx="1475942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최대 길이</a:t>
            </a:r>
          </a:p>
        </p:txBody>
      </p:sp>
      <p:sp>
        <p:nvSpPr>
          <p:cNvPr id="133" name="TextBox 16"/>
          <p:cNvSpPr txBox="1"/>
          <p:nvPr/>
        </p:nvSpPr>
        <p:spPr>
          <a:xfrm>
            <a:off x="1925375" y="4683188"/>
            <a:ext cx="1614311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1,024 tokens</a:t>
            </a:r>
          </a:p>
        </p:txBody>
      </p:sp>
      <p:sp>
        <p:nvSpPr>
          <p:cNvPr id="134" name="TextBox 17"/>
          <p:cNvSpPr txBox="1"/>
          <p:nvPr/>
        </p:nvSpPr>
        <p:spPr>
          <a:xfrm>
            <a:off x="681038" y="5262115"/>
            <a:ext cx="1475942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94A3B8"/>
                </a:solidFill>
              </a:defRPr>
            </a:pPr>
            <a:r>
              <a:rPr>
                <a:latin typeface="나눔스퀘어"/>
              </a:rPr>
              <a:t>• </a:t>
            </a:r>
            <a:r>
              <a:rPr>
                <a:latin typeface="나눔스퀘어"/>
                <a:sym typeface="Helvetica"/>
              </a:rPr>
              <a:t>학습 환경</a:t>
            </a:r>
          </a:p>
        </p:txBody>
      </p:sp>
      <p:sp>
        <p:nvSpPr>
          <p:cNvPr id="135" name="TextBox 18"/>
          <p:cNvSpPr txBox="1"/>
          <p:nvPr/>
        </p:nvSpPr>
        <p:spPr>
          <a:xfrm>
            <a:off x="1925375" y="5262115"/>
            <a:ext cx="1614311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Kaggle (GPU)</a:t>
            </a:r>
          </a:p>
        </p:txBody>
      </p:sp>
      <p:sp>
        <p:nvSpPr>
          <p:cNvPr id="136" name="TextBox 20"/>
          <p:cNvSpPr txBox="1"/>
          <p:nvPr/>
        </p:nvSpPr>
        <p:spPr>
          <a:xfrm>
            <a:off x="4274137" y="1877618"/>
            <a:ext cx="3136374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 b="1">
                <a:solidFill>
                  <a:srgbClr val="C4B5FD"/>
                </a:solidFill>
              </a:defRPr>
            </a:pPr>
            <a:r>
              <a:rPr sz="1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LoRA</a:t>
            </a:r>
            <a:r>
              <a:rPr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sym typeface="Helvetica"/>
              </a:rPr>
              <a:t>하이퍼파라미터</a:t>
            </a:r>
            <a:endParaRPr sz="1200" dirty="0">
              <a:latin typeface="나눔스퀘어 Bold" panose="020B0600000101010101" pitchFamily="50" charset="-127"/>
              <a:ea typeface="나눔스퀘어 Bold" panose="020B0600000101010101" pitchFamily="50" charset="-127"/>
              <a:sym typeface="Helvetica"/>
            </a:endParaRPr>
          </a:p>
        </p:txBody>
      </p:sp>
      <p:sp>
        <p:nvSpPr>
          <p:cNvPr id="137" name="TextBox 21"/>
          <p:cNvSpPr txBox="1"/>
          <p:nvPr/>
        </p:nvSpPr>
        <p:spPr>
          <a:xfrm>
            <a:off x="4444084" y="2367478"/>
            <a:ext cx="1568189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Rank (r)</a:t>
            </a:r>
          </a:p>
        </p:txBody>
      </p:sp>
      <p:sp>
        <p:nvSpPr>
          <p:cNvPr id="138" name="TextBox 22"/>
          <p:cNvSpPr txBox="1"/>
          <p:nvPr/>
        </p:nvSpPr>
        <p:spPr>
          <a:xfrm>
            <a:off x="5854953" y="2367478"/>
            <a:ext cx="142562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16</a:t>
            </a:r>
          </a:p>
        </p:txBody>
      </p:sp>
      <p:sp>
        <p:nvSpPr>
          <p:cNvPr id="139" name="TextBox 23"/>
          <p:cNvSpPr txBox="1"/>
          <p:nvPr/>
        </p:nvSpPr>
        <p:spPr>
          <a:xfrm>
            <a:off x="4444084" y="2946406"/>
            <a:ext cx="1568189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Alpha</a:t>
            </a:r>
          </a:p>
        </p:txBody>
      </p:sp>
      <p:sp>
        <p:nvSpPr>
          <p:cNvPr id="140" name="TextBox 24"/>
          <p:cNvSpPr txBox="1"/>
          <p:nvPr/>
        </p:nvSpPr>
        <p:spPr>
          <a:xfrm>
            <a:off x="5854953" y="2946406"/>
            <a:ext cx="142562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16</a:t>
            </a:r>
          </a:p>
        </p:txBody>
      </p:sp>
      <p:sp>
        <p:nvSpPr>
          <p:cNvPr id="141" name="TextBox 25"/>
          <p:cNvSpPr txBox="1"/>
          <p:nvPr/>
        </p:nvSpPr>
        <p:spPr>
          <a:xfrm>
            <a:off x="4444084" y="3525333"/>
            <a:ext cx="1568189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Dropout</a:t>
            </a:r>
          </a:p>
        </p:txBody>
      </p:sp>
      <p:sp>
        <p:nvSpPr>
          <p:cNvPr id="142" name="TextBox 26"/>
          <p:cNvSpPr txBox="1"/>
          <p:nvPr/>
        </p:nvSpPr>
        <p:spPr>
          <a:xfrm>
            <a:off x="5854953" y="3525333"/>
            <a:ext cx="142562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0</a:t>
            </a:r>
          </a:p>
        </p:txBody>
      </p:sp>
      <p:sp>
        <p:nvSpPr>
          <p:cNvPr id="143" name="TextBox 27"/>
          <p:cNvSpPr txBox="1"/>
          <p:nvPr/>
        </p:nvSpPr>
        <p:spPr>
          <a:xfrm>
            <a:off x="4444084" y="4104261"/>
            <a:ext cx="1568189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Learning Rate</a:t>
            </a:r>
          </a:p>
        </p:txBody>
      </p:sp>
      <p:sp>
        <p:nvSpPr>
          <p:cNvPr id="144" name="TextBox 28"/>
          <p:cNvSpPr txBox="1"/>
          <p:nvPr/>
        </p:nvSpPr>
        <p:spPr>
          <a:xfrm>
            <a:off x="5854953" y="4104261"/>
            <a:ext cx="142562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2e-4</a:t>
            </a:r>
          </a:p>
        </p:txBody>
      </p:sp>
      <p:sp>
        <p:nvSpPr>
          <p:cNvPr id="145" name="TextBox 29"/>
          <p:cNvSpPr txBox="1"/>
          <p:nvPr/>
        </p:nvSpPr>
        <p:spPr>
          <a:xfrm>
            <a:off x="4444084" y="4683188"/>
            <a:ext cx="1568189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Batch Size</a:t>
            </a:r>
          </a:p>
        </p:txBody>
      </p:sp>
      <p:sp>
        <p:nvSpPr>
          <p:cNvPr id="146" name="TextBox 30"/>
          <p:cNvSpPr txBox="1"/>
          <p:nvPr/>
        </p:nvSpPr>
        <p:spPr>
          <a:xfrm>
            <a:off x="5854953" y="4683188"/>
            <a:ext cx="142562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1 (grad_accum × 16)</a:t>
            </a:r>
          </a:p>
        </p:txBody>
      </p:sp>
      <p:sp>
        <p:nvSpPr>
          <p:cNvPr id="147" name="TextBox 31"/>
          <p:cNvSpPr txBox="1"/>
          <p:nvPr/>
        </p:nvSpPr>
        <p:spPr>
          <a:xfrm>
            <a:off x="4444084" y="5262115"/>
            <a:ext cx="1568189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Optimizer</a:t>
            </a:r>
          </a:p>
        </p:txBody>
      </p:sp>
      <p:sp>
        <p:nvSpPr>
          <p:cNvPr id="148" name="TextBox 32"/>
          <p:cNvSpPr txBox="1"/>
          <p:nvPr/>
        </p:nvSpPr>
        <p:spPr>
          <a:xfrm>
            <a:off x="5854953" y="5262115"/>
            <a:ext cx="142562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나눔스퀘어"/>
              </a:rPr>
              <a:t>AdamW 8-bit</a:t>
            </a:r>
          </a:p>
        </p:txBody>
      </p:sp>
      <p:sp>
        <p:nvSpPr>
          <p:cNvPr id="149" name="TextBox 33"/>
          <p:cNvSpPr txBox="1"/>
          <p:nvPr/>
        </p:nvSpPr>
        <p:spPr>
          <a:xfrm>
            <a:off x="4444084" y="5841042"/>
            <a:ext cx="1568189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94A3B8"/>
                </a:solidFill>
              </a:defRPr>
            </a:lvl1pPr>
          </a:lstStyle>
          <a:p>
            <a:r>
              <a:rPr>
                <a:latin typeface="나눔스퀘어"/>
              </a:rPr>
              <a:t>• Target Modules</a:t>
            </a:r>
          </a:p>
        </p:txBody>
      </p:sp>
      <p:sp>
        <p:nvSpPr>
          <p:cNvPr id="150" name="TextBox 34"/>
          <p:cNvSpPr txBox="1"/>
          <p:nvPr/>
        </p:nvSpPr>
        <p:spPr>
          <a:xfrm>
            <a:off x="5854953" y="5841042"/>
            <a:ext cx="1568189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0958" tIns="60958" rIns="60958" bIns="60958">
            <a:spAutoFit/>
          </a:bodyPr>
          <a:lstStyle>
            <a:lvl1pPr defTabSz="609600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>
                <a:latin typeface="나눔스퀘어"/>
              </a:rPr>
              <a:t>q/k/v/o/gate/up/down</a:t>
            </a:r>
          </a:p>
        </p:txBody>
      </p:sp>
      <p:sp>
        <p:nvSpPr>
          <p:cNvPr id="151" name="TextBox 36"/>
          <p:cNvSpPr txBox="1"/>
          <p:nvPr/>
        </p:nvSpPr>
        <p:spPr>
          <a:xfrm>
            <a:off x="8056233" y="1877618"/>
            <a:ext cx="3689850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C4B5F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프롬프트 구조</a:t>
            </a:r>
          </a:p>
        </p:txBody>
      </p:sp>
      <p:sp>
        <p:nvSpPr>
          <p:cNvPr id="152" name="TextBox 37"/>
          <p:cNvSpPr txBox="1"/>
          <p:nvPr/>
        </p:nvSpPr>
        <p:spPr>
          <a:xfrm>
            <a:off x="8056233" y="2322946"/>
            <a:ext cx="3689850" cy="278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200">
                <a:solidFill>
                  <a:srgbClr val="DDDDDD"/>
                </a:solidFill>
              </a:defRPr>
            </a:lvl1pPr>
          </a:lstStyle>
          <a:p>
            <a:r>
              <a:rPr dirty="0"/>
              <a:t>&lt;</a:t>
            </a:r>
            <a:r>
              <a:rPr dirty="0" err="1"/>
              <a:t>start_of_turn</a:t>
            </a:r>
            <a:r>
              <a:rPr dirty="0"/>
              <a:t>&gt;user</a:t>
            </a:r>
          </a:p>
        </p:txBody>
      </p:sp>
      <p:sp>
        <p:nvSpPr>
          <p:cNvPr id="153" name="TextBox 38"/>
          <p:cNvSpPr txBox="1"/>
          <p:nvPr/>
        </p:nvSpPr>
        <p:spPr>
          <a:xfrm>
            <a:off x="8056233" y="2576784"/>
            <a:ext cx="368985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 b="1">
                <a:solidFill>
                  <a:srgbClr val="388BFD"/>
                </a:solidFill>
              </a:defRPr>
            </a:lvl1pPr>
          </a:lstStyle>
          <a:p>
            <a:r>
              <a:rPr>
                <a:latin typeface="나눔스퀘어"/>
              </a:rPr>
              <a:t>[TASK: CLASSIFY]</a:t>
            </a:r>
          </a:p>
        </p:txBody>
      </p:sp>
      <p:sp>
        <p:nvSpPr>
          <p:cNvPr id="154" name="TextBox 39"/>
          <p:cNvSpPr txBox="1"/>
          <p:nvPr/>
        </p:nvSpPr>
        <p:spPr>
          <a:xfrm>
            <a:off x="8056233" y="2830621"/>
            <a:ext cx="3689850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DDDDDD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latin typeface="나눔스퀘어"/>
              </a:rPr>
              <a:t>아래 문서를 읽고 가장 가까운 카테고리 하나를 고르십시오</a:t>
            </a:r>
            <a:r>
              <a:rPr>
                <a:latin typeface="나눔스퀘어"/>
                <a:ea typeface="+mj-ea"/>
                <a:cs typeface="+mj-cs"/>
                <a:sym typeface="Calibri"/>
              </a:rPr>
              <a:t>.</a:t>
            </a:r>
          </a:p>
        </p:txBody>
      </p:sp>
      <p:sp>
        <p:nvSpPr>
          <p:cNvPr id="155" name="TextBox 41"/>
          <p:cNvSpPr txBox="1"/>
          <p:nvPr/>
        </p:nvSpPr>
        <p:spPr>
          <a:xfrm>
            <a:off x="8056233" y="3112824"/>
            <a:ext cx="3689850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DDDDDD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dirty="0" err="1">
                <a:latin typeface="나눔스퀘어"/>
              </a:rPr>
              <a:t>카테고리</a:t>
            </a:r>
            <a:r>
              <a:rPr dirty="0">
                <a:latin typeface="나눔스퀘어"/>
              </a:rPr>
              <a:t> </a:t>
            </a:r>
            <a:r>
              <a:rPr dirty="0" err="1">
                <a:latin typeface="나눔스퀘어"/>
              </a:rPr>
              <a:t>정의</a:t>
            </a:r>
            <a:r>
              <a:rPr dirty="0">
                <a:latin typeface="나눔스퀘어"/>
                <a:ea typeface="+mj-ea"/>
                <a:cs typeface="+mj-cs"/>
                <a:sym typeface="Calibri"/>
              </a:rPr>
              <a:t>:</a:t>
            </a:r>
          </a:p>
        </p:txBody>
      </p:sp>
      <p:sp>
        <p:nvSpPr>
          <p:cNvPr id="156" name="TextBox 42"/>
          <p:cNvSpPr txBox="1"/>
          <p:nvPr/>
        </p:nvSpPr>
        <p:spPr>
          <a:xfrm>
            <a:off x="8056233" y="3352546"/>
            <a:ext cx="3689850" cy="861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800">
                <a:solidFill>
                  <a:srgbClr val="DDDDDD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 err="1">
                <a:latin typeface="나눔스퀘어"/>
              </a:rPr>
              <a:t>민사법</a:t>
            </a:r>
            <a:r>
              <a:rPr dirty="0">
                <a:latin typeface="나눔스퀘어"/>
              </a:rPr>
              <a:t>: </a:t>
            </a:r>
            <a:r>
              <a:rPr dirty="0" err="1">
                <a:latin typeface="나눔스퀘어"/>
              </a:rPr>
              <a:t>계약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불법행위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손해배상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소유권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채권·채무</a:t>
            </a:r>
            <a:r>
              <a:rPr dirty="0">
                <a:latin typeface="나눔스퀘어"/>
              </a:rPr>
              <a:t> 등 </a:t>
            </a:r>
            <a:r>
              <a:rPr dirty="0" err="1">
                <a:latin typeface="나눔스퀘어"/>
              </a:rPr>
              <a:t>사인</a:t>
            </a:r>
            <a:r>
              <a:rPr dirty="0">
                <a:latin typeface="나눔스퀘어"/>
              </a:rPr>
              <a:t> 간 </a:t>
            </a:r>
            <a:r>
              <a:rPr dirty="0" err="1">
                <a:latin typeface="나눔스퀘어"/>
              </a:rPr>
              <a:t>법률관계</a:t>
            </a:r>
            <a:endParaRPr dirty="0">
              <a:solidFill>
                <a:srgbClr val="D7BA7D"/>
              </a:solidFill>
              <a:latin typeface="나눔스퀘어"/>
            </a:endParaRPr>
          </a:p>
          <a:p>
            <a:pPr defTabSz="609600">
              <a:defRPr sz="800">
                <a:solidFill>
                  <a:srgbClr val="DDDDDD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 err="1">
                <a:latin typeface="나눔스퀘어"/>
              </a:rPr>
              <a:t>행정법</a:t>
            </a:r>
            <a:r>
              <a:rPr dirty="0">
                <a:latin typeface="나눔스퀘어"/>
              </a:rPr>
              <a:t>: </a:t>
            </a:r>
            <a:r>
              <a:rPr dirty="0" err="1">
                <a:latin typeface="나눔스퀘어"/>
              </a:rPr>
              <a:t>행정처분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허가·인가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공공정책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정부사업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지원·보조금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공모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규제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법령·조례</a:t>
            </a:r>
            <a:endParaRPr dirty="0">
              <a:solidFill>
                <a:srgbClr val="BBBEBF"/>
              </a:solidFill>
              <a:latin typeface="나눔스퀘어"/>
            </a:endParaRPr>
          </a:p>
          <a:p>
            <a:pPr defTabSz="609600">
              <a:defRPr sz="800">
                <a:solidFill>
                  <a:srgbClr val="DDDDDD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 err="1">
                <a:latin typeface="나눔스퀘어"/>
              </a:rPr>
              <a:t>형사법</a:t>
            </a:r>
            <a:r>
              <a:rPr dirty="0">
                <a:latin typeface="나눔스퀘어"/>
              </a:rPr>
              <a:t>: </a:t>
            </a:r>
            <a:r>
              <a:rPr dirty="0" err="1">
                <a:latin typeface="나눔스퀘어"/>
              </a:rPr>
              <a:t>범죄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수사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기소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형사재판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형사처벌</a:t>
            </a:r>
            <a:r>
              <a:rPr dirty="0">
                <a:latin typeface="나눔스퀘어"/>
              </a:rPr>
              <a:t> </a:t>
            </a:r>
            <a:r>
              <a:rPr dirty="0" err="1">
                <a:latin typeface="나눔스퀘어"/>
              </a:rPr>
              <a:t>관련</a:t>
            </a:r>
            <a:endParaRPr dirty="0">
              <a:solidFill>
                <a:srgbClr val="BBBEBF"/>
              </a:solidFill>
              <a:latin typeface="나눔스퀘어"/>
            </a:endParaRPr>
          </a:p>
          <a:p>
            <a:pPr defTabSz="609600">
              <a:defRPr sz="800">
                <a:solidFill>
                  <a:srgbClr val="DDDDDD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 err="1">
                <a:latin typeface="나눔스퀘어"/>
              </a:rPr>
              <a:t>지식재산권법</a:t>
            </a:r>
            <a:r>
              <a:rPr dirty="0">
                <a:latin typeface="나눔스퀘어"/>
              </a:rPr>
              <a:t>: </a:t>
            </a:r>
            <a:r>
              <a:rPr dirty="0" err="1">
                <a:latin typeface="나눔스퀘어"/>
              </a:rPr>
              <a:t>특허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저작권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상표권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디자인권</a:t>
            </a:r>
            <a:r>
              <a:rPr dirty="0">
                <a:latin typeface="나눔스퀘어"/>
              </a:rPr>
              <a:t>, </a:t>
            </a:r>
            <a:r>
              <a:rPr dirty="0" err="1">
                <a:latin typeface="나눔스퀘어"/>
              </a:rPr>
              <a:t>영업비밀</a:t>
            </a:r>
            <a:endParaRPr dirty="0">
              <a:solidFill>
                <a:srgbClr val="BBBEBF"/>
              </a:solidFill>
              <a:latin typeface="나눔스퀘어"/>
            </a:endParaRPr>
          </a:p>
          <a:p>
            <a:pPr defTabSz="609600">
              <a:defRPr sz="800">
                <a:solidFill>
                  <a:srgbClr val="DDDDDD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 err="1">
                <a:latin typeface="나눔스퀘어"/>
              </a:rPr>
              <a:t>기타</a:t>
            </a:r>
            <a:r>
              <a:rPr dirty="0">
                <a:latin typeface="나눔스퀘어"/>
              </a:rPr>
              <a:t>: 위 4가지에 </a:t>
            </a:r>
            <a:r>
              <a:rPr dirty="0" err="1">
                <a:latin typeface="나눔스퀘어"/>
              </a:rPr>
              <a:t>해당하지</a:t>
            </a:r>
            <a:r>
              <a:rPr dirty="0">
                <a:latin typeface="나눔스퀘어"/>
              </a:rPr>
              <a:t> </a:t>
            </a:r>
            <a:r>
              <a:rPr dirty="0" err="1">
                <a:latin typeface="나눔스퀘어"/>
              </a:rPr>
              <a:t>않는</a:t>
            </a:r>
            <a:r>
              <a:rPr dirty="0">
                <a:latin typeface="나눔스퀘어"/>
              </a:rPr>
              <a:t> 그 외</a:t>
            </a:r>
          </a:p>
        </p:txBody>
      </p:sp>
      <p:sp>
        <p:nvSpPr>
          <p:cNvPr id="157" name="TextBox 47"/>
          <p:cNvSpPr txBox="1"/>
          <p:nvPr/>
        </p:nvSpPr>
        <p:spPr>
          <a:xfrm>
            <a:off x="8056233" y="4276161"/>
            <a:ext cx="3689850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DDDDDD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latin typeface="나눔스퀘어"/>
              </a:rPr>
              <a:t>출력</a:t>
            </a:r>
            <a:r>
              <a:rPr>
                <a:latin typeface="나눔스퀘어"/>
                <a:ea typeface="+mj-ea"/>
                <a:cs typeface="+mj-cs"/>
                <a:sym typeface="Calibri"/>
              </a:rPr>
              <a:t>: 5</a:t>
            </a:r>
            <a:r>
              <a:rPr>
                <a:latin typeface="나눔스퀘어"/>
              </a:rPr>
              <a:t>가지 중 하나만 출력</a:t>
            </a:r>
          </a:p>
        </p:txBody>
      </p:sp>
      <p:sp>
        <p:nvSpPr>
          <p:cNvPr id="158" name="TextBox 48"/>
          <p:cNvSpPr txBox="1"/>
          <p:nvPr/>
        </p:nvSpPr>
        <p:spPr>
          <a:xfrm>
            <a:off x="8056233" y="4601344"/>
            <a:ext cx="3689850" cy="28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DDDDDD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latin typeface="나눔스퀘어"/>
              </a:rPr>
              <a:t>원문</a:t>
            </a:r>
            <a:r>
              <a:rPr>
                <a:latin typeface="나눔스퀘어"/>
                <a:ea typeface="+mj-ea"/>
                <a:cs typeface="+mj-cs"/>
                <a:sym typeface="Calibri"/>
              </a:rPr>
              <a:t>: {</a:t>
            </a:r>
            <a:r>
              <a:rPr>
                <a:latin typeface="나눔스퀘어"/>
              </a:rPr>
              <a:t>법률 문서 텍스트</a:t>
            </a:r>
            <a:r>
              <a:rPr>
                <a:latin typeface="나눔스퀘어"/>
                <a:ea typeface="+mj-ea"/>
                <a:cs typeface="+mj-cs"/>
                <a:sym typeface="Calibri"/>
              </a:rPr>
              <a:t>}</a:t>
            </a:r>
          </a:p>
        </p:txBody>
      </p:sp>
      <p:sp>
        <p:nvSpPr>
          <p:cNvPr id="159" name="TextBox 49"/>
          <p:cNvSpPr txBox="1"/>
          <p:nvPr/>
        </p:nvSpPr>
        <p:spPr>
          <a:xfrm>
            <a:off x="8056233" y="4883993"/>
            <a:ext cx="368985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DDDDDD"/>
                </a:solidFill>
              </a:defRPr>
            </a:lvl1pPr>
          </a:lstStyle>
          <a:p>
            <a:r>
              <a:rPr>
                <a:latin typeface="나눔스퀘어"/>
              </a:rPr>
              <a:t>&lt;end_of_turn&gt;</a:t>
            </a:r>
          </a:p>
        </p:txBody>
      </p:sp>
      <p:sp>
        <p:nvSpPr>
          <p:cNvPr id="160" name="TextBox 50"/>
          <p:cNvSpPr txBox="1"/>
          <p:nvPr/>
        </p:nvSpPr>
        <p:spPr>
          <a:xfrm>
            <a:off x="8056233" y="5093396"/>
            <a:ext cx="368985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>
            <a:lvl1pPr defTabSz="609600">
              <a:defRPr sz="1000">
                <a:solidFill>
                  <a:srgbClr val="DDDDDD"/>
                </a:solidFill>
              </a:defRPr>
            </a:lvl1pPr>
          </a:lstStyle>
          <a:p>
            <a:r>
              <a:rPr>
                <a:latin typeface="나눔스퀘어"/>
              </a:rPr>
              <a:t>&lt;start_of_turn&gt;model</a:t>
            </a:r>
          </a:p>
        </p:txBody>
      </p:sp>
      <p:sp>
        <p:nvSpPr>
          <p:cNvPr id="161" name="TextBox 51"/>
          <p:cNvSpPr txBox="1"/>
          <p:nvPr/>
        </p:nvSpPr>
        <p:spPr>
          <a:xfrm>
            <a:off x="8056233" y="5404930"/>
            <a:ext cx="3689850" cy="274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>
            <a:spAutoFit/>
          </a:bodyPr>
          <a:lstStyle/>
          <a:p>
            <a:pPr defTabSz="609600">
              <a:defRPr sz="1000">
                <a:solidFill>
                  <a:srgbClr val="FFFFFF"/>
                </a:solidFill>
              </a:defRPr>
            </a:pPr>
            <a:r>
              <a:rPr>
                <a:latin typeface="나눔스퀘어"/>
              </a:rPr>
              <a:t>{</a:t>
            </a:r>
            <a:r>
              <a:rPr>
                <a:latin typeface="나눔스퀘어"/>
                <a:sym typeface="Helvetica"/>
              </a:rPr>
              <a:t>카테고리</a:t>
            </a:r>
            <a:r>
              <a:rPr>
                <a:latin typeface="나눔스퀘어"/>
              </a:rPr>
              <a:t>}  &lt;end_of_turn&gt;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1"/>
          <p:cNvSpPr txBox="1"/>
          <p:nvPr/>
        </p:nvSpPr>
        <p:spPr>
          <a:xfrm>
            <a:off x="487678" y="717546"/>
            <a:ext cx="853440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19200">
              <a:defRPr sz="30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카테고리용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LLM </a:t>
            </a:r>
            <a:r>
              <a:rPr sz="255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fine-tuning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Ragas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평가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aphicFrame>
        <p:nvGraphicFramePr>
          <p:cNvPr id="166" name="표 1"/>
          <p:cNvGraphicFramePr/>
          <p:nvPr>
            <p:extLst>
              <p:ext uri="{D42A27DB-BD31-4B8C-83A1-F6EECF244321}">
                <p14:modId xmlns:p14="http://schemas.microsoft.com/office/powerpoint/2010/main" val="899514051"/>
              </p:ext>
            </p:extLst>
          </p:nvPr>
        </p:nvGraphicFramePr>
        <p:xfrm>
          <a:off x="1941971" y="3146673"/>
          <a:ext cx="8521698" cy="2376316"/>
        </p:xfrm>
        <a:graphic>
          <a:graphicData uri="http://schemas.openxmlformats.org/drawingml/2006/table">
            <a:tbl>
              <a:tblPr bandRow="1"/>
              <a:tblGrid>
                <a:gridCol w="261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4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762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dirty="0" err="1">
                          <a:solidFill>
                            <a:srgbClr val="FFFFFF"/>
                          </a:solidFill>
                          <a:latin typeface="나눔스퀘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구분</a:t>
                      </a:r>
                      <a:endParaRPr sz="1300" dirty="0">
                        <a:solidFill>
                          <a:srgbClr val="FFFFFF"/>
                        </a:solidFill>
                        <a:latin typeface="나눔스퀘어"/>
                        <a:ea typeface="Apple SD 산돌고딕 Neo 볼드체"/>
                        <a:cs typeface="Apple SD 산돌고딕 Neo 볼드체"/>
                        <a:sym typeface="Apple SD 산돌고딕 Neo 볼드체"/>
                      </a:endParaRP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나눔스퀘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정확도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나눔스퀘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비율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96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Before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71/100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71.0%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96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After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73/100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73.0%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62"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변화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2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096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나눔스퀘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+2.0%p</a:t>
                      </a:r>
                    </a:p>
                  </a:txBody>
                  <a:tcPr marL="12700" marR="12700" marT="12700" marB="12700" anchor="ctr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23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7" name="카테고리용 LLM fine-tuning 평가 (테스트 데이터셋 100개)"/>
          <p:cNvSpPr txBox="1"/>
          <p:nvPr/>
        </p:nvSpPr>
        <p:spPr>
          <a:xfrm>
            <a:off x="5410406" y="2670138"/>
            <a:ext cx="5325716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8" tIns="60958" rIns="60958" bIns="60958" anchor="ctr">
            <a:spAutoFit/>
          </a:bodyPr>
          <a:lstStyle>
            <a:lvl1pPr algn="ctr" defTabSz="609600">
              <a:spcBef>
                <a:spcPts val="1600"/>
              </a:spcBef>
              <a:defRPr sz="1600">
                <a:solidFill>
                  <a:srgbClr val="A7A7A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카테고리용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LLM fine-tuning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평가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(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테스트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데이터셋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100개)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"/>
          <p:cNvSpPr/>
          <p:nvPr/>
        </p:nvSpPr>
        <p:spPr>
          <a:xfrm>
            <a:off x="392851" y="1729909"/>
            <a:ext cx="3616963" cy="4138769"/>
          </a:xfrm>
          <a:prstGeom prst="roundRect">
            <a:avLst>
              <a:gd name="adj" fmla="val 4387"/>
            </a:avLst>
          </a:prstGeom>
          <a:solidFill>
            <a:srgbClr val="231F32"/>
          </a:solidFill>
          <a:ln w="12700">
            <a:miter lim="400000"/>
          </a:ln>
          <a:effectLst>
            <a:outerShdw blurRad="101600" dist="25400" dir="2700000" rotWithShape="0">
              <a:srgbClr val="000000">
                <a:alpha val="12000"/>
              </a:srgbClr>
            </a:outerShdw>
          </a:effectLst>
        </p:spPr>
        <p:txBody>
          <a:bodyPr lIns="60958" tIns="60958" rIns="60958" bIns="60958"/>
          <a:lstStyle/>
          <a:p>
            <a:pPr defTabSz="1219200">
              <a:defRPr sz="2400">
                <a:solidFill>
                  <a:srgbClr val="231F32"/>
                </a:solidFill>
              </a:defRPr>
            </a:pPr>
            <a:endParaRPr/>
          </a:p>
        </p:txBody>
      </p:sp>
      <p:sp>
        <p:nvSpPr>
          <p:cNvPr id="173" name="o"/>
          <p:cNvSpPr/>
          <p:nvPr/>
        </p:nvSpPr>
        <p:spPr>
          <a:xfrm>
            <a:off x="575733" y="1912787"/>
            <a:ext cx="512065" cy="512068"/>
          </a:xfrm>
          <a:prstGeom prst="ellipse">
            <a:avLst/>
          </a:prstGeom>
          <a:solidFill>
            <a:srgbClr val="C4B5FD"/>
          </a:solidFill>
          <a:ln w="12700">
            <a:miter lim="400000"/>
          </a:ln>
        </p:spPr>
        <p:txBody>
          <a:bodyPr lIns="60958" tIns="60958" rIns="60958" bIns="60958"/>
          <a:lstStyle/>
          <a:p>
            <a:pPr defTabSz="1219200">
              <a:defRPr sz="2400"/>
            </a:pPr>
            <a:endParaRPr/>
          </a:p>
        </p:txBody>
      </p:sp>
      <p:sp>
        <p:nvSpPr>
          <p:cNvPr id="174" name="t"/>
          <p:cNvSpPr txBox="1"/>
          <p:nvPr/>
        </p:nvSpPr>
        <p:spPr>
          <a:xfrm>
            <a:off x="575733" y="2064244"/>
            <a:ext cx="512065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19200">
              <a:defRPr sz="1600" b="1">
                <a:solidFill>
                  <a:srgbClr val="FFFFFF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175" name="t"/>
          <p:cNvSpPr txBox="1"/>
          <p:nvPr/>
        </p:nvSpPr>
        <p:spPr>
          <a:xfrm>
            <a:off x="1209717" y="2060872"/>
            <a:ext cx="26172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19200">
              <a:defRPr sz="1400" b="1">
                <a:solidFill>
                  <a:srgbClr val="C4B5FD"/>
                </a:solidFill>
              </a:defRPr>
            </a:lvl1pPr>
          </a:lstStyle>
          <a:p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고도화</a:t>
            </a:r>
            <a:r>
              <a:rPr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(2B → 9B)</a:t>
            </a:r>
          </a:p>
        </p:txBody>
      </p:sp>
      <p:sp>
        <p:nvSpPr>
          <p:cNvPr id="176" name="t"/>
          <p:cNvSpPr txBox="1"/>
          <p:nvPr/>
        </p:nvSpPr>
        <p:spPr>
          <a:xfrm>
            <a:off x="616371" y="2558963"/>
            <a:ext cx="3169923" cy="1887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609600">
              <a:spcBef>
                <a:spcPts val="1600"/>
              </a:spcBef>
              <a:defRPr sz="1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dirty="0">
                <a:latin typeface="나눔스퀘어"/>
              </a:rPr>
              <a:t>Problem: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소형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모델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(2B)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사용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시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법률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문서의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복잡한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문맥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파악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및 ROUGE,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BERTScore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성능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증가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실패</a:t>
            </a:r>
            <a:endParaRPr dirty="0">
              <a:latin typeface="나눔스퀘어"/>
              <a:ea typeface="Apple SD 산돌고딕 Neo 일반체"/>
              <a:cs typeface="Apple SD 산돌고딕 Neo 일반체"/>
              <a:sym typeface="Apple SD 산돌고딕 Neo 일반체"/>
            </a:endParaRPr>
          </a:p>
          <a:p>
            <a:pPr defTabSz="609600">
              <a:spcBef>
                <a:spcPts val="1600"/>
              </a:spcBef>
              <a:defRPr sz="1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dirty="0">
                <a:latin typeface="나눔스퀘어"/>
              </a:rPr>
              <a:t>Action: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동일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아키텍처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상위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모델인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>
                <a:latin typeface="나눔스퀘어"/>
              </a:rPr>
              <a:t>Gemma-2-9B로 </a:t>
            </a:r>
            <a:r>
              <a:rPr dirty="0" err="1">
                <a:latin typeface="나눔스퀘어"/>
              </a:rPr>
              <a:t>전환</a:t>
            </a:r>
            <a:endParaRPr dirty="0">
              <a:latin typeface="나눔스퀘어"/>
            </a:endParaRPr>
          </a:p>
          <a:p>
            <a:pPr defTabSz="609600">
              <a:spcBef>
                <a:spcPts val="1600"/>
              </a:spcBef>
              <a:defRPr sz="1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dirty="0">
                <a:latin typeface="나눔스퀘어"/>
              </a:rPr>
              <a:t>Result: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법률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도메인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특화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응답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품질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및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모델의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문맥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이해도가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개선되었으며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,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베이스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모델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대비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성능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증가</a:t>
            </a:r>
            <a:endParaRPr dirty="0">
              <a:latin typeface="나눔스퀘어"/>
              <a:ea typeface="Apple SD 산돌고딕 Neo 일반체"/>
              <a:cs typeface="Apple SD 산돌고딕 Neo 일반체"/>
              <a:sym typeface="Apple SD 산돌고딕 Neo 일반체"/>
            </a:endParaRPr>
          </a:p>
        </p:txBody>
      </p:sp>
      <p:sp>
        <p:nvSpPr>
          <p:cNvPr id="177" name="r"/>
          <p:cNvSpPr/>
          <p:nvPr/>
        </p:nvSpPr>
        <p:spPr>
          <a:xfrm>
            <a:off x="4321385" y="1729909"/>
            <a:ext cx="3616962" cy="4138769"/>
          </a:xfrm>
          <a:prstGeom prst="roundRect">
            <a:avLst>
              <a:gd name="adj" fmla="val 4387"/>
            </a:avLst>
          </a:prstGeom>
          <a:solidFill>
            <a:srgbClr val="231F32"/>
          </a:solidFill>
          <a:ln w="12700">
            <a:miter lim="400000"/>
          </a:ln>
          <a:effectLst>
            <a:outerShdw blurRad="101600" dist="25400" dir="2700000" rotWithShape="0">
              <a:srgbClr val="000000">
                <a:alpha val="12000"/>
              </a:srgbClr>
            </a:outerShdw>
          </a:effectLst>
        </p:spPr>
        <p:txBody>
          <a:bodyPr lIns="60958" tIns="60958" rIns="60958" bIns="60958"/>
          <a:lstStyle/>
          <a:p>
            <a:pPr defTabSz="1219200">
              <a:defRPr sz="2400"/>
            </a:pPr>
            <a:endParaRPr/>
          </a:p>
        </p:txBody>
      </p:sp>
      <p:sp>
        <p:nvSpPr>
          <p:cNvPr id="178" name="o"/>
          <p:cNvSpPr/>
          <p:nvPr/>
        </p:nvSpPr>
        <p:spPr>
          <a:xfrm>
            <a:off x="4504266" y="1912787"/>
            <a:ext cx="512065" cy="512068"/>
          </a:xfrm>
          <a:prstGeom prst="ellipse">
            <a:avLst/>
          </a:prstGeom>
          <a:solidFill>
            <a:srgbClr val="C4B5FD"/>
          </a:solidFill>
          <a:ln w="12700">
            <a:miter lim="400000"/>
          </a:ln>
        </p:spPr>
        <p:txBody>
          <a:bodyPr lIns="60958" tIns="60958" rIns="60958" bIns="60958"/>
          <a:lstStyle/>
          <a:p>
            <a:pPr defTabSz="1219200">
              <a:defRPr sz="2400"/>
            </a:pPr>
            <a:endParaRPr/>
          </a:p>
        </p:txBody>
      </p:sp>
      <p:sp>
        <p:nvSpPr>
          <p:cNvPr id="179" name="t"/>
          <p:cNvSpPr txBox="1"/>
          <p:nvPr/>
        </p:nvSpPr>
        <p:spPr>
          <a:xfrm>
            <a:off x="4504266" y="2064244"/>
            <a:ext cx="512065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19200">
              <a:defRPr sz="1600" b="1">
                <a:solidFill>
                  <a:srgbClr val="FFFFFF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180" name="t"/>
          <p:cNvSpPr txBox="1"/>
          <p:nvPr/>
        </p:nvSpPr>
        <p:spPr>
          <a:xfrm>
            <a:off x="5138250" y="2060872"/>
            <a:ext cx="26172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19200">
              <a:defRPr sz="1400" b="1">
                <a:solidFill>
                  <a:srgbClr val="C4B5FD"/>
                </a:solidFill>
              </a:defRPr>
            </a:lvl1pPr>
          </a:lstStyle>
          <a:p>
            <a:r>
              <a:rPr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거절 학습</a:t>
            </a:r>
          </a:p>
        </p:txBody>
      </p:sp>
      <p:sp>
        <p:nvSpPr>
          <p:cNvPr id="181" name="t"/>
          <p:cNvSpPr txBox="1"/>
          <p:nvPr/>
        </p:nvSpPr>
        <p:spPr>
          <a:xfrm>
            <a:off x="4544905" y="2558963"/>
            <a:ext cx="3169923" cy="1703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609600">
              <a:spcBef>
                <a:spcPts val="2000"/>
              </a:spcBef>
              <a:defRPr sz="1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>
                <a:latin typeface="나눔스퀘어"/>
              </a:rPr>
              <a:t>Problem: LLM이 사전 지식 기반의 그럴듯한 답변(환각) 생성 문제.</a:t>
            </a:r>
          </a:p>
          <a:p>
            <a:pPr defTabSz="609600">
              <a:spcBef>
                <a:spcPts val="1600"/>
              </a:spcBef>
              <a:defRPr sz="1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>
                <a:latin typeface="나눔스퀘어"/>
              </a:rPr>
              <a:t>Action:</a:t>
            </a:r>
            <a:r>
              <a:rPr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실제 법률 원문 기반의 ‘</a:t>
            </a:r>
            <a:r>
              <a:rPr>
                <a:latin typeface="나눔스퀘어"/>
              </a:rPr>
              <a:t>Fake Data' 3,000건 생성 및 학습</a:t>
            </a:r>
            <a:r>
              <a:rPr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(답변 거절 데이터셋 강화).</a:t>
            </a:r>
          </a:p>
          <a:p>
            <a:pPr defTabSz="609600">
              <a:spcBef>
                <a:spcPts val="1600"/>
              </a:spcBef>
              <a:defRPr sz="1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>
                <a:latin typeface="나눔스퀘어"/>
              </a:rPr>
              <a:t>Result:</a:t>
            </a:r>
            <a:r>
              <a:rPr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근거 불충분 질문에 대한 답변 거부 능력 향상, 거절률 상승</a:t>
            </a:r>
          </a:p>
        </p:txBody>
      </p:sp>
      <p:sp>
        <p:nvSpPr>
          <p:cNvPr id="182" name="r"/>
          <p:cNvSpPr/>
          <p:nvPr/>
        </p:nvSpPr>
        <p:spPr>
          <a:xfrm>
            <a:off x="8363230" y="1729909"/>
            <a:ext cx="3616962" cy="4138769"/>
          </a:xfrm>
          <a:prstGeom prst="roundRect">
            <a:avLst>
              <a:gd name="adj" fmla="val 4387"/>
            </a:avLst>
          </a:prstGeom>
          <a:solidFill>
            <a:srgbClr val="231F32"/>
          </a:solidFill>
          <a:ln w="12700">
            <a:miter lim="400000"/>
          </a:ln>
          <a:effectLst>
            <a:outerShdw blurRad="101600" dist="25400" dir="2700000" rotWithShape="0">
              <a:srgbClr val="000000">
                <a:alpha val="12000"/>
              </a:srgbClr>
            </a:outerShdw>
          </a:effectLst>
        </p:spPr>
        <p:txBody>
          <a:bodyPr lIns="60958" tIns="60958" rIns="60958" bIns="60958"/>
          <a:lstStyle/>
          <a:p>
            <a:pPr defTabSz="1219200">
              <a:defRPr sz="2400"/>
            </a:pPr>
            <a:endParaRPr/>
          </a:p>
        </p:txBody>
      </p:sp>
      <p:sp>
        <p:nvSpPr>
          <p:cNvPr id="183" name="o"/>
          <p:cNvSpPr/>
          <p:nvPr/>
        </p:nvSpPr>
        <p:spPr>
          <a:xfrm>
            <a:off x="8546110" y="1912787"/>
            <a:ext cx="512068" cy="512068"/>
          </a:xfrm>
          <a:prstGeom prst="ellipse">
            <a:avLst/>
          </a:prstGeom>
          <a:solidFill>
            <a:srgbClr val="C4B5FD"/>
          </a:solidFill>
          <a:ln w="12700">
            <a:miter lim="400000"/>
          </a:ln>
        </p:spPr>
        <p:txBody>
          <a:bodyPr lIns="60958" tIns="60958" rIns="60958" bIns="60958"/>
          <a:lstStyle/>
          <a:p>
            <a:pPr defTabSz="1219200">
              <a:defRPr sz="2400"/>
            </a:pPr>
            <a:endParaRPr/>
          </a:p>
        </p:txBody>
      </p:sp>
      <p:sp>
        <p:nvSpPr>
          <p:cNvPr id="184" name="t"/>
          <p:cNvSpPr txBox="1"/>
          <p:nvPr/>
        </p:nvSpPr>
        <p:spPr>
          <a:xfrm>
            <a:off x="8546110" y="2064244"/>
            <a:ext cx="512067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19200">
              <a:defRPr sz="1600" b="1">
                <a:solidFill>
                  <a:srgbClr val="FFFFFF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185" name="t"/>
          <p:cNvSpPr txBox="1"/>
          <p:nvPr/>
        </p:nvSpPr>
        <p:spPr>
          <a:xfrm>
            <a:off x="9180094" y="1953379"/>
            <a:ext cx="2617219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19200">
              <a:defRPr sz="1200" b="1">
                <a:solidFill>
                  <a:srgbClr val="C4B5FD"/>
                </a:solidFill>
              </a:defRPr>
            </a:lvl1pPr>
          </a:lstStyle>
          <a:p>
            <a:r>
              <a:rPr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</a:t>
            </a:r>
            <a:r>
              <a:rPr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성능</a:t>
            </a:r>
            <a:r>
              <a:rPr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최적화</a:t>
            </a:r>
            <a:r>
              <a:rPr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endParaRPr 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과적합</a:t>
            </a:r>
            <a:r>
              <a:rPr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방지</a:t>
            </a:r>
            <a:r>
              <a:rPr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및 LR </a:t>
            </a:r>
            <a:r>
              <a:rPr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튜닝</a:t>
            </a:r>
            <a:endParaRPr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6" name="t"/>
          <p:cNvSpPr txBox="1"/>
          <p:nvPr/>
        </p:nvSpPr>
        <p:spPr>
          <a:xfrm>
            <a:off x="8586751" y="2558963"/>
            <a:ext cx="3169922" cy="1358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609600">
              <a:spcBef>
                <a:spcPts val="1600"/>
              </a:spcBef>
              <a:defRPr sz="1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dirty="0">
                <a:latin typeface="나눔스퀘어"/>
              </a:rPr>
              <a:t>Problem: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학습률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설정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오류로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인한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과적합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발생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및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베이스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모델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대비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성능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저하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.</a:t>
            </a:r>
          </a:p>
          <a:p>
            <a:pPr defTabSz="609600">
              <a:spcBef>
                <a:spcPts val="1600"/>
              </a:spcBef>
              <a:defRPr sz="1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dirty="0">
                <a:latin typeface="나눔스퀘어"/>
              </a:rPr>
              <a:t>Action: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</a:rPr>
              <a:t>학습률</a:t>
            </a:r>
            <a:r>
              <a:rPr dirty="0">
                <a:latin typeface="나눔스퀘어"/>
              </a:rPr>
              <a:t>(LR) </a:t>
            </a:r>
            <a:r>
              <a:rPr dirty="0" err="1">
                <a:latin typeface="나눔스퀘어"/>
              </a:rPr>
              <a:t>그리드</a:t>
            </a:r>
            <a:r>
              <a:rPr dirty="0">
                <a:latin typeface="나눔스퀘어"/>
              </a:rPr>
              <a:t> </a:t>
            </a:r>
            <a:r>
              <a:rPr dirty="0" err="1">
                <a:latin typeface="나눔스퀘어"/>
              </a:rPr>
              <a:t>서치</a:t>
            </a:r>
            <a:r>
              <a:rPr dirty="0">
                <a:latin typeface="나눔스퀘어"/>
              </a:rPr>
              <a:t>(1e-5 ~ 2e-4) </a:t>
            </a:r>
            <a:r>
              <a:rPr dirty="0" err="1">
                <a:latin typeface="나눔스퀘어"/>
              </a:rPr>
              <a:t>수행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을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통해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최적의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학습률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탐색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.</a:t>
            </a:r>
          </a:p>
          <a:p>
            <a:pPr defTabSz="609600">
              <a:spcBef>
                <a:spcPts val="1600"/>
              </a:spcBef>
              <a:defRPr sz="1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dirty="0">
                <a:latin typeface="나눔스퀘어"/>
              </a:rPr>
              <a:t>Result: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분류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 err="1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정확도</a:t>
            </a:r>
            <a:r>
              <a:rPr dirty="0">
                <a:latin typeface="나눔스퀘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rPr dirty="0">
                <a:latin typeface="나눔스퀘어"/>
              </a:rPr>
              <a:t>71% → 73% </a:t>
            </a:r>
            <a:r>
              <a:rPr dirty="0" err="1">
                <a:latin typeface="나눔스퀘어"/>
              </a:rPr>
              <a:t>달성</a:t>
            </a:r>
            <a:endParaRPr dirty="0">
              <a:latin typeface="나눔스퀘어"/>
            </a:endParaRPr>
          </a:p>
        </p:txBody>
      </p:sp>
      <p:sp>
        <p:nvSpPr>
          <p:cNvPr id="18" name="SK-19-text-20">
            <a:extLst>
              <a:ext uri="{FF2B5EF4-FFF2-40B4-BE49-F238E27FC236}">
                <a16:creationId xmlns:a16="http://schemas.microsoft.com/office/drawing/2014/main" id="{3B1CA705-A150-41E4-B849-FF553C41850E}"/>
              </a:ext>
            </a:extLst>
          </p:cNvPr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트러블슈팅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19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6" name="SK-19-img-5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524000"/>
            <a:ext cx="5410200" cy="4953000"/>
          </a:xfrm>
          <a:prstGeom prst="rect">
            <a:avLst/>
          </a:prstGeom>
        </p:spPr>
      </p:pic>
      <p:pic>
        <p:nvPicPr>
          <p:cNvPr id="7" name="SK-19-img-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0100" y="1752600"/>
            <a:ext cx="457200" cy="457200"/>
          </a:xfrm>
          <a:prstGeom prst="rect">
            <a:avLst/>
          </a:prstGeom>
        </p:spPr>
      </p:pic>
      <p:pic>
        <p:nvPicPr>
          <p:cNvPr id="8" name="SK-19-img-7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85825" y="1866900"/>
            <a:ext cx="285750" cy="228600"/>
          </a:xfrm>
          <a:prstGeom prst="rect">
            <a:avLst/>
          </a:prstGeom>
        </p:spPr>
      </p:pic>
      <p:pic>
        <p:nvPicPr>
          <p:cNvPr id="9" name="SK-19-img-8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0100" y="2431703"/>
            <a:ext cx="166688" cy="137220"/>
          </a:xfrm>
          <a:prstGeom prst="rect">
            <a:avLst/>
          </a:prstGeom>
        </p:spPr>
      </p:pic>
      <p:pic>
        <p:nvPicPr>
          <p:cNvPr id="10" name="SK-19-img-9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00100" y="2714625"/>
            <a:ext cx="4953000" cy="1036141"/>
          </a:xfrm>
          <a:prstGeom prst="rect">
            <a:avLst/>
          </a:prstGeom>
        </p:spPr>
      </p:pic>
      <p:pic>
        <p:nvPicPr>
          <p:cNvPr id="11" name="SK-19-img-10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00100" y="3972669"/>
            <a:ext cx="166688" cy="137220"/>
          </a:xfrm>
          <a:prstGeom prst="rect">
            <a:avLst/>
          </a:prstGeom>
        </p:spPr>
      </p:pic>
      <p:pic>
        <p:nvPicPr>
          <p:cNvPr id="12" name="SK-19-img-11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00100" y="4255591"/>
            <a:ext cx="4953000" cy="1195388"/>
          </a:xfrm>
          <a:prstGeom prst="rect">
            <a:avLst/>
          </a:prstGeom>
        </p:spPr>
      </p:pic>
      <p:pic>
        <p:nvPicPr>
          <p:cNvPr id="13" name="SK-19-img-12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10300" y="1524000"/>
            <a:ext cx="5410200" cy="4953000"/>
          </a:xfrm>
          <a:prstGeom prst="rect">
            <a:avLst/>
          </a:prstGeom>
        </p:spPr>
      </p:pic>
      <p:pic>
        <p:nvPicPr>
          <p:cNvPr id="14" name="SK-19-img-13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438900" y="1752600"/>
            <a:ext cx="457200" cy="457200"/>
          </a:xfrm>
          <a:prstGeom prst="rect">
            <a:avLst/>
          </a:prstGeom>
        </p:spPr>
      </p:pic>
      <p:pic>
        <p:nvPicPr>
          <p:cNvPr id="15" name="SK-19-img-14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524625" y="1866900"/>
            <a:ext cx="285750" cy="228600"/>
          </a:xfrm>
          <a:prstGeom prst="rect">
            <a:avLst/>
          </a:prstGeom>
        </p:spPr>
      </p:pic>
      <p:pic>
        <p:nvPicPr>
          <p:cNvPr id="16" name="SK-19-img-15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438900" y="2500283"/>
            <a:ext cx="166688" cy="137220"/>
          </a:xfrm>
          <a:prstGeom prst="rect">
            <a:avLst/>
          </a:prstGeom>
        </p:spPr>
      </p:pic>
      <p:pic>
        <p:nvPicPr>
          <p:cNvPr id="17" name="SK-19-img-16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438900" y="2783205"/>
            <a:ext cx="4953000" cy="792361"/>
          </a:xfrm>
          <a:prstGeom prst="rect">
            <a:avLst/>
          </a:prstGeom>
        </p:spPr>
      </p:pic>
      <p:pic>
        <p:nvPicPr>
          <p:cNvPr id="18" name="SK-19-img-17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438900" y="3957489"/>
            <a:ext cx="166688" cy="137220"/>
          </a:xfrm>
          <a:prstGeom prst="rect">
            <a:avLst/>
          </a:prstGeom>
        </p:spPr>
      </p:pic>
      <p:pic>
        <p:nvPicPr>
          <p:cNvPr id="19" name="SK-19-img-18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6438900" y="4255591"/>
            <a:ext cx="4953000" cy="1165920"/>
          </a:xfrm>
          <a:prstGeom prst="rect">
            <a:avLst/>
          </a:prstGeom>
        </p:spPr>
      </p:pic>
      <p:sp>
        <p:nvSpPr>
          <p:cNvPr id="21" name="SK-19-text-20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유저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및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관리자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파트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트러블슈팅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2" name="SK-19-text-21"/>
          <p:cNvSpPr/>
          <p:nvPr/>
        </p:nvSpPr>
        <p:spPr>
          <a:xfrm>
            <a:off x="1409700" y="1824038"/>
            <a:ext cx="4379595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JWT 세션 관리 아키텍처 개선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SK-19-text-22"/>
          <p:cNvSpPr/>
          <p:nvPr/>
        </p:nvSpPr>
        <p:spPr>
          <a:xfrm>
            <a:off x="1042988" y="2400300"/>
            <a:ext cx="4953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 b="1" kern="0" spc="60">
                <a:solidFill>
                  <a:srgbClr val="EF4444"/>
                </a:solidFill>
              </a:rPr>
              <a:t>PROBLEM</a:t>
            </a:r>
            <a:endParaRPr lang="en-US" sz="1050"/>
          </a:p>
        </p:txBody>
      </p:sp>
      <p:sp>
        <p:nvSpPr>
          <p:cNvPr id="24" name="SK-19-text-23"/>
          <p:cNvSpPr/>
          <p:nvPr/>
        </p:nvSpPr>
        <p:spPr>
          <a:xfrm>
            <a:off x="952500" y="2867025"/>
            <a:ext cx="4648200" cy="73134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DB + JWT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이중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관리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체계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동기화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오류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발생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 DB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세션은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유지되나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JWT Access Token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만료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시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강제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로그아웃되는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현상으로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</a:p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사용자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경험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저해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200" dirty="0">
              <a:latin typeface="나눔스퀘어"/>
            </a:endParaRPr>
          </a:p>
        </p:txBody>
      </p:sp>
      <p:sp>
        <p:nvSpPr>
          <p:cNvPr id="25" name="SK-19-text-24"/>
          <p:cNvSpPr/>
          <p:nvPr/>
        </p:nvSpPr>
        <p:spPr>
          <a:xfrm>
            <a:off x="1042988" y="3941266"/>
            <a:ext cx="4953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 b="1" kern="0" spc="60">
                <a:solidFill>
                  <a:srgbClr val="10B981"/>
                </a:solidFill>
                <a:latin typeface="나눔스퀘어"/>
              </a:rPr>
              <a:t>SOLUTION</a:t>
            </a:r>
            <a:endParaRPr lang="en-US" sz="1050">
              <a:latin typeface="나눔스퀘어"/>
            </a:endParaRPr>
          </a:p>
        </p:txBody>
      </p:sp>
      <p:sp>
        <p:nvSpPr>
          <p:cNvPr id="26" name="SK-19-text-25"/>
          <p:cNvSpPr/>
          <p:nvPr/>
        </p:nvSpPr>
        <p:spPr>
          <a:xfrm>
            <a:off x="1143000" y="4484191"/>
            <a:ext cx="4932701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687"/>
              </a:lnSpc>
              <a:buNone/>
              <a:defRPr/>
            </a:pPr>
            <a:r>
              <a:rPr lang="en-US" sz="1125" dirty="0">
                <a:solidFill>
                  <a:srgbClr val="C4B5FD"/>
                </a:solidFill>
                <a:latin typeface="나눔스퀘어"/>
              </a:rPr>
              <a:t>JWT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의존성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제거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및 </a:t>
            </a:r>
            <a:r>
              <a:rPr lang="en-US" sz="1125" dirty="0" err="1">
                <a:solidFill>
                  <a:srgbClr val="F5F3FF"/>
                </a:solidFill>
                <a:latin typeface="나눔스퀘어"/>
              </a:rPr>
              <a:t>쿠키</a:t>
            </a:r>
            <a:r>
              <a:rPr lang="en-US" sz="1125" dirty="0">
                <a:solidFill>
                  <a:srgbClr val="F5F3FF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F5F3FF"/>
                </a:solidFill>
                <a:latin typeface="나눔스퀘어"/>
              </a:rPr>
              <a:t>기반</a:t>
            </a:r>
            <a:r>
              <a:rPr lang="en-US" sz="1125" dirty="0">
                <a:solidFill>
                  <a:srgbClr val="F5F3FF"/>
                </a:solidFill>
                <a:latin typeface="나눔스퀘어"/>
              </a:rPr>
              <a:t> DB </a:t>
            </a:r>
            <a:r>
              <a:rPr lang="en-US" sz="1125" dirty="0" err="1">
                <a:solidFill>
                  <a:srgbClr val="F5F3FF"/>
                </a:solidFill>
                <a:latin typeface="나눔스퀘어"/>
              </a:rPr>
              <a:t>세션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으로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단일화</a:t>
            </a:r>
            <a:endParaRPr lang="en-US" sz="1125" dirty="0">
              <a:latin typeface="나눔스퀘어"/>
            </a:endParaRPr>
          </a:p>
        </p:txBody>
      </p:sp>
      <p:sp>
        <p:nvSpPr>
          <p:cNvPr id="27" name="SK-19-text-26"/>
          <p:cNvSpPr/>
          <p:nvPr/>
        </p:nvSpPr>
        <p:spPr>
          <a:xfrm>
            <a:off x="1143000" y="4755654"/>
            <a:ext cx="5611786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</a:rPr>
              <a:t>세션 유효시간 최적화 (1일 이내) 및 보안 쿠키 설정 적용</a:t>
            </a:r>
            <a:endParaRPr lang="en-US" sz="1125">
              <a:latin typeface="나눔스퀘어"/>
            </a:endParaRPr>
          </a:p>
        </p:txBody>
      </p:sp>
      <p:sp>
        <p:nvSpPr>
          <p:cNvPr id="28" name="SK-19-text-27"/>
          <p:cNvSpPr/>
          <p:nvPr/>
        </p:nvSpPr>
        <p:spPr>
          <a:xfrm>
            <a:off x="1143000" y="5027116"/>
            <a:ext cx="6083664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나눔스퀘어"/>
              </a:rPr>
              <a:t>관리자 페이지에서 실시간 세션 모니터링 및 </a:t>
            </a:r>
            <a:r>
              <a:rPr lang="en-US" sz="1125">
                <a:solidFill>
                  <a:srgbClr val="F5F3FF"/>
                </a:solidFill>
                <a:latin typeface="나눔스퀘어"/>
              </a:rPr>
              <a:t>강제 로그아웃</a:t>
            </a:r>
            <a:r>
              <a:rPr lang="en-US" sz="1125">
                <a:solidFill>
                  <a:srgbClr val="C4B5FD"/>
                </a:solidFill>
                <a:latin typeface="나눔스퀘어"/>
              </a:rPr>
              <a:t> 기능 구현</a:t>
            </a:r>
            <a:endParaRPr lang="en-US" sz="1125">
              <a:latin typeface="나눔스퀘어"/>
            </a:endParaRPr>
          </a:p>
        </p:txBody>
      </p:sp>
      <p:sp>
        <p:nvSpPr>
          <p:cNvPr id="29" name="SK-19-text-28"/>
          <p:cNvSpPr/>
          <p:nvPr/>
        </p:nvSpPr>
        <p:spPr>
          <a:xfrm>
            <a:off x="7048500" y="1824038"/>
            <a:ext cx="4882515" cy="3143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475"/>
              </a:lnSpc>
              <a:buNone/>
              <a:defRPr/>
            </a:pPr>
            <a:r>
              <a:rPr lang="en-US" sz="165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로그아웃 연동 및 데이터 잔존 오류</a:t>
            </a:r>
            <a:endParaRPr lang="en-US" sz="16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SK-19-text-29"/>
          <p:cNvSpPr/>
          <p:nvPr/>
        </p:nvSpPr>
        <p:spPr>
          <a:xfrm>
            <a:off x="6681788" y="2468880"/>
            <a:ext cx="4953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 b="1" kern="0" spc="60" dirty="0">
                <a:solidFill>
                  <a:srgbClr val="EF4444"/>
                </a:solidFill>
              </a:rPr>
              <a:t>PROBLEM</a:t>
            </a:r>
            <a:endParaRPr lang="en-US" sz="1050" dirty="0"/>
          </a:p>
        </p:txBody>
      </p:sp>
      <p:sp>
        <p:nvSpPr>
          <p:cNvPr id="31" name="SK-19-text-30"/>
          <p:cNvSpPr/>
          <p:nvPr/>
        </p:nvSpPr>
        <p:spPr>
          <a:xfrm>
            <a:off x="6591300" y="2935605"/>
            <a:ext cx="4648200" cy="4875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로그아웃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수행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후에도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브라우저에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인증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쿠키가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남아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있어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, </a:t>
            </a:r>
          </a:p>
          <a:p>
            <a:pPr marL="0" indent="0">
              <a:lnSpc>
                <a:spcPts val="1920"/>
              </a:lnSpc>
              <a:buNone/>
              <a:defRPr/>
            </a:pP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비정상적인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경로로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일부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페이지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재접속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이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가능한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보안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취약점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발견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200" dirty="0">
              <a:latin typeface="나눔스퀘어"/>
            </a:endParaRPr>
          </a:p>
        </p:txBody>
      </p:sp>
      <p:sp>
        <p:nvSpPr>
          <p:cNvPr id="32" name="SK-19-text-31"/>
          <p:cNvSpPr/>
          <p:nvPr/>
        </p:nvSpPr>
        <p:spPr>
          <a:xfrm>
            <a:off x="6681788" y="3926086"/>
            <a:ext cx="4953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 b="1" kern="0" spc="60" dirty="0">
                <a:solidFill>
                  <a:srgbClr val="10B981"/>
                </a:solidFill>
                <a:latin typeface="나눔스퀘어"/>
              </a:rPr>
              <a:t>SOLUTION</a:t>
            </a:r>
            <a:endParaRPr lang="en-US" sz="1050" dirty="0">
              <a:latin typeface="나눔스퀘어"/>
            </a:endParaRPr>
          </a:p>
        </p:txBody>
      </p:sp>
      <p:sp>
        <p:nvSpPr>
          <p:cNvPr id="33" name="SK-19-text-32"/>
          <p:cNvSpPr/>
          <p:nvPr/>
        </p:nvSpPr>
        <p:spPr>
          <a:xfrm>
            <a:off x="6781800" y="4529971"/>
            <a:ext cx="5410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687"/>
              </a:lnSpc>
              <a:buNone/>
              <a:defRPr/>
            </a:pPr>
            <a:r>
              <a:rPr lang="en-US" sz="1125" dirty="0">
                <a:solidFill>
                  <a:srgbClr val="C4B5FD"/>
                </a:solidFill>
                <a:latin typeface="나눔스퀘어"/>
              </a:rPr>
              <a:t>AI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생성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코드의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Storage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삭제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로직과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실제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쿠키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환경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불일치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확인</a:t>
            </a:r>
            <a:endParaRPr lang="en-US" sz="1125" dirty="0">
              <a:latin typeface="나눔스퀘어"/>
            </a:endParaRPr>
          </a:p>
        </p:txBody>
      </p:sp>
      <p:sp>
        <p:nvSpPr>
          <p:cNvPr id="35" name="SK-19-text-34"/>
          <p:cNvSpPr/>
          <p:nvPr/>
        </p:nvSpPr>
        <p:spPr>
          <a:xfrm>
            <a:off x="6781800" y="4760476"/>
            <a:ext cx="451866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l">
              <a:lnSpc>
                <a:spcPts val="1687"/>
              </a:lnSpc>
              <a:buNone/>
              <a:defRPr/>
            </a:pP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클라이언트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사이드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>
                <a:solidFill>
                  <a:srgbClr val="F5F3FF"/>
                </a:solidFill>
                <a:latin typeface="나눔스퀘어"/>
              </a:rPr>
              <a:t>Cookie Clear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명시적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처리로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잔존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데이터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완전</a:t>
            </a:r>
            <a:r>
              <a:rPr lang="en-US" sz="1125" dirty="0">
                <a:solidFill>
                  <a:srgbClr val="C4B5FD"/>
                </a:solidFill>
                <a:latin typeface="나눔스퀘어"/>
              </a:rPr>
              <a:t> </a:t>
            </a:r>
            <a:r>
              <a:rPr lang="en-US" sz="1125" dirty="0" err="1">
                <a:solidFill>
                  <a:srgbClr val="C4B5FD"/>
                </a:solidFill>
                <a:latin typeface="나눔스퀘어"/>
              </a:rPr>
              <a:t>제거</a:t>
            </a:r>
            <a:endParaRPr lang="en-US" sz="1125" dirty="0">
              <a:latin typeface="나눔스퀘어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20-img-3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5" name="SK-20-img-4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524000"/>
            <a:ext cx="5029200" cy="3962400"/>
          </a:xfrm>
          <a:prstGeom prst="rect">
            <a:avLst/>
          </a:prstGeom>
        </p:spPr>
      </p:pic>
      <p:pic>
        <p:nvPicPr>
          <p:cNvPr id="6" name="SK-20-img-5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0100" y="1752600"/>
            <a:ext cx="381000" cy="381000"/>
          </a:xfrm>
          <a:prstGeom prst="rect">
            <a:avLst/>
          </a:prstGeom>
        </p:spPr>
      </p:pic>
      <p:pic>
        <p:nvPicPr>
          <p:cNvPr id="7" name="SK-20-img-6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71538" y="1847850"/>
            <a:ext cx="238125" cy="190500"/>
          </a:xfrm>
          <a:prstGeom prst="rect">
            <a:avLst/>
          </a:prstGeom>
        </p:spPr>
      </p:pic>
      <p:pic>
        <p:nvPicPr>
          <p:cNvPr id="8" name="SK-20-img-7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0100" y="2324100"/>
            <a:ext cx="685800" cy="261937"/>
          </a:xfrm>
          <a:prstGeom prst="rect">
            <a:avLst/>
          </a:prstGeom>
        </p:spPr>
      </p:pic>
      <p:pic>
        <p:nvPicPr>
          <p:cNvPr id="9" name="SK-20-img-8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562100" y="2324100"/>
            <a:ext cx="895350" cy="261937"/>
          </a:xfrm>
          <a:prstGeom prst="rect">
            <a:avLst/>
          </a:prstGeom>
        </p:spPr>
      </p:pic>
      <p:pic>
        <p:nvPicPr>
          <p:cNvPr id="10" name="SK-20-img-9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533650" y="2324100"/>
            <a:ext cx="685800" cy="261937"/>
          </a:xfrm>
          <a:prstGeom prst="rect">
            <a:avLst/>
          </a:prstGeom>
        </p:spPr>
      </p:pic>
      <p:pic>
        <p:nvPicPr>
          <p:cNvPr id="11" name="SK-20-img-10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00100" y="2776538"/>
            <a:ext cx="4572000" cy="696218"/>
          </a:xfrm>
          <a:prstGeom prst="rect">
            <a:avLst/>
          </a:prstGeom>
        </p:spPr>
      </p:pic>
      <p:pic>
        <p:nvPicPr>
          <p:cNvPr id="12" name="SK-20-img-11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00100" y="3587055"/>
            <a:ext cx="4572000" cy="696218"/>
          </a:xfrm>
          <a:prstGeom prst="rect">
            <a:avLst/>
          </a:prstGeom>
        </p:spPr>
      </p:pic>
      <p:pic>
        <p:nvPicPr>
          <p:cNvPr id="13" name="SK-20-img-12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00100" y="4397573"/>
            <a:ext cx="4572000" cy="696218"/>
          </a:xfrm>
          <a:prstGeom prst="rect">
            <a:avLst/>
          </a:prstGeom>
        </p:spPr>
      </p:pic>
      <p:pic>
        <p:nvPicPr>
          <p:cNvPr id="14" name="SK-20-img-13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905500" y="3352800"/>
            <a:ext cx="381000" cy="304800"/>
          </a:xfrm>
          <a:prstGeom prst="rect">
            <a:avLst/>
          </a:prstGeom>
        </p:spPr>
      </p:pic>
      <p:pic>
        <p:nvPicPr>
          <p:cNvPr id="15" name="SK-20-img-14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591300" y="1524000"/>
            <a:ext cx="5029200" cy="3962400"/>
          </a:xfrm>
          <a:prstGeom prst="rect">
            <a:avLst/>
          </a:prstGeom>
        </p:spPr>
      </p:pic>
      <p:pic>
        <p:nvPicPr>
          <p:cNvPr id="16" name="SK-20-img-15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819900" y="1752600"/>
            <a:ext cx="381000" cy="381000"/>
          </a:xfrm>
          <a:prstGeom prst="rect">
            <a:avLst/>
          </a:prstGeom>
        </p:spPr>
      </p:pic>
      <p:pic>
        <p:nvPicPr>
          <p:cNvPr id="17" name="SK-20-img-16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891338" y="1847850"/>
            <a:ext cx="238125" cy="190500"/>
          </a:xfrm>
          <a:prstGeom prst="rect">
            <a:avLst/>
          </a:prstGeom>
        </p:spPr>
      </p:pic>
      <p:pic>
        <p:nvPicPr>
          <p:cNvPr id="18" name="SK-20-img-17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6819900" y="2324100"/>
            <a:ext cx="914400" cy="261937"/>
          </a:xfrm>
          <a:prstGeom prst="rect">
            <a:avLst/>
          </a:prstGeom>
        </p:spPr>
      </p:pic>
      <p:pic>
        <p:nvPicPr>
          <p:cNvPr id="19" name="SK-20-img-18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7810500" y="2324100"/>
            <a:ext cx="914400" cy="261937"/>
          </a:xfrm>
          <a:prstGeom prst="rect">
            <a:avLst/>
          </a:prstGeom>
        </p:spPr>
      </p:pic>
      <p:pic>
        <p:nvPicPr>
          <p:cNvPr id="20" name="SK-20-img-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801100" y="2324100"/>
            <a:ext cx="685800" cy="261937"/>
          </a:xfrm>
          <a:prstGeom prst="rect">
            <a:avLst/>
          </a:prstGeom>
        </p:spPr>
      </p:pic>
      <p:pic>
        <p:nvPicPr>
          <p:cNvPr id="21" name="SK-20-img-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819900" y="2776538"/>
            <a:ext cx="4572000" cy="696218"/>
          </a:xfrm>
          <a:prstGeom prst="rect">
            <a:avLst/>
          </a:prstGeom>
        </p:spPr>
      </p:pic>
      <p:pic>
        <p:nvPicPr>
          <p:cNvPr id="22" name="SK-20-img-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6819900" y="3587055"/>
            <a:ext cx="4572000" cy="696218"/>
          </a:xfrm>
          <a:prstGeom prst="rect">
            <a:avLst/>
          </a:prstGeom>
        </p:spPr>
      </p:pic>
      <p:pic>
        <p:nvPicPr>
          <p:cNvPr id="23" name="SK-20-img-22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819900" y="4397573"/>
            <a:ext cx="4572000" cy="696218"/>
          </a:xfrm>
          <a:prstGeom prst="rect">
            <a:avLst/>
          </a:prstGeom>
        </p:spPr>
      </p:pic>
      <p:pic>
        <p:nvPicPr>
          <p:cNvPr id="24" name="SK-20-img-23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571500" y="5715000"/>
            <a:ext cx="11049000" cy="762000"/>
          </a:xfrm>
          <a:prstGeom prst="rect">
            <a:avLst/>
          </a:prstGeom>
        </p:spPr>
      </p:pic>
      <p:sp>
        <p:nvSpPr>
          <p:cNvPr id="26" name="SK-20-text-25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실시간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알림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메커니즘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(Polling → SSE)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7" name="SK-20-text-26"/>
          <p:cNvSpPr/>
          <p:nvPr/>
        </p:nvSpPr>
        <p:spPr>
          <a:xfrm>
            <a:off x="1295400" y="1771650"/>
            <a:ext cx="413766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700"/>
              </a:lnSpc>
              <a:buNone/>
              <a:defRPr/>
            </a:pPr>
            <a:r>
              <a:rPr lang="en-US" sz="1800" b="1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1차: Polling </a:t>
            </a:r>
            <a:r>
              <a:rPr lang="en-US" sz="1800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방식</a:t>
            </a:r>
            <a:endParaRPr 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SK-20-text-27"/>
          <p:cNvSpPr/>
          <p:nvPr/>
        </p:nvSpPr>
        <p:spPr>
          <a:xfrm>
            <a:off x="895350" y="2324100"/>
            <a:ext cx="612775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단순 구현</a:t>
            </a:r>
            <a:endParaRPr lang="en-US" sz="975"/>
          </a:p>
        </p:txBody>
      </p:sp>
      <p:sp>
        <p:nvSpPr>
          <p:cNvPr id="29" name="SK-20-text-28"/>
          <p:cNvSpPr/>
          <p:nvPr/>
        </p:nvSpPr>
        <p:spPr>
          <a:xfrm>
            <a:off x="1657350" y="2324100"/>
            <a:ext cx="1012001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DB 상태 기반</a:t>
            </a:r>
            <a:endParaRPr lang="en-US" sz="975"/>
          </a:p>
        </p:txBody>
      </p:sp>
      <p:sp>
        <p:nvSpPr>
          <p:cNvPr id="30" name="SK-20-text-29"/>
          <p:cNvSpPr/>
          <p:nvPr/>
        </p:nvSpPr>
        <p:spPr>
          <a:xfrm>
            <a:off x="2628900" y="2324100"/>
            <a:ext cx="612775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>
                <a:solidFill>
                  <a:srgbClr val="EF4444"/>
                </a:solidFill>
                <a:latin typeface="Noto Sans KR"/>
                <a:ea typeface="Noto Sans KR"/>
                <a:cs typeface="Noto Sans KR"/>
              </a:rPr>
              <a:t>지연 발생</a:t>
            </a:r>
            <a:endParaRPr lang="en-US" sz="975"/>
          </a:p>
        </p:txBody>
      </p:sp>
      <p:sp>
        <p:nvSpPr>
          <p:cNvPr id="31" name="SK-20-text-30"/>
          <p:cNvSpPr/>
          <p:nvPr/>
        </p:nvSpPr>
        <p:spPr>
          <a:xfrm>
            <a:off x="914400" y="2890838"/>
            <a:ext cx="4424363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주기적</a:t>
            </a:r>
            <a:r>
              <a:rPr lang="en-US" sz="1275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</a:t>
            </a:r>
            <a:r>
              <a:rPr lang="en-US" sz="1275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요청</a:t>
            </a:r>
            <a:r>
              <a:rPr lang="en-US" sz="1275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 (</a:t>
            </a:r>
            <a:r>
              <a:rPr lang="en-US" sz="1275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setInterval</a:t>
            </a:r>
            <a:r>
              <a:rPr lang="en-US" sz="1275" dirty="0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)</a:t>
            </a:r>
            <a:endParaRPr lang="en-US" sz="1275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SK-20-text-31"/>
          <p:cNvSpPr/>
          <p:nvPr/>
        </p:nvSpPr>
        <p:spPr>
          <a:xfrm>
            <a:off x="914400" y="3171825"/>
            <a:ext cx="5996940" cy="18663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en-US" sz="105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클라이언트가</a:t>
            </a:r>
            <a:r>
              <a:rPr lang="en-US" sz="105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05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일정</a:t>
            </a:r>
            <a:r>
              <a:rPr lang="en-US" sz="105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05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간격으로</a:t>
            </a:r>
            <a:r>
              <a:rPr lang="en-US" sz="105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GET </a:t>
            </a:r>
            <a:r>
              <a:rPr lang="en-US" sz="105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요청을</a:t>
            </a:r>
            <a:r>
              <a:rPr lang="en-US" sz="105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05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보내</a:t>
            </a:r>
            <a:r>
              <a:rPr lang="en-US" sz="105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05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상태를</a:t>
            </a:r>
            <a:r>
              <a:rPr lang="en-US" sz="105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05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확인하는</a:t>
            </a:r>
            <a:r>
              <a:rPr lang="en-US" sz="105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05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구조</a:t>
            </a:r>
            <a:endParaRPr lang="en-US" sz="1050" dirty="0">
              <a:latin typeface="나눔스퀘어"/>
            </a:endParaRPr>
          </a:p>
        </p:txBody>
      </p:sp>
      <p:sp>
        <p:nvSpPr>
          <p:cNvPr id="33" name="SK-20-text-32"/>
          <p:cNvSpPr/>
          <p:nvPr/>
        </p:nvSpPr>
        <p:spPr>
          <a:xfrm>
            <a:off x="914400" y="3701355"/>
            <a:ext cx="4424363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실시간성 한계</a:t>
            </a:r>
            <a:endParaRPr lang="en-US" sz="127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SK-20-text-33"/>
          <p:cNvSpPr/>
          <p:nvPr/>
        </p:nvSpPr>
        <p:spPr>
          <a:xfrm>
            <a:off x="914400" y="3982343"/>
            <a:ext cx="5996940" cy="18663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주기 사이의 데이터 변화를 즉시 감지하지 못해 수 초간의 지연 발생</a:t>
            </a:r>
            <a:endParaRPr lang="en-US" sz="1050">
              <a:latin typeface="나눔스퀘어"/>
            </a:endParaRPr>
          </a:p>
        </p:txBody>
      </p:sp>
      <p:sp>
        <p:nvSpPr>
          <p:cNvPr id="35" name="SK-20-text-34"/>
          <p:cNvSpPr/>
          <p:nvPr/>
        </p:nvSpPr>
        <p:spPr>
          <a:xfrm>
            <a:off x="914400" y="4511873"/>
            <a:ext cx="4424363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서버 자원 낭비</a:t>
            </a:r>
            <a:endParaRPr lang="en-US" sz="127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SK-20-text-35"/>
          <p:cNvSpPr/>
          <p:nvPr/>
        </p:nvSpPr>
        <p:spPr>
          <a:xfrm>
            <a:off x="914400" y="4792861"/>
            <a:ext cx="6316980" cy="18663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변화가 없는 상태에서도 지속적으로 쿼리를 수행하여 불필요한 트래픽 유발</a:t>
            </a:r>
            <a:endParaRPr lang="en-US" sz="1050">
              <a:latin typeface="나눔스퀘어"/>
            </a:endParaRPr>
          </a:p>
        </p:txBody>
      </p:sp>
      <p:sp>
        <p:nvSpPr>
          <p:cNvPr id="37" name="SK-20-text-36"/>
          <p:cNvSpPr/>
          <p:nvPr/>
        </p:nvSpPr>
        <p:spPr>
          <a:xfrm>
            <a:off x="7315200" y="1771650"/>
            <a:ext cx="285750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700"/>
              </a:lnSpc>
              <a:buNone/>
              <a:defRPr/>
            </a:pPr>
            <a:r>
              <a:rPr lang="en-US" sz="180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전환: SSE 방식</a:t>
            </a:r>
            <a:endParaRPr lang="en-US" sz="18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" name="SK-20-text-37"/>
          <p:cNvSpPr/>
          <p:nvPr/>
        </p:nvSpPr>
        <p:spPr>
          <a:xfrm>
            <a:off x="6915150" y="2324100"/>
            <a:ext cx="899636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실시간성 확보</a:t>
            </a:r>
            <a:endParaRPr lang="en-US" sz="975"/>
          </a:p>
        </p:txBody>
      </p:sp>
      <p:sp>
        <p:nvSpPr>
          <p:cNvPr id="39" name="SK-20-text-38"/>
          <p:cNvSpPr/>
          <p:nvPr/>
        </p:nvSpPr>
        <p:spPr>
          <a:xfrm>
            <a:off x="7905750" y="2324100"/>
            <a:ext cx="899636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스트리밍 지원</a:t>
            </a:r>
            <a:endParaRPr lang="en-US" sz="975"/>
          </a:p>
        </p:txBody>
      </p:sp>
      <p:sp>
        <p:nvSpPr>
          <p:cNvPr id="40" name="SK-20-text-39"/>
          <p:cNvSpPr/>
          <p:nvPr/>
        </p:nvSpPr>
        <p:spPr>
          <a:xfrm>
            <a:off x="8896350" y="2324100"/>
            <a:ext cx="612775" cy="261937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 b="1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채널 통합</a:t>
            </a:r>
            <a:endParaRPr lang="en-US" sz="975"/>
          </a:p>
        </p:txBody>
      </p:sp>
      <p:sp>
        <p:nvSpPr>
          <p:cNvPr id="41" name="SK-20-text-40"/>
          <p:cNvSpPr/>
          <p:nvPr/>
        </p:nvSpPr>
        <p:spPr>
          <a:xfrm>
            <a:off x="6934200" y="2890838"/>
            <a:ext cx="4424363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Server-Sent Events 도입</a:t>
            </a:r>
            <a:endParaRPr lang="en-US" sz="127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2" name="SK-20-text-41"/>
          <p:cNvSpPr/>
          <p:nvPr/>
        </p:nvSpPr>
        <p:spPr>
          <a:xfrm>
            <a:off x="6934200" y="3171825"/>
            <a:ext cx="4716780" cy="18663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서버에서 클라이언트로의 단방향 실시간 푸시 채널 구축</a:t>
            </a:r>
            <a:endParaRPr lang="en-US" sz="1050">
              <a:latin typeface="나눔스퀘어"/>
            </a:endParaRPr>
          </a:p>
        </p:txBody>
      </p:sp>
      <p:sp>
        <p:nvSpPr>
          <p:cNvPr id="43" name="SK-20-text-42"/>
          <p:cNvSpPr/>
          <p:nvPr/>
        </p:nvSpPr>
        <p:spPr>
          <a:xfrm>
            <a:off x="6934200" y="3701355"/>
            <a:ext cx="4424363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토큰 스트리밍 구현</a:t>
            </a:r>
            <a:endParaRPr lang="en-US" sz="127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SK-20-text-43"/>
          <p:cNvSpPr/>
          <p:nvPr/>
        </p:nvSpPr>
        <p:spPr>
          <a:xfrm>
            <a:off x="6934200" y="3982343"/>
            <a:ext cx="5257800" cy="18663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LLM 요약 결과(summary_token)를 한 글자씩 출력하는 타이핑 효과 지원</a:t>
            </a:r>
            <a:endParaRPr lang="en-US" sz="1050">
              <a:latin typeface="나눔스퀘어"/>
            </a:endParaRPr>
          </a:p>
        </p:txBody>
      </p:sp>
      <p:sp>
        <p:nvSpPr>
          <p:cNvPr id="45" name="SK-20-text-44"/>
          <p:cNvSpPr/>
          <p:nvPr/>
        </p:nvSpPr>
        <p:spPr>
          <a:xfrm>
            <a:off x="6934200" y="4511873"/>
            <a:ext cx="4424363" cy="24288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912"/>
              </a:lnSpc>
              <a:buNone/>
              <a:defRPr/>
            </a:pPr>
            <a:r>
              <a:rPr lang="en-US" sz="1275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효율적인 이벤트 전송</a:t>
            </a:r>
            <a:endParaRPr lang="en-US" sz="1275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SK-20-text-45"/>
          <p:cNvSpPr/>
          <p:nvPr/>
        </p:nvSpPr>
        <p:spPr>
          <a:xfrm>
            <a:off x="6934200" y="4792861"/>
            <a:ext cx="5257800" cy="18663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진행률, 요약 토큰, 시스템 알림을 단일 채널로 통합하여 오버헤드 최소화</a:t>
            </a:r>
            <a:endParaRPr lang="en-US" sz="1050">
              <a:latin typeface="나눔스퀘어"/>
            </a:endParaRPr>
          </a:p>
        </p:txBody>
      </p:sp>
      <p:sp>
        <p:nvSpPr>
          <p:cNvPr id="47" name="SK-20-text-46"/>
          <p:cNvSpPr/>
          <p:nvPr/>
        </p:nvSpPr>
        <p:spPr>
          <a:xfrm>
            <a:off x="800100" y="5953125"/>
            <a:ext cx="1924050" cy="285750"/>
          </a:xfrm>
          <a:prstGeom prst="rect">
            <a:avLst/>
          </a:prstGeom>
          <a:noFill/>
          <a:ln/>
        </p:spPr>
        <p:txBody>
          <a:bodyPr vert="horz" wrap="none" lIns="0" tIns="0" rIns="0" bIns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500" b="1" dirty="0">
                <a:solidFill>
                  <a:srgbClr val="A78BFA"/>
                </a:solidFill>
              </a:rPr>
              <a:t>WHY SSE?</a:t>
            </a:r>
            <a:endParaRPr lang="en-US" sz="1500" dirty="0"/>
          </a:p>
        </p:txBody>
      </p:sp>
      <p:sp>
        <p:nvSpPr>
          <p:cNvPr id="48" name="SK-20-text-47"/>
          <p:cNvSpPr/>
          <p:nvPr/>
        </p:nvSpPr>
        <p:spPr>
          <a:xfrm>
            <a:off x="1885950" y="5867400"/>
            <a:ext cx="8039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단순한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상태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조회를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넘어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,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LLM의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생성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과정을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실시간으로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체감할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수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있는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토큰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스트리밍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(Token Streaming)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환경을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구축하고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,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불필요한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네트워크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요청을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제거하여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시스템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전체의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반응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속도와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효율성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을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획기적으로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개선하기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위해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전환을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결정하였습니다</a:t>
            </a:r>
            <a:r>
              <a:rPr lang="en-US" sz="1200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.</a:t>
            </a:r>
            <a:endParaRPr lang="en-US" sz="1200" dirty="0">
              <a:latin typeface="나눔스퀘어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21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6" name="SK-21-img-5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555403"/>
            <a:ext cx="166688" cy="137220"/>
          </a:xfrm>
          <a:prstGeom prst="rect">
            <a:avLst/>
          </a:prstGeom>
        </p:spPr>
      </p:pic>
      <p:pic>
        <p:nvPicPr>
          <p:cNvPr id="7" name="SK-21-img-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1500" y="1876425"/>
            <a:ext cx="6908750" cy="814388"/>
          </a:xfrm>
          <a:prstGeom prst="rect">
            <a:avLst/>
          </a:prstGeom>
        </p:spPr>
      </p:pic>
      <p:pic>
        <p:nvPicPr>
          <p:cNvPr id="8" name="SK-21-img-7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23900" y="2028825"/>
            <a:ext cx="381000" cy="381000"/>
          </a:xfrm>
          <a:prstGeom prst="rect">
            <a:avLst/>
          </a:prstGeom>
        </p:spPr>
      </p:pic>
      <p:pic>
        <p:nvPicPr>
          <p:cNvPr id="9" name="SK-21-img-8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7244" y="2131665"/>
            <a:ext cx="214313" cy="175320"/>
          </a:xfrm>
          <a:prstGeom prst="rect">
            <a:avLst/>
          </a:prstGeom>
        </p:spPr>
      </p:pic>
      <p:pic>
        <p:nvPicPr>
          <p:cNvPr id="10" name="SK-21-img-9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71500" y="2805113"/>
            <a:ext cx="6908750" cy="1028700"/>
          </a:xfrm>
          <a:prstGeom prst="rect">
            <a:avLst/>
          </a:prstGeom>
        </p:spPr>
      </p:pic>
      <p:pic>
        <p:nvPicPr>
          <p:cNvPr id="11" name="SK-21-img-10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23900" y="2957513"/>
            <a:ext cx="381000" cy="381000"/>
          </a:xfrm>
          <a:prstGeom prst="rect">
            <a:avLst/>
          </a:prstGeom>
        </p:spPr>
      </p:pic>
      <p:pic>
        <p:nvPicPr>
          <p:cNvPr id="12" name="SK-21-img-11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07244" y="3060353"/>
            <a:ext cx="214313" cy="175320"/>
          </a:xfrm>
          <a:prstGeom prst="rect">
            <a:avLst/>
          </a:prstGeom>
        </p:spPr>
      </p:pic>
      <p:pic>
        <p:nvPicPr>
          <p:cNvPr id="13" name="SK-21-img-12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571500" y="4146203"/>
            <a:ext cx="166688" cy="137220"/>
          </a:xfrm>
          <a:prstGeom prst="rect">
            <a:avLst/>
          </a:prstGeom>
        </p:spPr>
      </p:pic>
      <p:pic>
        <p:nvPicPr>
          <p:cNvPr id="14" name="SK-21-img-1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1500" y="4467225"/>
            <a:ext cx="6908750" cy="814388"/>
          </a:xfrm>
          <a:prstGeom prst="rect">
            <a:avLst/>
          </a:prstGeom>
        </p:spPr>
      </p:pic>
      <p:pic>
        <p:nvPicPr>
          <p:cNvPr id="15" name="SK-21-img-1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23900" y="4619625"/>
            <a:ext cx="381000" cy="381000"/>
          </a:xfrm>
          <a:prstGeom prst="rect">
            <a:avLst/>
          </a:prstGeom>
        </p:spPr>
      </p:pic>
      <p:pic>
        <p:nvPicPr>
          <p:cNvPr id="16" name="SK-21-img-15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07244" y="4722465"/>
            <a:ext cx="214313" cy="175320"/>
          </a:xfrm>
          <a:prstGeom prst="rect">
            <a:avLst/>
          </a:prstGeom>
        </p:spPr>
      </p:pic>
      <p:pic>
        <p:nvPicPr>
          <p:cNvPr id="17" name="SK-21-img-16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571500" y="5395913"/>
            <a:ext cx="6908750" cy="814388"/>
          </a:xfrm>
          <a:prstGeom prst="rect">
            <a:avLst/>
          </a:prstGeom>
        </p:spPr>
      </p:pic>
      <p:pic>
        <p:nvPicPr>
          <p:cNvPr id="18" name="SK-21-img-17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23900" y="5548313"/>
            <a:ext cx="381000" cy="381000"/>
          </a:xfrm>
          <a:prstGeom prst="rect">
            <a:avLst/>
          </a:prstGeom>
        </p:spPr>
      </p:pic>
      <p:pic>
        <p:nvPicPr>
          <p:cNvPr id="19" name="SK-21-img-18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07244" y="5651153"/>
            <a:ext cx="214313" cy="175320"/>
          </a:xfrm>
          <a:prstGeom prst="rect">
            <a:avLst/>
          </a:prstGeom>
        </p:spPr>
      </p:pic>
      <p:pic>
        <p:nvPicPr>
          <p:cNvPr id="20" name="SK-21-img-19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7708850" y="1524000"/>
            <a:ext cx="3911650" cy="5029200"/>
          </a:xfrm>
          <a:prstGeom prst="rect">
            <a:avLst/>
          </a:prstGeom>
        </p:spPr>
      </p:pic>
      <p:pic>
        <p:nvPicPr>
          <p:cNvPr id="21" name="SK-21-img-20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7937450" y="1704975"/>
            <a:ext cx="857250" cy="228600"/>
          </a:xfrm>
          <a:prstGeom prst="rect">
            <a:avLst/>
          </a:prstGeom>
        </p:spPr>
      </p:pic>
      <p:pic>
        <p:nvPicPr>
          <p:cNvPr id="22" name="SK-21-img-21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7937450" y="2537817"/>
            <a:ext cx="178594" cy="148828"/>
          </a:xfrm>
          <a:prstGeom prst="rect">
            <a:avLst/>
          </a:prstGeom>
        </p:spPr>
      </p:pic>
      <p:pic>
        <p:nvPicPr>
          <p:cNvPr id="23" name="SK-21-img-22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7937450" y="3296841"/>
            <a:ext cx="178594" cy="148828"/>
          </a:xfrm>
          <a:prstGeom prst="rect">
            <a:avLst/>
          </a:prstGeom>
        </p:spPr>
      </p:pic>
      <p:pic>
        <p:nvPicPr>
          <p:cNvPr id="24" name="SK-21-img-23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7937450" y="4055864"/>
            <a:ext cx="178594" cy="148828"/>
          </a:xfrm>
          <a:prstGeom prst="rect">
            <a:avLst/>
          </a:prstGeom>
        </p:spPr>
      </p:pic>
      <p:pic>
        <p:nvPicPr>
          <p:cNvPr id="25" name="SK-21-img-24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7937450" y="4905970"/>
            <a:ext cx="3454450" cy="933450"/>
          </a:xfrm>
          <a:prstGeom prst="rect">
            <a:avLst/>
          </a:prstGeom>
        </p:spPr>
      </p:pic>
      <p:pic>
        <p:nvPicPr>
          <p:cNvPr id="26" name="SK-21-img-25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7937450" y="6062663"/>
            <a:ext cx="3454450" cy="309563"/>
          </a:xfrm>
          <a:prstGeom prst="rect">
            <a:avLst/>
          </a:prstGeom>
        </p:spPr>
      </p:pic>
      <p:pic>
        <p:nvPicPr>
          <p:cNvPr id="27" name="SK-21-img-26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7937450" y="6216402"/>
            <a:ext cx="154781" cy="125760"/>
          </a:xfrm>
          <a:prstGeom prst="rect">
            <a:avLst/>
          </a:prstGeom>
        </p:spPr>
      </p:pic>
      <p:sp>
        <p:nvSpPr>
          <p:cNvPr id="29" name="SK-21-text-28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SSE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알림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유실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버그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분석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및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해결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방안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0" name="SK-21-text-29"/>
          <p:cNvSpPr/>
          <p:nvPr/>
        </p:nvSpPr>
        <p:spPr>
          <a:xfrm>
            <a:off x="814388" y="1524000"/>
            <a:ext cx="690875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CURRENT SYMPTOMS (발생 현상)</a:t>
            </a:r>
            <a:endParaRPr lang="en-US" sz="1050"/>
          </a:p>
        </p:txBody>
      </p:sp>
      <p:sp>
        <p:nvSpPr>
          <p:cNvPr id="31" name="SK-21-text-30"/>
          <p:cNvSpPr/>
          <p:nvPr/>
        </p:nvSpPr>
        <p:spPr>
          <a:xfrm>
            <a:off x="1257300" y="2028825"/>
            <a:ext cx="5362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>
                <a:solidFill>
                  <a:srgbClr val="F5F3FF"/>
                </a:solidFill>
                <a:latin typeface="Noto Sans KR"/>
                <a:ea typeface="Noto Sans KR"/>
                <a:cs typeface="Noto Sans KR"/>
              </a:rPr>
              <a:t>실시간 알림 갱신 실패</a:t>
            </a:r>
            <a:endParaRPr lang="en-US" sz="1350"/>
          </a:p>
        </p:txBody>
      </p:sp>
      <p:sp>
        <p:nvSpPr>
          <p:cNvPr id="32" name="SK-21-text-31"/>
          <p:cNvSpPr/>
          <p:nvPr/>
        </p:nvSpPr>
        <p:spPr>
          <a:xfrm>
            <a:off x="1257300" y="2324100"/>
            <a:ext cx="830580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요약 화면에서 새로운 알림이 즉시 나타나지 않으며, 새로고침을 해야만 정보가 동기화됨.</a:t>
            </a:r>
            <a:endParaRPr lang="en-US" sz="1125"/>
          </a:p>
        </p:txBody>
      </p:sp>
      <p:sp>
        <p:nvSpPr>
          <p:cNvPr id="33" name="SK-21-text-32"/>
          <p:cNvSpPr/>
          <p:nvPr/>
        </p:nvSpPr>
        <p:spPr>
          <a:xfrm>
            <a:off x="1257300" y="2957513"/>
            <a:ext cx="615627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>
                <a:solidFill>
                  <a:srgbClr val="F5F3FF"/>
                </a:solidFill>
                <a:latin typeface="Noto Sans KR"/>
                <a:ea typeface="Noto Sans KR"/>
                <a:cs typeface="Noto Sans KR"/>
              </a:rPr>
              <a:t>구독 해제 시 연결 경로 소실</a:t>
            </a:r>
            <a:endParaRPr lang="en-US" sz="1350"/>
          </a:p>
        </p:txBody>
      </p:sp>
      <p:sp>
        <p:nvSpPr>
          <p:cNvPr id="34" name="SK-21-text-33"/>
          <p:cNvSpPr/>
          <p:nvPr/>
        </p:nvSpPr>
        <p:spPr>
          <a:xfrm>
            <a:off x="1257300" y="3252788"/>
            <a:ext cx="6070550" cy="4286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요약 페이지 이탈 시 특정 연결을 종료하는 과정에서 사용자 전체 연결 키가 삭제되어 타 화면 알림도 중단됨.</a:t>
            </a:r>
            <a:endParaRPr lang="en-US" sz="1125"/>
          </a:p>
        </p:txBody>
      </p:sp>
      <p:sp>
        <p:nvSpPr>
          <p:cNvPr id="35" name="SK-21-text-34"/>
          <p:cNvSpPr/>
          <p:nvPr/>
        </p:nvSpPr>
        <p:spPr>
          <a:xfrm>
            <a:off x="814388" y="4114800"/>
            <a:ext cx="690875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ROOT CAUSE ANALYSIS (원인 분석)</a:t>
            </a:r>
            <a:endParaRPr lang="en-US" sz="1050"/>
          </a:p>
        </p:txBody>
      </p:sp>
      <p:sp>
        <p:nvSpPr>
          <p:cNvPr id="36" name="SK-21-text-35"/>
          <p:cNvSpPr/>
          <p:nvPr/>
        </p:nvSpPr>
        <p:spPr>
          <a:xfrm>
            <a:off x="1257300" y="4619625"/>
            <a:ext cx="587692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>
                <a:solidFill>
                  <a:srgbClr val="F5F3FF"/>
                </a:solidFill>
                <a:latin typeface="Noto Sans KR"/>
                <a:ea typeface="Noto Sans KR"/>
                <a:cs typeface="Noto Sans KR"/>
              </a:rPr>
              <a:t>엔드포인트 다중 구독 충돌</a:t>
            </a:r>
            <a:endParaRPr lang="en-US" sz="1350"/>
          </a:p>
        </p:txBody>
      </p:sp>
      <p:sp>
        <p:nvSpPr>
          <p:cNvPr id="37" name="SK-21-text-36"/>
          <p:cNvSpPr/>
          <p:nvPr/>
        </p:nvSpPr>
        <p:spPr>
          <a:xfrm>
            <a:off x="1257300" y="4914900"/>
            <a:ext cx="916305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전역 알림 아이콘과 요약 페이지가 동일한 SSE 엔드포인트를 구독하면서 백엔드 큐가 덮어씌워짐.</a:t>
            </a:r>
            <a:endParaRPr lang="en-US" sz="1125"/>
          </a:p>
        </p:txBody>
      </p:sp>
      <p:sp>
        <p:nvSpPr>
          <p:cNvPr id="38" name="SK-21-text-37"/>
          <p:cNvSpPr/>
          <p:nvPr/>
        </p:nvSpPr>
        <p:spPr>
          <a:xfrm>
            <a:off x="1257300" y="5548313"/>
            <a:ext cx="5972175" cy="2571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025"/>
              </a:lnSpc>
              <a:buNone/>
              <a:defRPr/>
            </a:pPr>
            <a:r>
              <a:rPr lang="en-US" sz="1350" b="1">
                <a:solidFill>
                  <a:srgbClr val="F5F3FF"/>
                </a:solidFill>
                <a:latin typeface="Noto Sans KR"/>
                <a:ea typeface="Noto Sans KR"/>
                <a:cs typeface="Noto Sans KR"/>
              </a:rPr>
              <a:t>1인 1큐 구조적 한계</a:t>
            </a:r>
            <a:endParaRPr lang="en-US" sz="1350"/>
          </a:p>
        </p:txBody>
      </p:sp>
      <p:sp>
        <p:nvSpPr>
          <p:cNvPr id="39" name="SK-21-text-38"/>
          <p:cNvSpPr/>
          <p:nvPr/>
        </p:nvSpPr>
        <p:spPr>
          <a:xfrm>
            <a:off x="1257300" y="5843588"/>
            <a:ext cx="984885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사용자 ID당 단일 큐로 설계되어, 새로운 연결 요청 시 기존 연결의 큐가 유실되어 메시지 전달 불가.</a:t>
            </a:r>
            <a:endParaRPr lang="en-US" sz="1125"/>
          </a:p>
        </p:txBody>
      </p:sp>
      <p:sp>
        <p:nvSpPr>
          <p:cNvPr id="40" name="SK-21-text-39"/>
          <p:cNvSpPr/>
          <p:nvPr/>
        </p:nvSpPr>
        <p:spPr>
          <a:xfrm>
            <a:off x="8032700" y="1704975"/>
            <a:ext cx="929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350"/>
              </a:lnSpc>
              <a:buNone/>
              <a:defRPr/>
            </a:pPr>
            <a:r>
              <a:rPr lang="en-US" sz="900" b="1" kern="0" spc="60">
                <a:solidFill>
                  <a:srgbClr val="F5F3FF"/>
                </a:solidFill>
                <a:latin typeface="Noto Sans KR"/>
                <a:ea typeface="Noto Sans KR"/>
                <a:cs typeface="Noto Sans KR"/>
              </a:rPr>
              <a:t>SOLUTION</a:t>
            </a:r>
            <a:endParaRPr lang="en-US" sz="900"/>
          </a:p>
        </p:txBody>
      </p:sp>
      <p:sp>
        <p:nvSpPr>
          <p:cNvPr id="41" name="SK-21-text-40"/>
          <p:cNvSpPr/>
          <p:nvPr/>
        </p:nvSpPr>
        <p:spPr>
          <a:xfrm>
            <a:off x="7937450" y="2009775"/>
            <a:ext cx="425455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2700"/>
              </a:lnSpc>
              <a:buNone/>
              <a:defRPr/>
            </a:pPr>
            <a:r>
              <a:rPr lang="en-US" sz="1800" b="1">
                <a:solidFill>
                  <a:srgbClr val="A78BFA"/>
                </a:solidFill>
                <a:latin typeface="Noto Sans KR"/>
                <a:ea typeface="Noto Sans KR"/>
                <a:cs typeface="Noto Sans KR"/>
              </a:rPr>
              <a:t>Fan-out Strategy</a:t>
            </a:r>
            <a:endParaRPr lang="en-US" sz="1800"/>
          </a:p>
        </p:txBody>
      </p:sp>
      <p:sp>
        <p:nvSpPr>
          <p:cNvPr id="42" name="SK-21-text-41"/>
          <p:cNvSpPr/>
          <p:nvPr/>
        </p:nvSpPr>
        <p:spPr>
          <a:xfrm>
            <a:off x="8192244" y="2505075"/>
            <a:ext cx="3454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b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사용자당 다중 큐 지원</a:t>
            </a:r>
            <a:endParaRPr lang="en-US" sz="1125"/>
          </a:p>
        </p:txBody>
      </p:sp>
      <p:sp>
        <p:nvSpPr>
          <p:cNvPr id="43" name="SK-21-text-42"/>
          <p:cNvSpPr/>
          <p:nvPr/>
        </p:nvSpPr>
        <p:spPr>
          <a:xfrm>
            <a:off x="8147000" y="2767013"/>
            <a:ext cx="3244900" cy="3732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_user_queues 자료구조를 user_id → 큐 리스트(List) 맵핑으로 변경하여 중복 구독을 허용합니다.</a:t>
            </a:r>
            <a:endParaRPr lang="en-US" sz="1050"/>
          </a:p>
        </p:txBody>
      </p:sp>
      <p:sp>
        <p:nvSpPr>
          <p:cNvPr id="44" name="SK-21-text-43"/>
          <p:cNvSpPr/>
          <p:nvPr/>
        </p:nvSpPr>
        <p:spPr>
          <a:xfrm>
            <a:off x="8192244" y="3264098"/>
            <a:ext cx="3454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b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메시지 복제 전송 (Fan-out)</a:t>
            </a:r>
            <a:endParaRPr lang="en-US" sz="1125"/>
          </a:p>
        </p:txBody>
      </p:sp>
      <p:sp>
        <p:nvSpPr>
          <p:cNvPr id="45" name="SK-21-text-44"/>
          <p:cNvSpPr/>
          <p:nvPr/>
        </p:nvSpPr>
        <p:spPr>
          <a:xfrm>
            <a:off x="8147000" y="3526036"/>
            <a:ext cx="3244900" cy="3732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이벤트 발생 시 해당 사용자의 모든 활성 큐에 스냅샷 순회 방식을 통해 메시지를 복제하여 전송합니다.</a:t>
            </a:r>
            <a:endParaRPr lang="en-US" sz="1050"/>
          </a:p>
        </p:txBody>
      </p:sp>
      <p:sp>
        <p:nvSpPr>
          <p:cNvPr id="46" name="SK-21-text-45"/>
          <p:cNvSpPr/>
          <p:nvPr/>
        </p:nvSpPr>
        <p:spPr>
          <a:xfrm>
            <a:off x="8192244" y="4023122"/>
            <a:ext cx="3454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687"/>
              </a:lnSpc>
              <a:buNone/>
              <a:defRPr/>
            </a:pPr>
            <a:r>
              <a:rPr lang="en-US" sz="1125" b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정교한 Unsubscribe 처리</a:t>
            </a:r>
            <a:endParaRPr lang="en-US" sz="1125"/>
          </a:p>
        </p:txBody>
      </p:sp>
      <p:sp>
        <p:nvSpPr>
          <p:cNvPr id="47" name="SK-21-text-46"/>
          <p:cNvSpPr/>
          <p:nvPr/>
        </p:nvSpPr>
        <p:spPr>
          <a:xfrm>
            <a:off x="8147000" y="4285059"/>
            <a:ext cx="3244900" cy="373261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70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자기 자신(q)의 큐만 제거하고, 마지막 연결이 끊길 때만 user_id 키를 정리하여 연결 안정성을 확보합니다.</a:t>
            </a:r>
            <a:endParaRPr lang="en-US" sz="1050"/>
          </a:p>
        </p:txBody>
      </p:sp>
      <p:sp>
        <p:nvSpPr>
          <p:cNvPr id="48" name="SK-21-text-47"/>
          <p:cNvSpPr/>
          <p:nvPr/>
        </p:nvSpPr>
        <p:spPr>
          <a:xfrm>
            <a:off x="8051750" y="4905970"/>
            <a:ext cx="3225850" cy="9334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A78BFA"/>
                </a:solidFill>
              </a:rPr>
              <a:t># Multi-Queue Logic</a:t>
            </a:r>
          </a:p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A78BFA"/>
                </a:solidFill>
              </a:rPr>
              <a:t>queues = self._user_queues[uid]</a:t>
            </a:r>
          </a:p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A78BFA"/>
                </a:solidFill>
              </a:rPr>
              <a:t>for q in list(queues):</a:t>
            </a:r>
          </a:p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A78BFA"/>
                </a:solidFill>
              </a:rPr>
              <a:t>  q.put_nowait(message)</a:t>
            </a:r>
            <a:endParaRPr lang="en-US" sz="975"/>
          </a:p>
        </p:txBody>
      </p:sp>
      <p:sp>
        <p:nvSpPr>
          <p:cNvPr id="49" name="SK-21-text-48"/>
          <p:cNvSpPr/>
          <p:nvPr/>
        </p:nvSpPr>
        <p:spPr>
          <a:xfrm>
            <a:off x="8168432" y="6186488"/>
            <a:ext cx="4023568" cy="185738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463"/>
              </a:lnSpc>
              <a:buNone/>
              <a:defRPr/>
            </a:pPr>
            <a:r>
              <a:rPr lang="en-US" sz="975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스케일아웃 시 Redis Pub/Sub으로 전환 예정</a:t>
            </a:r>
            <a:endParaRPr lang="en-US" sz="97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22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6" name="SK-22-img-5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524000"/>
            <a:ext cx="2619375" cy="4610100"/>
          </a:xfrm>
          <a:prstGeom prst="rect">
            <a:avLst/>
          </a:prstGeom>
        </p:spPr>
      </p:pic>
      <p:pic>
        <p:nvPicPr>
          <p:cNvPr id="7" name="SK-22-img-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95438" y="1666875"/>
            <a:ext cx="571500" cy="571500"/>
          </a:xfrm>
          <a:prstGeom prst="rect">
            <a:avLst/>
          </a:prstGeom>
        </p:spPr>
      </p:pic>
      <p:pic>
        <p:nvPicPr>
          <p:cNvPr id="8" name="SK-22-img-7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738313" y="1838325"/>
            <a:ext cx="285750" cy="228600"/>
          </a:xfrm>
          <a:prstGeom prst="rect">
            <a:avLst/>
          </a:prstGeom>
        </p:spPr>
      </p:pic>
      <p:pic>
        <p:nvPicPr>
          <p:cNvPr id="9" name="SK-22-img-8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0100" y="3067050"/>
            <a:ext cx="57150" cy="57150"/>
          </a:xfrm>
          <a:prstGeom prst="rect">
            <a:avLst/>
          </a:prstGeom>
        </p:spPr>
      </p:pic>
      <p:pic>
        <p:nvPicPr>
          <p:cNvPr id="10" name="SK-22-img-9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00100" y="3600450"/>
            <a:ext cx="57150" cy="57150"/>
          </a:xfrm>
          <a:prstGeom prst="rect">
            <a:avLst/>
          </a:prstGeom>
        </p:spPr>
      </p:pic>
      <p:pic>
        <p:nvPicPr>
          <p:cNvPr id="11" name="SK-22-img-10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0100" y="4133850"/>
            <a:ext cx="57150" cy="57150"/>
          </a:xfrm>
          <a:prstGeom prst="rect">
            <a:avLst/>
          </a:prstGeom>
        </p:spPr>
      </p:pic>
      <p:pic>
        <p:nvPicPr>
          <p:cNvPr id="12" name="SK-22-img-11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0100" y="4667250"/>
            <a:ext cx="57150" cy="57150"/>
          </a:xfrm>
          <a:prstGeom prst="rect">
            <a:avLst/>
          </a:prstGeom>
        </p:spPr>
      </p:pic>
      <p:pic>
        <p:nvPicPr>
          <p:cNvPr id="13" name="SK-22-img-12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381375" y="1524000"/>
            <a:ext cx="2619375" cy="4610100"/>
          </a:xfrm>
          <a:prstGeom prst="rect">
            <a:avLst/>
          </a:prstGeom>
        </p:spPr>
      </p:pic>
      <p:pic>
        <p:nvPicPr>
          <p:cNvPr id="14" name="SK-22-img-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405313" y="1666875"/>
            <a:ext cx="571500" cy="571500"/>
          </a:xfrm>
          <a:prstGeom prst="rect">
            <a:avLst/>
          </a:prstGeom>
        </p:spPr>
      </p:pic>
      <p:pic>
        <p:nvPicPr>
          <p:cNvPr id="15" name="SK-22-img-14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548188" y="1838325"/>
            <a:ext cx="285750" cy="228600"/>
          </a:xfrm>
          <a:prstGeom prst="rect">
            <a:avLst/>
          </a:prstGeom>
        </p:spPr>
      </p:pic>
      <p:pic>
        <p:nvPicPr>
          <p:cNvPr id="16" name="SK-22-img-15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3609975" y="3067050"/>
            <a:ext cx="57150" cy="57150"/>
          </a:xfrm>
          <a:prstGeom prst="rect">
            <a:avLst/>
          </a:prstGeom>
        </p:spPr>
      </p:pic>
      <p:pic>
        <p:nvPicPr>
          <p:cNvPr id="17" name="SK-22-img-16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3609975" y="3600450"/>
            <a:ext cx="57150" cy="57150"/>
          </a:xfrm>
          <a:prstGeom prst="rect">
            <a:avLst/>
          </a:prstGeom>
        </p:spPr>
      </p:pic>
      <p:pic>
        <p:nvPicPr>
          <p:cNvPr id="18" name="SK-22-img-17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3609975" y="4362450"/>
            <a:ext cx="57150" cy="57150"/>
          </a:xfrm>
          <a:prstGeom prst="rect">
            <a:avLst/>
          </a:prstGeom>
        </p:spPr>
      </p:pic>
      <p:pic>
        <p:nvPicPr>
          <p:cNvPr id="19" name="SK-22-img-18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3609975" y="4895850"/>
            <a:ext cx="57150" cy="57150"/>
          </a:xfrm>
          <a:prstGeom prst="rect">
            <a:avLst/>
          </a:prstGeom>
        </p:spPr>
      </p:pic>
      <p:pic>
        <p:nvPicPr>
          <p:cNvPr id="20" name="SK-22-img-19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191250" y="1524000"/>
            <a:ext cx="2619375" cy="4610100"/>
          </a:xfrm>
          <a:prstGeom prst="rect">
            <a:avLst/>
          </a:prstGeom>
        </p:spPr>
      </p:pic>
      <p:pic>
        <p:nvPicPr>
          <p:cNvPr id="21" name="SK-22-img-20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7215188" y="1666875"/>
            <a:ext cx="571500" cy="571500"/>
          </a:xfrm>
          <a:prstGeom prst="rect">
            <a:avLst/>
          </a:prstGeom>
        </p:spPr>
      </p:pic>
      <p:pic>
        <p:nvPicPr>
          <p:cNvPr id="22" name="SK-22-img-21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7358063" y="1838325"/>
            <a:ext cx="285750" cy="228600"/>
          </a:xfrm>
          <a:prstGeom prst="rect">
            <a:avLst/>
          </a:prstGeom>
        </p:spPr>
      </p:pic>
      <p:pic>
        <p:nvPicPr>
          <p:cNvPr id="23" name="SK-22-img-22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419850" y="3067050"/>
            <a:ext cx="57150" cy="57150"/>
          </a:xfrm>
          <a:prstGeom prst="rect">
            <a:avLst/>
          </a:prstGeom>
        </p:spPr>
      </p:pic>
      <p:pic>
        <p:nvPicPr>
          <p:cNvPr id="24" name="SK-22-img-23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419850" y="3829050"/>
            <a:ext cx="57150" cy="57150"/>
          </a:xfrm>
          <a:prstGeom prst="rect">
            <a:avLst/>
          </a:prstGeom>
        </p:spPr>
      </p:pic>
      <p:pic>
        <p:nvPicPr>
          <p:cNvPr id="25" name="SK-22-img-2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419850" y="4591050"/>
            <a:ext cx="57150" cy="57150"/>
          </a:xfrm>
          <a:prstGeom prst="rect">
            <a:avLst/>
          </a:prstGeom>
        </p:spPr>
      </p:pic>
      <p:pic>
        <p:nvPicPr>
          <p:cNvPr id="26" name="SK-22-img-25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419850" y="5353050"/>
            <a:ext cx="57150" cy="57150"/>
          </a:xfrm>
          <a:prstGeom prst="rect">
            <a:avLst/>
          </a:prstGeom>
        </p:spPr>
      </p:pic>
      <p:pic>
        <p:nvPicPr>
          <p:cNvPr id="27" name="SK-22-img-2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9039225" y="1552575"/>
            <a:ext cx="2619375" cy="4610100"/>
          </a:xfrm>
          <a:prstGeom prst="rect">
            <a:avLst/>
          </a:prstGeom>
        </p:spPr>
      </p:pic>
      <p:pic>
        <p:nvPicPr>
          <p:cNvPr id="28" name="SK-22-img-2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025063" y="1666875"/>
            <a:ext cx="571500" cy="571500"/>
          </a:xfrm>
          <a:prstGeom prst="rect">
            <a:avLst/>
          </a:prstGeom>
        </p:spPr>
      </p:pic>
      <p:pic>
        <p:nvPicPr>
          <p:cNvPr id="29" name="SK-22-img-28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7938" y="1838325"/>
            <a:ext cx="285750" cy="228600"/>
          </a:xfrm>
          <a:prstGeom prst="rect">
            <a:avLst/>
          </a:prstGeom>
        </p:spPr>
      </p:pic>
      <p:pic>
        <p:nvPicPr>
          <p:cNvPr id="30" name="SK-22-img-29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229725" y="3067050"/>
            <a:ext cx="57150" cy="57150"/>
          </a:xfrm>
          <a:prstGeom prst="rect">
            <a:avLst/>
          </a:prstGeom>
        </p:spPr>
      </p:pic>
      <p:pic>
        <p:nvPicPr>
          <p:cNvPr id="31" name="SK-22-img-30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229725" y="3829050"/>
            <a:ext cx="57150" cy="57150"/>
          </a:xfrm>
          <a:prstGeom prst="rect">
            <a:avLst/>
          </a:prstGeom>
        </p:spPr>
      </p:pic>
      <p:pic>
        <p:nvPicPr>
          <p:cNvPr id="34" name="SK-22-img-33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571500" y="6276975"/>
            <a:ext cx="11049000" cy="352425"/>
          </a:xfrm>
          <a:prstGeom prst="rect">
            <a:avLst/>
          </a:prstGeom>
        </p:spPr>
      </p:pic>
      <p:pic>
        <p:nvPicPr>
          <p:cNvPr id="35" name="SK-22-img-34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1550194" y="6384578"/>
            <a:ext cx="166688" cy="137220"/>
          </a:xfrm>
          <a:prstGeom prst="rect">
            <a:avLst/>
          </a:prstGeom>
        </p:spPr>
      </p:pic>
      <p:pic>
        <p:nvPicPr>
          <p:cNvPr id="36" name="SK-22-img-35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4831556" y="6384578"/>
            <a:ext cx="166688" cy="137220"/>
          </a:xfrm>
          <a:prstGeom prst="rect">
            <a:avLst/>
          </a:prstGeom>
        </p:spPr>
      </p:pic>
      <p:pic>
        <p:nvPicPr>
          <p:cNvPr id="37" name="SK-22-img-36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7569994" y="6384578"/>
            <a:ext cx="166688" cy="137220"/>
          </a:xfrm>
          <a:prstGeom prst="rect">
            <a:avLst/>
          </a:prstGeom>
        </p:spPr>
      </p:pic>
      <p:sp>
        <p:nvSpPr>
          <p:cNvPr id="39" name="SK-22-text-38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조원별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역할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및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핵심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</a:t>
            </a:r>
            <a:r>
              <a:rPr lang="en-US" sz="2550" b="1" kern="0" spc="-30" dirty="0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sz="2550" b="1" kern="0" spc="-30" dirty="0" err="1">
                <a:solidFill>
                  <a:srgbClr val="F5F3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기여도</a:t>
            </a:r>
            <a:endParaRPr lang="en-US" sz="25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0" name="SK-22-text-39"/>
          <p:cNvSpPr/>
          <p:nvPr/>
        </p:nvSpPr>
        <p:spPr>
          <a:xfrm>
            <a:off x="1471613" y="2314575"/>
            <a:ext cx="81915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ko-KR" altLang="en-US" sz="1800" b="1" dirty="0" err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조유빈</a:t>
            </a:r>
            <a:endParaRPr lang="ko-KR" altLang="en-US" sz="1800" b="1" dirty="0">
              <a:solidFill>
                <a:srgbClr val="F5F3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SK-22-text-40"/>
          <p:cNvSpPr/>
          <p:nvPr/>
        </p:nvSpPr>
        <p:spPr>
          <a:xfrm>
            <a:off x="942975" y="2695575"/>
            <a:ext cx="1876425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575"/>
              </a:lnSpc>
              <a:buNone/>
              <a:defRPr/>
            </a:pPr>
            <a:r>
              <a:rPr lang="ko-KR" altLang="en-US" sz="1050" kern="0" spc="60" dirty="0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팀장</a:t>
            </a:r>
          </a:p>
          <a:p>
            <a:pPr marL="0" indent="0" algn="ctr">
              <a:lnSpc>
                <a:spcPts val="1575"/>
              </a:lnSpc>
              <a:buNone/>
              <a:defRPr/>
            </a:pPr>
            <a:r>
              <a:rPr lang="en-US" sz="1050" kern="0" spc="60" dirty="0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SYSTEM ARCHITECTURE</a:t>
            </a:r>
            <a:endParaRPr lang="en-US" sz="105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2" name="SK-22-text-41"/>
          <p:cNvSpPr/>
          <p:nvPr/>
        </p:nvSpPr>
        <p:spPr>
          <a:xfrm>
            <a:off x="952500" y="3019425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Docker Compose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기반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마이크로서비스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컨테이너화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설계</a:t>
            </a:r>
            <a:endParaRPr lang="en-US" sz="1200" dirty="0">
              <a:latin typeface="나눔스퀘어"/>
            </a:endParaRPr>
          </a:p>
        </p:txBody>
      </p:sp>
      <p:sp>
        <p:nvSpPr>
          <p:cNvPr id="43" name="SK-22-text-42"/>
          <p:cNvSpPr/>
          <p:nvPr/>
        </p:nvSpPr>
        <p:spPr>
          <a:xfrm>
            <a:off x="952500" y="3552825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PostgreSQL 16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Redis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영속화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볼륨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(Volumes)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설계</a:t>
            </a:r>
            <a:endParaRPr lang="en-US" sz="1200" dirty="0">
              <a:latin typeface="나눔스퀘어"/>
            </a:endParaRPr>
          </a:p>
        </p:txBody>
      </p:sp>
      <p:sp>
        <p:nvSpPr>
          <p:cNvPr id="44" name="SK-22-text-43"/>
          <p:cNvSpPr/>
          <p:nvPr/>
        </p:nvSpPr>
        <p:spPr>
          <a:xfrm>
            <a:off x="952500" y="4086225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전체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시스템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ERD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모델링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데이터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테이블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구조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정의</a:t>
            </a:r>
            <a:endParaRPr lang="en-US" sz="1200" dirty="0">
              <a:latin typeface="나눔스퀘어"/>
            </a:endParaRPr>
          </a:p>
        </p:txBody>
      </p:sp>
      <p:sp>
        <p:nvSpPr>
          <p:cNvPr id="45" name="SK-22-text-44"/>
          <p:cNvSpPr/>
          <p:nvPr/>
        </p:nvSpPr>
        <p:spPr>
          <a:xfrm>
            <a:off x="952500" y="4619625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프론트엔드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/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백엔드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UI/UX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화면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정의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레이아웃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가이드라인</a:t>
            </a:r>
            <a:endParaRPr lang="en-US" sz="1200" dirty="0">
              <a:latin typeface="나눔스퀘어"/>
            </a:endParaRPr>
          </a:p>
        </p:txBody>
      </p:sp>
      <p:sp>
        <p:nvSpPr>
          <p:cNvPr id="46" name="SK-22-text-45"/>
          <p:cNvSpPr/>
          <p:nvPr/>
        </p:nvSpPr>
        <p:spPr>
          <a:xfrm>
            <a:off x="4319588" y="2314575"/>
            <a:ext cx="74295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en-US" sz="180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이하량</a:t>
            </a:r>
            <a:endParaRPr lang="en-US" sz="18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SK-22-text-46"/>
          <p:cNvSpPr/>
          <p:nvPr/>
        </p:nvSpPr>
        <p:spPr>
          <a:xfrm>
            <a:off x="3876675" y="2695575"/>
            <a:ext cx="1628775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575"/>
              </a:lnSpc>
              <a:buNone/>
              <a:defRPr/>
            </a:pPr>
            <a:r>
              <a:rPr lang="en-US" sz="1050" kern="0" spc="60" dirty="0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LLM &amp; RAG PIPELINE</a:t>
            </a:r>
            <a:endParaRPr lang="en-US" sz="105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SK-22-text-47"/>
          <p:cNvSpPr/>
          <p:nvPr/>
        </p:nvSpPr>
        <p:spPr>
          <a:xfrm>
            <a:off x="3762375" y="2943225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BGE-M3 임베딩</a:t>
            </a:r>
            <a:r>
              <a:rPr lang="en-US" sz="120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모델 한국어 도메인 특화 Fine-tuning</a:t>
            </a:r>
            <a:endParaRPr lang="en-US" sz="1200">
              <a:latin typeface="나눔스퀘어"/>
            </a:endParaRPr>
          </a:p>
        </p:txBody>
      </p:sp>
      <p:sp>
        <p:nvSpPr>
          <p:cNvPr id="49" name="SK-22-text-48"/>
          <p:cNvSpPr/>
          <p:nvPr/>
        </p:nvSpPr>
        <p:spPr>
          <a:xfrm>
            <a:off x="3762375" y="3476625"/>
            <a:ext cx="2009775" cy="6858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Hybrid Search</a:t>
            </a:r>
            <a:r>
              <a:rPr lang="en-US" sz="120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(Vector + BM25) 및 Reranker 통합 구현</a:t>
            </a:r>
            <a:endParaRPr lang="en-US" sz="1200">
              <a:latin typeface="나눔스퀘어"/>
            </a:endParaRPr>
          </a:p>
        </p:txBody>
      </p:sp>
      <p:sp>
        <p:nvSpPr>
          <p:cNvPr id="50" name="SK-22-text-49"/>
          <p:cNvSpPr/>
          <p:nvPr/>
        </p:nvSpPr>
        <p:spPr>
          <a:xfrm>
            <a:off x="3762375" y="4238625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대용량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문서용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Map-Reduce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병렬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요약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워크플로우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설계</a:t>
            </a:r>
            <a:endParaRPr lang="en-US" sz="1200" dirty="0">
              <a:latin typeface="나눔스퀘어"/>
            </a:endParaRPr>
          </a:p>
        </p:txBody>
      </p:sp>
      <p:sp>
        <p:nvSpPr>
          <p:cNvPr id="51" name="SK-22-text-50"/>
          <p:cNvSpPr/>
          <p:nvPr/>
        </p:nvSpPr>
        <p:spPr>
          <a:xfrm>
            <a:off x="3762375" y="4772025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ChromaDB 중복 청크 제거 및 </a:t>
            </a:r>
            <a:r>
              <a:rPr lang="en-US" sz="1200" b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검색 임계값 최적화</a:t>
            </a:r>
            <a:endParaRPr lang="en-US" sz="1200">
              <a:latin typeface="나눔스퀘어"/>
            </a:endParaRPr>
          </a:p>
        </p:txBody>
      </p:sp>
      <p:sp>
        <p:nvSpPr>
          <p:cNvPr id="52" name="SK-22-text-51"/>
          <p:cNvSpPr/>
          <p:nvPr/>
        </p:nvSpPr>
        <p:spPr>
          <a:xfrm>
            <a:off x="7129463" y="2314575"/>
            <a:ext cx="74295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en-US" sz="180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김효영</a:t>
            </a:r>
            <a:endParaRPr lang="en-US" sz="18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3" name="SK-22-text-52"/>
          <p:cNvSpPr/>
          <p:nvPr/>
        </p:nvSpPr>
        <p:spPr>
          <a:xfrm>
            <a:off x="6624638" y="2695575"/>
            <a:ext cx="175260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575"/>
              </a:lnSpc>
              <a:buNone/>
              <a:defRPr/>
            </a:pPr>
            <a:r>
              <a:rPr lang="en-US" sz="1050" kern="0" spc="60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MODEL OPTIMIZATION</a:t>
            </a:r>
            <a:endParaRPr lang="en-US" sz="10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4" name="SK-22-text-53"/>
          <p:cNvSpPr/>
          <p:nvPr/>
        </p:nvSpPr>
        <p:spPr>
          <a:xfrm>
            <a:off x="6572250" y="2907029"/>
            <a:ext cx="2009775" cy="5619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OCR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파이프라인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(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PaddleOCR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,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Docling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)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레이아웃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분석</a:t>
            </a:r>
            <a:endParaRPr lang="en-US" sz="1200" dirty="0">
              <a:latin typeface="나눔스퀘어"/>
            </a:endParaRPr>
          </a:p>
        </p:txBody>
      </p:sp>
      <p:sp>
        <p:nvSpPr>
          <p:cNvPr id="55" name="SK-22-text-54"/>
          <p:cNvSpPr/>
          <p:nvPr/>
        </p:nvSpPr>
        <p:spPr>
          <a:xfrm>
            <a:off x="6572250" y="3651885"/>
            <a:ext cx="2009775" cy="6096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Gemma-2-9B-it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기반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QLoRA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법률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특화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Fine-tuning</a:t>
            </a:r>
            <a:endParaRPr lang="en-US" sz="1200" dirty="0">
              <a:latin typeface="나눔스퀘어"/>
            </a:endParaRPr>
          </a:p>
        </p:txBody>
      </p:sp>
      <p:sp>
        <p:nvSpPr>
          <p:cNvPr id="56" name="SK-22-text-55"/>
          <p:cNvSpPr/>
          <p:nvPr/>
        </p:nvSpPr>
        <p:spPr>
          <a:xfrm>
            <a:off x="6572250" y="4467225"/>
            <a:ext cx="2009775" cy="6858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Ragas 프레임워크</a:t>
            </a:r>
            <a:r>
              <a:rPr lang="en-US" sz="120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활용 정량적 성능 지표 분석 (Faithfulness 등)</a:t>
            </a:r>
            <a:endParaRPr lang="en-US" sz="1200">
              <a:latin typeface="나눔스퀘어"/>
            </a:endParaRPr>
          </a:p>
        </p:txBody>
      </p:sp>
      <p:sp>
        <p:nvSpPr>
          <p:cNvPr id="57" name="SK-22-text-56"/>
          <p:cNvSpPr/>
          <p:nvPr/>
        </p:nvSpPr>
        <p:spPr>
          <a:xfrm>
            <a:off x="6572250" y="5229225"/>
            <a:ext cx="2009775" cy="6858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Hallucination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방지를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위한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거절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학습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(Rejection)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데이터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적용</a:t>
            </a:r>
            <a:endParaRPr lang="en-US" sz="1200" dirty="0">
              <a:latin typeface="나눔스퀘어"/>
            </a:endParaRPr>
          </a:p>
        </p:txBody>
      </p:sp>
      <p:sp>
        <p:nvSpPr>
          <p:cNvPr id="58" name="SK-22-text-57"/>
          <p:cNvSpPr/>
          <p:nvPr/>
        </p:nvSpPr>
        <p:spPr>
          <a:xfrm>
            <a:off x="9939338" y="2314575"/>
            <a:ext cx="74295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en-US" sz="1800" b="1">
                <a:solidFill>
                  <a:srgbClr val="F5F3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김은광</a:t>
            </a:r>
            <a:endParaRPr lang="en-US" sz="18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9" name="SK-22-text-58"/>
          <p:cNvSpPr/>
          <p:nvPr/>
        </p:nvSpPr>
        <p:spPr>
          <a:xfrm>
            <a:off x="9348788" y="2695575"/>
            <a:ext cx="192405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1575"/>
              </a:lnSpc>
              <a:buNone/>
              <a:defRPr/>
            </a:pPr>
            <a:r>
              <a:rPr lang="en-US" sz="1050" kern="0" spc="60">
                <a:solidFill>
                  <a:srgbClr val="A78B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KR"/>
              </a:rPr>
              <a:t>USER &amp; REAL-TIME INFO</a:t>
            </a:r>
            <a:endParaRPr lang="en-US" sz="10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0" name="SK-22-text-59"/>
          <p:cNvSpPr/>
          <p:nvPr/>
        </p:nvSpPr>
        <p:spPr>
          <a:xfrm>
            <a:off x="9382125" y="2988945"/>
            <a:ext cx="2009775" cy="6858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React/TypeScript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기반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Dashboard UI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관리자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페이지</a:t>
            </a:r>
            <a:endParaRPr lang="en-US" sz="1200" dirty="0">
              <a:latin typeface="나눔스퀘어"/>
            </a:endParaRPr>
          </a:p>
        </p:txBody>
      </p:sp>
      <p:sp>
        <p:nvSpPr>
          <p:cNvPr id="61" name="SK-22-text-60"/>
          <p:cNvSpPr/>
          <p:nvPr/>
        </p:nvSpPr>
        <p:spPr>
          <a:xfrm>
            <a:off x="9382125" y="3750945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DB/Cookie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기반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세션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인증</a:t>
            </a:r>
            <a:r>
              <a:rPr lang="en-US" sz="1200" b="1" dirty="0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b="1" dirty="0" err="1">
                <a:solidFill>
                  <a:srgbClr val="F5F3FF"/>
                </a:solidFill>
                <a:latin typeface="나눔스퀘어"/>
                <a:ea typeface="Noto Sans KR"/>
                <a:cs typeface="Noto Sans KR"/>
              </a:rPr>
              <a:t>보안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및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권한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제어</a:t>
            </a:r>
            <a:r>
              <a:rPr lang="en-US" sz="1200" dirty="0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 </a:t>
            </a:r>
            <a:r>
              <a:rPr lang="en-US" sz="1200" dirty="0" err="1">
                <a:solidFill>
                  <a:srgbClr val="C4B5FD"/>
                </a:solidFill>
                <a:latin typeface="나눔스퀘어"/>
                <a:ea typeface="Noto Sans KR"/>
                <a:cs typeface="Noto Sans KR"/>
              </a:rPr>
              <a:t>시스템</a:t>
            </a:r>
            <a:endParaRPr lang="en-US" sz="1200" dirty="0">
              <a:latin typeface="나눔스퀘어"/>
            </a:endParaRPr>
          </a:p>
        </p:txBody>
      </p:sp>
      <p:sp>
        <p:nvSpPr>
          <p:cNvPr id="64" name="SK-22-text-63"/>
          <p:cNvSpPr/>
          <p:nvPr/>
        </p:nvSpPr>
        <p:spPr>
          <a:xfrm>
            <a:off x="1793081" y="6353175"/>
            <a:ext cx="663702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Backend: FastAPI / Frontend: React + Vite</a:t>
            </a:r>
            <a:endParaRPr lang="en-US" sz="1050"/>
          </a:p>
        </p:txBody>
      </p:sp>
      <p:sp>
        <p:nvSpPr>
          <p:cNvPr id="65" name="SK-22-text-64"/>
          <p:cNvSpPr/>
          <p:nvPr/>
        </p:nvSpPr>
        <p:spPr>
          <a:xfrm>
            <a:off x="5074444" y="6353175"/>
            <a:ext cx="535686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Architecture: Microservices (MSA)</a:t>
            </a:r>
            <a:endParaRPr lang="en-US" sz="1050"/>
          </a:p>
        </p:txBody>
      </p:sp>
      <p:sp>
        <p:nvSpPr>
          <p:cNvPr id="66" name="SK-22-text-65"/>
          <p:cNvSpPr/>
          <p:nvPr/>
        </p:nvSpPr>
        <p:spPr>
          <a:xfrm>
            <a:off x="7812881" y="6353175"/>
            <a:ext cx="4379119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Core Modules: OCR / RAG / Workflow / SSE</a:t>
            </a:r>
            <a:endParaRPr lang="en-US" sz="105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CC12E18-9082-4DC9-8572-400E35F63B65}"/>
              </a:ext>
            </a:extLst>
          </p:cNvPr>
          <p:cNvGrpSpPr/>
          <p:nvPr/>
        </p:nvGrpSpPr>
        <p:grpSpPr>
          <a:xfrm>
            <a:off x="817245" y="5010626"/>
            <a:ext cx="2162175" cy="1012984"/>
            <a:chOff x="9229725" y="4194651"/>
            <a:chExt cx="2162175" cy="1012984"/>
          </a:xfrm>
        </p:grpSpPr>
        <p:pic>
          <p:nvPicPr>
            <p:cNvPr id="75" name="SK-22-img-31" descr="preencoded.png">
              <a:extLst>
                <a:ext uri="{FF2B5EF4-FFF2-40B4-BE49-F238E27FC236}">
                  <a16:creationId xmlns:a16="http://schemas.microsoft.com/office/drawing/2014/main" id="{F3EA2AF4-3DAC-4791-96E3-6F52FD1675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9229725" y="4390707"/>
              <a:ext cx="57150" cy="53658"/>
            </a:xfrm>
            <a:prstGeom prst="rect">
              <a:avLst/>
            </a:prstGeom>
          </p:spPr>
        </p:pic>
        <p:pic>
          <p:nvPicPr>
            <p:cNvPr id="76" name="SK-22-img-32" descr="preencoded.png">
              <a:extLst>
                <a:ext uri="{FF2B5EF4-FFF2-40B4-BE49-F238E27FC236}">
                  <a16:creationId xmlns:a16="http://schemas.microsoft.com/office/drawing/2014/main" id="{58D049EC-4CAE-4008-9B8D-76A18226E2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9229725" y="4844256"/>
              <a:ext cx="57150" cy="53658"/>
            </a:xfrm>
            <a:prstGeom prst="rect">
              <a:avLst/>
            </a:prstGeom>
          </p:spPr>
        </p:pic>
        <p:sp>
          <p:nvSpPr>
            <p:cNvPr id="77" name="SK-22-text-61">
              <a:extLst>
                <a:ext uri="{FF2B5EF4-FFF2-40B4-BE49-F238E27FC236}">
                  <a16:creationId xmlns:a16="http://schemas.microsoft.com/office/drawing/2014/main" id="{B3EF932B-7655-4E66-8F1B-969993445654}"/>
                </a:ext>
              </a:extLst>
            </p:cNvPr>
            <p:cNvSpPr/>
            <p:nvPr/>
          </p:nvSpPr>
          <p:spPr>
            <a:xfrm>
              <a:off x="9382125" y="4194651"/>
              <a:ext cx="2009775" cy="64389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anchor="ctr"/>
            <a:lstStyle/>
            <a:p>
              <a:pPr marL="0" indent="0">
                <a:lnSpc>
                  <a:spcPts val="1800"/>
                </a:lnSpc>
                <a:buNone/>
                <a:defRPr/>
              </a:pPr>
              <a:r>
                <a:rPr lang="en-US" sz="1200" b="1" dirty="0">
                  <a:solidFill>
                    <a:srgbClr val="F5F3FF"/>
                  </a:solidFill>
                  <a:latin typeface="나눔스퀘어"/>
                  <a:ea typeface="Noto Sans KR"/>
                  <a:cs typeface="Noto Sans KR"/>
                </a:rPr>
                <a:t>SSE (Server-Sent Events)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 </a:t>
              </a: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활용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 </a:t>
              </a: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실시간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 </a:t>
              </a: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알림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/</a:t>
              </a: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토큰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 </a:t>
              </a: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스트리밍</a:t>
              </a:r>
              <a:endParaRPr lang="en-US" sz="1200" dirty="0">
                <a:latin typeface="나눔스퀘어"/>
              </a:endParaRPr>
            </a:p>
          </p:txBody>
        </p:sp>
        <p:sp>
          <p:nvSpPr>
            <p:cNvPr id="78" name="SK-22-text-62">
              <a:extLst>
                <a:ext uri="{FF2B5EF4-FFF2-40B4-BE49-F238E27FC236}">
                  <a16:creationId xmlns:a16="http://schemas.microsoft.com/office/drawing/2014/main" id="{4F6BAE56-D87F-4E6A-B42D-D03F1E862CF1}"/>
                </a:ext>
              </a:extLst>
            </p:cNvPr>
            <p:cNvSpPr/>
            <p:nvPr/>
          </p:nvSpPr>
          <p:spPr>
            <a:xfrm>
              <a:off x="9382125" y="4778375"/>
              <a:ext cx="2009775" cy="42926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anchor="ctr"/>
            <a:lstStyle/>
            <a:p>
              <a:pPr marL="0" indent="0">
                <a:lnSpc>
                  <a:spcPts val="1800"/>
                </a:lnSpc>
                <a:buNone/>
                <a:defRPr/>
              </a:pP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사용자별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 </a:t>
              </a:r>
              <a:r>
                <a:rPr lang="en-US" sz="1200" b="1" dirty="0" err="1">
                  <a:solidFill>
                    <a:srgbClr val="F5F3FF"/>
                  </a:solidFill>
                  <a:latin typeface="나눔스퀘어"/>
                  <a:ea typeface="Noto Sans KR"/>
                  <a:cs typeface="Noto Sans KR"/>
                </a:rPr>
                <a:t>다중</a:t>
              </a:r>
              <a:r>
                <a:rPr lang="en-US" sz="1200" b="1" dirty="0">
                  <a:solidFill>
                    <a:srgbClr val="F5F3FF"/>
                  </a:solidFill>
                  <a:latin typeface="나눔스퀘어"/>
                  <a:ea typeface="Noto Sans KR"/>
                  <a:cs typeface="Noto Sans KR"/>
                </a:rPr>
                <a:t> 큐(Fan-out)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 </a:t>
              </a:r>
            </a:p>
            <a:p>
              <a:pPr marL="0" indent="0">
                <a:lnSpc>
                  <a:spcPts val="1800"/>
                </a:lnSpc>
                <a:buNone/>
                <a:defRPr/>
              </a:pP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방식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 </a:t>
              </a: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알림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 </a:t>
              </a: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유실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 </a:t>
              </a: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버그</a:t>
              </a:r>
              <a:r>
                <a:rPr lang="en-US" sz="1200" dirty="0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 </a:t>
              </a:r>
              <a:r>
                <a:rPr lang="en-US" sz="1200" dirty="0" err="1">
                  <a:solidFill>
                    <a:srgbClr val="C4B5FD"/>
                  </a:solidFill>
                  <a:latin typeface="나눔스퀘어"/>
                  <a:ea typeface="Noto Sans KR"/>
                  <a:cs typeface="Noto Sans KR"/>
                </a:rPr>
                <a:t>해결</a:t>
              </a:r>
              <a:endParaRPr lang="en-US" sz="1200" dirty="0">
                <a:latin typeface="나눔스퀘어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22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pic>
        <p:nvPicPr>
          <p:cNvPr id="6" name="SK-22-img-5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500" y="1559273"/>
            <a:ext cx="2619375" cy="4610100"/>
          </a:xfrm>
          <a:prstGeom prst="rect">
            <a:avLst/>
          </a:prstGeom>
        </p:spPr>
      </p:pic>
      <p:pic>
        <p:nvPicPr>
          <p:cNvPr id="7" name="SK-22-img-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95438" y="1666875"/>
            <a:ext cx="571500" cy="571500"/>
          </a:xfrm>
          <a:prstGeom prst="rect">
            <a:avLst/>
          </a:prstGeom>
        </p:spPr>
      </p:pic>
      <p:pic>
        <p:nvPicPr>
          <p:cNvPr id="8" name="SK-22-img-7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738313" y="1838325"/>
            <a:ext cx="285750" cy="228600"/>
          </a:xfrm>
          <a:prstGeom prst="rect">
            <a:avLst/>
          </a:prstGeom>
        </p:spPr>
      </p:pic>
      <p:pic>
        <p:nvPicPr>
          <p:cNvPr id="9" name="SK-22-img-8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0100" y="2876550"/>
            <a:ext cx="57150" cy="57150"/>
          </a:xfrm>
          <a:prstGeom prst="rect">
            <a:avLst/>
          </a:prstGeom>
        </p:spPr>
      </p:pic>
      <p:pic>
        <p:nvPicPr>
          <p:cNvPr id="13" name="SK-22-img-12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381375" y="1524000"/>
            <a:ext cx="2619375" cy="4610100"/>
          </a:xfrm>
          <a:prstGeom prst="rect">
            <a:avLst/>
          </a:prstGeom>
        </p:spPr>
      </p:pic>
      <p:pic>
        <p:nvPicPr>
          <p:cNvPr id="14" name="SK-22-img-13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405313" y="1666875"/>
            <a:ext cx="571500" cy="571500"/>
          </a:xfrm>
          <a:prstGeom prst="rect">
            <a:avLst/>
          </a:prstGeom>
        </p:spPr>
      </p:pic>
      <p:pic>
        <p:nvPicPr>
          <p:cNvPr id="15" name="SK-22-img-14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548188" y="1838325"/>
            <a:ext cx="285750" cy="228600"/>
          </a:xfrm>
          <a:prstGeom prst="rect">
            <a:avLst/>
          </a:prstGeom>
        </p:spPr>
      </p:pic>
      <p:pic>
        <p:nvPicPr>
          <p:cNvPr id="16" name="SK-22-img-15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609975" y="2876550"/>
            <a:ext cx="57150" cy="57150"/>
          </a:xfrm>
          <a:prstGeom prst="rect">
            <a:avLst/>
          </a:prstGeom>
        </p:spPr>
      </p:pic>
      <p:pic>
        <p:nvPicPr>
          <p:cNvPr id="20" name="SK-22-img-1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191250" y="1524000"/>
            <a:ext cx="2619375" cy="4610100"/>
          </a:xfrm>
          <a:prstGeom prst="rect">
            <a:avLst/>
          </a:prstGeom>
        </p:spPr>
      </p:pic>
      <p:pic>
        <p:nvPicPr>
          <p:cNvPr id="21" name="SK-22-img-2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7215188" y="1666875"/>
            <a:ext cx="571500" cy="571500"/>
          </a:xfrm>
          <a:prstGeom prst="rect">
            <a:avLst/>
          </a:prstGeom>
        </p:spPr>
      </p:pic>
      <p:pic>
        <p:nvPicPr>
          <p:cNvPr id="22" name="SK-22-img-2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7358063" y="1838325"/>
            <a:ext cx="285750" cy="228600"/>
          </a:xfrm>
          <a:prstGeom prst="rect">
            <a:avLst/>
          </a:prstGeom>
        </p:spPr>
      </p:pic>
      <p:pic>
        <p:nvPicPr>
          <p:cNvPr id="23" name="SK-22-img-22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419850" y="2876550"/>
            <a:ext cx="57150" cy="57150"/>
          </a:xfrm>
          <a:prstGeom prst="rect">
            <a:avLst/>
          </a:prstGeom>
        </p:spPr>
      </p:pic>
      <p:pic>
        <p:nvPicPr>
          <p:cNvPr id="27" name="SK-22-img-26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9001125" y="1524000"/>
            <a:ext cx="2619375" cy="4610100"/>
          </a:xfrm>
          <a:prstGeom prst="rect">
            <a:avLst/>
          </a:prstGeom>
        </p:spPr>
      </p:pic>
      <p:pic>
        <p:nvPicPr>
          <p:cNvPr id="28" name="SK-22-img-27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0025063" y="1666875"/>
            <a:ext cx="571500" cy="571500"/>
          </a:xfrm>
          <a:prstGeom prst="rect">
            <a:avLst/>
          </a:prstGeom>
        </p:spPr>
      </p:pic>
      <p:pic>
        <p:nvPicPr>
          <p:cNvPr id="29" name="SK-22-img-28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7938" y="1838325"/>
            <a:ext cx="285750" cy="228600"/>
          </a:xfrm>
          <a:prstGeom prst="rect">
            <a:avLst/>
          </a:prstGeom>
        </p:spPr>
      </p:pic>
      <p:pic>
        <p:nvPicPr>
          <p:cNvPr id="30" name="SK-22-img-29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229725" y="2876550"/>
            <a:ext cx="57150" cy="57150"/>
          </a:xfrm>
          <a:prstGeom prst="rect">
            <a:avLst/>
          </a:prstGeom>
        </p:spPr>
      </p:pic>
      <p:pic>
        <p:nvPicPr>
          <p:cNvPr id="34" name="SK-22-img-33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571500" y="6276975"/>
            <a:ext cx="11049000" cy="352425"/>
          </a:xfrm>
          <a:prstGeom prst="rect">
            <a:avLst/>
          </a:prstGeom>
        </p:spPr>
      </p:pic>
      <p:pic>
        <p:nvPicPr>
          <p:cNvPr id="35" name="SK-22-img-34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550194" y="6384578"/>
            <a:ext cx="166688" cy="137220"/>
          </a:xfrm>
          <a:prstGeom prst="rect">
            <a:avLst/>
          </a:prstGeom>
        </p:spPr>
      </p:pic>
      <p:pic>
        <p:nvPicPr>
          <p:cNvPr id="36" name="SK-22-img-35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831556" y="6384578"/>
            <a:ext cx="166688" cy="137220"/>
          </a:xfrm>
          <a:prstGeom prst="rect">
            <a:avLst/>
          </a:prstGeom>
        </p:spPr>
      </p:pic>
      <p:sp>
        <p:nvSpPr>
          <p:cNvPr id="39" name="SK-22-text-38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ko-KR" altLang="en-US" sz="2550" b="1" kern="0" spc="-30">
                <a:solidFill>
                  <a:srgbClr val="F5F3FF"/>
                </a:solidFill>
              </a:rPr>
              <a:t>소감</a:t>
            </a:r>
          </a:p>
        </p:txBody>
      </p:sp>
      <p:sp>
        <p:nvSpPr>
          <p:cNvPr id="40" name="SK-22-text-39"/>
          <p:cNvSpPr/>
          <p:nvPr/>
        </p:nvSpPr>
        <p:spPr>
          <a:xfrm>
            <a:off x="1471613" y="2314575"/>
            <a:ext cx="81915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ko-KR" altLang="en-US" sz="1800" b="1" dirty="0" err="1">
                <a:solidFill>
                  <a:srgbClr val="F5F3FF"/>
                </a:solidFill>
              </a:rPr>
              <a:t>조유빈</a:t>
            </a:r>
            <a:endParaRPr lang="ko-KR" altLang="en-US" sz="1800" b="1" dirty="0">
              <a:solidFill>
                <a:srgbClr val="F5F3FF"/>
              </a:solidFill>
            </a:endParaRPr>
          </a:p>
        </p:txBody>
      </p:sp>
      <p:sp>
        <p:nvSpPr>
          <p:cNvPr id="42" name="SK-22-text-41"/>
          <p:cNvSpPr/>
          <p:nvPr/>
        </p:nvSpPr>
        <p:spPr>
          <a:xfrm>
            <a:off x="952500" y="4017645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Fast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 </a:t>
            </a:r>
            <a:r>
              <a:rPr lang="en-US" altLang="ko-KR" sz="1200" dirty="0" err="1">
                <a:solidFill>
                  <a:srgbClr val="C4B5FD"/>
                </a:solidFill>
                <a:latin typeface="나눔스퀘어"/>
                <a:ea typeface="Noto Sans KR"/>
              </a:rPr>
              <a:t>api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와 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REACT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에 대해 알게 된 시간이었습니다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 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그리고 알림과 실시간 취소를 구현하며 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SSE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의 원리에 대해 알 수 있는 뜻깊은 시간이었습니다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 LLM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과 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RAG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에 대해서도 알고 싶었지만 아쉽게도 업무 분담 상 못하게 되었습니다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 프로젝트 끝나고 나서라도 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mockup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과 코드리뷰를 해보면서 그 부분에 대한 이론과 필요한 스킬을 습득할 것 입니다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  </a:t>
            </a:r>
            <a:endParaRPr lang="en-US" sz="1200" dirty="0">
              <a:solidFill>
                <a:srgbClr val="C4B5FD"/>
              </a:solidFill>
              <a:latin typeface="나눔스퀘어"/>
              <a:ea typeface="Noto Sans KR"/>
            </a:endParaRPr>
          </a:p>
        </p:txBody>
      </p:sp>
      <p:sp>
        <p:nvSpPr>
          <p:cNvPr id="46" name="SK-22-text-45"/>
          <p:cNvSpPr/>
          <p:nvPr/>
        </p:nvSpPr>
        <p:spPr>
          <a:xfrm>
            <a:off x="4319588" y="2314575"/>
            <a:ext cx="74295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en-US" sz="1800" b="1">
                <a:solidFill>
                  <a:srgbClr val="F5F3FF"/>
                </a:solidFill>
              </a:rPr>
              <a:t>이하량</a:t>
            </a:r>
            <a:endParaRPr lang="en-US" sz="1800"/>
          </a:p>
        </p:txBody>
      </p:sp>
      <p:sp>
        <p:nvSpPr>
          <p:cNvPr id="48" name="SK-22-text-47"/>
          <p:cNvSpPr/>
          <p:nvPr/>
        </p:nvSpPr>
        <p:spPr>
          <a:xfrm>
            <a:off x="3762375" y="3695700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>
              <a:lnSpc>
                <a:spcPts val="1800"/>
              </a:lnSpc>
              <a:defRPr/>
            </a:pP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이번에도 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LLM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파트를 맡게 되어서 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LLM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파트를 고도화 하는 것에 집중했습니다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그리고 </a:t>
            </a:r>
            <a:r>
              <a:rPr lang="ko-KR" altLang="en-US" sz="1200" dirty="0" err="1">
                <a:solidFill>
                  <a:srgbClr val="C4B5FD"/>
                </a:solidFill>
                <a:latin typeface="나눔스퀘어"/>
                <a:ea typeface="Noto Sans KR"/>
              </a:rPr>
              <a:t>파인튜닝도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 경험 해보아서 제 자신이 조금이라도 성장했다는 것을 느끼게 되었습니다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앞으로도 졸업해서도 컴퓨터 공부를 </a:t>
            </a:r>
            <a:r>
              <a:rPr lang="ko-KR" altLang="en-US" sz="1200" dirty="0" err="1">
                <a:solidFill>
                  <a:srgbClr val="C4B5FD"/>
                </a:solidFill>
                <a:latin typeface="나눔스퀘어"/>
                <a:ea typeface="Noto Sans KR"/>
              </a:rPr>
              <a:t>이어나가야겠다고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 생각하였습니다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</a:t>
            </a:r>
            <a:endParaRPr lang="en-US" sz="1200" dirty="0">
              <a:solidFill>
                <a:srgbClr val="C4B5FD"/>
              </a:solidFill>
              <a:latin typeface="나눔스퀘어"/>
              <a:ea typeface="Noto Sans KR"/>
            </a:endParaRPr>
          </a:p>
        </p:txBody>
      </p:sp>
      <p:sp>
        <p:nvSpPr>
          <p:cNvPr id="52" name="SK-22-text-51"/>
          <p:cNvSpPr/>
          <p:nvPr/>
        </p:nvSpPr>
        <p:spPr>
          <a:xfrm>
            <a:off x="7129463" y="2314575"/>
            <a:ext cx="74295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en-US" sz="1800" b="1">
                <a:solidFill>
                  <a:srgbClr val="F5F3FF"/>
                </a:solidFill>
              </a:rPr>
              <a:t>김효영</a:t>
            </a:r>
            <a:endParaRPr lang="en-US" sz="1800"/>
          </a:p>
        </p:txBody>
      </p:sp>
      <p:sp>
        <p:nvSpPr>
          <p:cNvPr id="55" name="SK-22-text-54"/>
          <p:cNvSpPr/>
          <p:nvPr/>
        </p:nvSpPr>
        <p:spPr>
          <a:xfrm>
            <a:off x="6572250" y="3590925"/>
            <a:ext cx="2009775" cy="6858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OCR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과 </a:t>
            </a:r>
            <a:r>
              <a:rPr lang="en-US" altLang="ko-KR" sz="1200" dirty="0" err="1">
                <a:solidFill>
                  <a:srgbClr val="C4B5FD"/>
                </a:solidFill>
                <a:latin typeface="나눔스퀘어"/>
                <a:ea typeface="Noto Sans KR"/>
              </a:rPr>
              <a:t>llm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 </a:t>
            </a:r>
            <a:r>
              <a:rPr lang="ko-KR" altLang="en-US" sz="1200" dirty="0" err="1">
                <a:solidFill>
                  <a:srgbClr val="C4B5FD"/>
                </a:solidFill>
                <a:latin typeface="나눔스퀘어"/>
                <a:ea typeface="Noto Sans KR"/>
              </a:rPr>
              <a:t>파인튜닝을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 맡아 프로젝트를 진행하게 되었는데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,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정말 너무 어려웠지만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, RAGAS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평가와 </a:t>
            </a:r>
            <a:r>
              <a:rPr lang="ko-KR" altLang="en-US" sz="1200" dirty="0" err="1">
                <a:solidFill>
                  <a:srgbClr val="C4B5FD"/>
                </a:solidFill>
                <a:latin typeface="나눔스퀘어"/>
                <a:ea typeface="Noto Sans KR"/>
              </a:rPr>
              <a:t>거절률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 관리로 신뢰도 있는 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RAG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시스템을 구축했기에 뿌듯합니다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다양한 문서 포맷 처리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, </a:t>
            </a:r>
            <a:r>
              <a:rPr lang="ko-KR" altLang="en-US" sz="1200" dirty="0" err="1">
                <a:solidFill>
                  <a:srgbClr val="C4B5FD"/>
                </a:solidFill>
                <a:latin typeface="나눔스퀘어"/>
                <a:ea typeface="Noto Sans KR"/>
              </a:rPr>
              <a:t>파인튜닝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 데이터 준비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,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평가 지표 설계 등 많은 것을 배울 수 있었습니다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</a:t>
            </a:r>
          </a:p>
          <a:p>
            <a:pPr marL="0" indent="0">
              <a:lnSpc>
                <a:spcPts val="1800"/>
              </a:lnSpc>
              <a:buNone/>
              <a:defRPr/>
            </a:pPr>
            <a:endParaRPr lang="en-US" sz="1200" dirty="0">
              <a:latin typeface="나눔스퀘어"/>
            </a:endParaRPr>
          </a:p>
        </p:txBody>
      </p:sp>
      <p:sp>
        <p:nvSpPr>
          <p:cNvPr id="58" name="SK-22-text-57"/>
          <p:cNvSpPr/>
          <p:nvPr/>
        </p:nvSpPr>
        <p:spPr>
          <a:xfrm>
            <a:off x="9939338" y="2314575"/>
            <a:ext cx="742950" cy="3429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en-US" sz="1800" b="1">
                <a:solidFill>
                  <a:srgbClr val="F5F3FF"/>
                </a:solidFill>
              </a:rPr>
              <a:t>김은광</a:t>
            </a:r>
            <a:endParaRPr lang="en-US" sz="1800"/>
          </a:p>
        </p:txBody>
      </p:sp>
      <p:sp>
        <p:nvSpPr>
          <p:cNvPr id="60" name="SK-22-text-59"/>
          <p:cNvSpPr/>
          <p:nvPr/>
        </p:nvSpPr>
        <p:spPr>
          <a:xfrm>
            <a:off x="9382125" y="2828925"/>
            <a:ext cx="2009775" cy="6858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endParaRPr lang="en-US" sz="1200" dirty="0"/>
          </a:p>
        </p:txBody>
      </p:sp>
      <p:sp>
        <p:nvSpPr>
          <p:cNvPr id="64" name="SK-22-text-63"/>
          <p:cNvSpPr/>
          <p:nvPr/>
        </p:nvSpPr>
        <p:spPr>
          <a:xfrm>
            <a:off x="1793081" y="6353175"/>
            <a:ext cx="663702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Backend: FastAPI / Frontend: React + Vite</a:t>
            </a:r>
            <a:endParaRPr lang="en-US" sz="1050"/>
          </a:p>
        </p:txBody>
      </p:sp>
      <p:sp>
        <p:nvSpPr>
          <p:cNvPr id="65" name="SK-22-text-64"/>
          <p:cNvSpPr/>
          <p:nvPr/>
        </p:nvSpPr>
        <p:spPr>
          <a:xfrm>
            <a:off x="5074444" y="6353175"/>
            <a:ext cx="5356860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Architecture: Microservices (MSA)</a:t>
            </a:r>
            <a:endParaRPr lang="en-US" sz="1050"/>
          </a:p>
        </p:txBody>
      </p:sp>
      <p:sp>
        <p:nvSpPr>
          <p:cNvPr id="66" name="SK-22-text-65"/>
          <p:cNvSpPr/>
          <p:nvPr/>
        </p:nvSpPr>
        <p:spPr>
          <a:xfrm>
            <a:off x="7812881" y="6353175"/>
            <a:ext cx="4379119" cy="20002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575"/>
              </a:lnSpc>
              <a:buNone/>
              <a:defRPr/>
            </a:pPr>
            <a:r>
              <a:rPr lang="en-US" sz="105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Core Modules: OCR / RAG / Workflow / SSE</a:t>
            </a:r>
            <a:endParaRPr lang="en-US" sz="1050"/>
          </a:p>
        </p:txBody>
      </p:sp>
      <p:sp>
        <p:nvSpPr>
          <p:cNvPr id="67" name="SK-22-text-41">
            <a:extLst>
              <a:ext uri="{FF2B5EF4-FFF2-40B4-BE49-F238E27FC236}">
                <a16:creationId xmlns:a16="http://schemas.microsoft.com/office/drawing/2014/main" id="{B5B00795-266C-405E-9112-49DC784738C3}"/>
              </a:ext>
            </a:extLst>
          </p:cNvPr>
          <p:cNvSpPr/>
          <p:nvPr/>
        </p:nvSpPr>
        <p:spPr>
          <a:xfrm>
            <a:off x="9348788" y="3819525"/>
            <a:ext cx="2009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1800"/>
              </a:lnSpc>
              <a:buNone/>
              <a:defRPr/>
            </a:pPr>
            <a:endParaRPr lang="en-US" altLang="ko-KR" sz="1200" dirty="0">
              <a:solidFill>
                <a:srgbClr val="C4B5FD"/>
              </a:solidFill>
              <a:latin typeface="나눔스퀘어"/>
              <a:ea typeface="Noto Sans KR"/>
            </a:endParaRP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이번 프로젝트를 진행하며 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AI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의 도움을 통해 개발 효율성이 향상되는 것을 경험했으며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,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프로그래밍의 패러다임이 확실히 변화하고 있음을 실감했습니다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다만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,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이번에 로그아웃 모듈 구현 시 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AI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를 사용한 코드의 로직 오류가 있었고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, '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최종적인 검증과 책임은 사람이 가져야 한다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' </a:t>
            </a:r>
            <a:r>
              <a:rPr lang="ko-KR" altLang="en-US" sz="1200" dirty="0">
                <a:solidFill>
                  <a:srgbClr val="C4B5FD"/>
                </a:solidFill>
                <a:latin typeface="나눔스퀘어"/>
                <a:ea typeface="Noto Sans KR"/>
              </a:rPr>
              <a:t>라는 것을 다시 한번 </a:t>
            </a:r>
            <a:r>
              <a:rPr lang="ko-KR" altLang="en-US" sz="1200" dirty="0" err="1">
                <a:solidFill>
                  <a:srgbClr val="C4B5FD"/>
                </a:solidFill>
                <a:latin typeface="나눔스퀘어"/>
                <a:ea typeface="Noto Sans KR"/>
              </a:rPr>
              <a:t>깨달았습니다</a:t>
            </a:r>
            <a:r>
              <a:rPr lang="en-US" altLang="ko-KR" sz="1200" dirty="0">
                <a:solidFill>
                  <a:srgbClr val="C4B5FD"/>
                </a:solidFill>
                <a:latin typeface="나눔스퀘어"/>
                <a:ea typeface="Noto Sans KR"/>
              </a:rPr>
              <a:t>.</a:t>
            </a:r>
            <a:endParaRPr lang="en-US" sz="1200" dirty="0">
              <a:solidFill>
                <a:srgbClr val="C4B5FD"/>
              </a:solidFill>
              <a:latin typeface="나눔스퀘어"/>
              <a:ea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23-img-4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323975"/>
            <a:ext cx="11049000" cy="9525"/>
          </a:xfrm>
          <a:prstGeom prst="rect">
            <a:avLst/>
          </a:prstGeom>
        </p:spPr>
      </p:pic>
      <p:sp>
        <p:nvSpPr>
          <p:cNvPr id="15" name="SK-23-text-14"/>
          <p:cNvSpPr/>
          <p:nvPr/>
        </p:nvSpPr>
        <p:spPr>
          <a:xfrm>
            <a:off x="571500" y="685800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>
              <a:lnSpc>
                <a:spcPts val="3825"/>
              </a:lnSpc>
              <a:buNone/>
              <a:defRPr/>
            </a:pPr>
            <a:r>
              <a:rPr lang="en-US" sz="2550" b="1" kern="0" spc="-30">
                <a:solidFill>
                  <a:srgbClr val="F5F3FF"/>
                </a:solidFill>
              </a:rPr>
              <a:t>Q&amp;A 및 마무리</a:t>
            </a:r>
            <a:endParaRPr lang="en-US" sz="2550"/>
          </a:p>
        </p:txBody>
      </p:sp>
      <p:sp>
        <p:nvSpPr>
          <p:cNvPr id="16" name="SK-23-text-15"/>
          <p:cNvSpPr/>
          <p:nvPr/>
        </p:nvSpPr>
        <p:spPr>
          <a:xfrm>
            <a:off x="1595438" y="3124200"/>
            <a:ext cx="9001125" cy="80010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6300"/>
              </a:lnSpc>
              <a:buNone/>
              <a:defRPr/>
            </a:pPr>
            <a:r>
              <a:rPr lang="en-US" sz="6300" b="1" kern="0" spc="-120">
                <a:solidFill>
                  <a:srgbClr val="F5F3FF"/>
                </a:solidFill>
              </a:rPr>
              <a:t>QUESTIONS &amp; ANSWERS</a:t>
            </a:r>
            <a:endParaRPr lang="en-US" sz="6300"/>
          </a:p>
        </p:txBody>
      </p:sp>
      <p:sp>
        <p:nvSpPr>
          <p:cNvPr id="17" name="SK-23-text-16"/>
          <p:cNvSpPr/>
          <p:nvPr/>
        </p:nvSpPr>
        <p:spPr>
          <a:xfrm>
            <a:off x="3552825" y="4000500"/>
            <a:ext cx="5086350" cy="400050"/>
          </a:xfrm>
          <a:prstGeom prst="rect">
            <a:avLst/>
          </a:prstGeom>
          <a:noFill/>
          <a:ln/>
        </p:spPr>
        <p:txBody>
          <a:bodyPr vert="horz" wrap="square" lIns="0" tIns="0" rIns="0" bIns="0" anchor="ctr"/>
          <a:lstStyle/>
          <a:p>
            <a:pPr marL="0" indent="0" algn="ctr">
              <a:lnSpc>
                <a:spcPts val="3150"/>
              </a:lnSpc>
              <a:buNone/>
              <a:defRPr/>
            </a:pPr>
            <a:r>
              <a:rPr lang="en-US" sz="2100">
                <a:solidFill>
                  <a:srgbClr val="C4B5FD"/>
                </a:solidFill>
                <a:latin typeface="Noto Sans KR"/>
                <a:ea typeface="Noto Sans KR"/>
                <a:cs typeface="Noto Sans KR"/>
              </a:rPr>
              <a:t>감사합니다. 질문이 있으시면 말씀해 주세요.</a:t>
            </a:r>
            <a:endParaRPr lang="en-US" sz="2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2983</Words>
  <Application>Microsoft Office PowerPoint</Application>
  <PresentationFormat>와이드스크린</PresentationFormat>
  <Paragraphs>590</Paragraphs>
  <Slides>24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나눔스퀘어</vt:lpstr>
      <vt:lpstr>나눔스퀘어 Bold</vt:lpstr>
      <vt:lpstr>나눔스퀘어 ExtraBold</vt:lpstr>
      <vt:lpstr>나눔스퀘어_ac</vt:lpstr>
      <vt:lpstr>나눔스퀘어_ac ExtraBold</vt:lpstr>
      <vt:lpstr>나눔스퀘어_ac Light</vt:lpstr>
      <vt:lpstr>Arial</vt:lpstr>
      <vt:lpstr>Calibri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2class_18</cp:lastModifiedBy>
  <cp:revision>37</cp:revision>
  <dcterms:created xsi:type="dcterms:W3CDTF">2026-07-01T01:15:47Z</dcterms:created>
  <dcterms:modified xsi:type="dcterms:W3CDTF">2026-07-01T04:28:22Z</dcterms:modified>
  <cp:version/>
</cp:coreProperties>
</file>