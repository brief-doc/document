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KxKZpE9ryjpOhmigcIUXyhYip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EC508F-6946-427C-8DE2-DB8AAD785D8E}">
  <a:tblStyle styleId="{A6EC508F-6946-427C-8DE2-DB8AAD785D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»"/>
              <a:defRPr sz="2800"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2" type="body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2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2" type="body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43"/>
          <p:cNvSpPr/>
          <p:nvPr>
            <p:ph idx="2" type="pic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4318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609600" y="1600200"/>
            <a:ext cx="109601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764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/>
        </p:nvSpPr>
        <p:spPr>
          <a:xfrm>
            <a:off x="960437" y="2193925"/>
            <a:ext cx="99663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공공문서 AI 분석 시스템</a:t>
            </a:r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960437" y="3292475"/>
            <a:ext cx="9966325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FEA"/>
              </a:buClr>
              <a:buSzPts val="2200"/>
              <a:buFont typeface="Malgun Gothic"/>
              <a:buNone/>
            </a:pPr>
            <a:r>
              <a:rPr b="0" i="0" lang="en-US" sz="2200" u="none" cap="none" strike="noStrike">
                <a:solidFill>
                  <a:srgbClr val="BFCFE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설계서</a:t>
            </a:r>
            <a:endParaRPr/>
          </a:p>
        </p:txBody>
      </p:sp>
      <p:sp>
        <p:nvSpPr>
          <p:cNvPr id="51" name="Google Shape;51;p1"/>
          <p:cNvSpPr txBox="1"/>
          <p:nvPr/>
        </p:nvSpPr>
        <p:spPr>
          <a:xfrm>
            <a:off x="960437" y="4389437"/>
            <a:ext cx="99663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FE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BFCF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2026-06-25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228600" y="63500"/>
            <a:ext cx="90519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 화면 목록 (IA)  &amp;  사용자 역할 정의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2363787" y="2487612"/>
            <a:ext cx="2925762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764"/>
              </a:buClr>
              <a:buSzPts val="2000"/>
              <a:buFont typeface="Malgun Gothic"/>
              <a:buNone/>
            </a:pPr>
            <a:r>
              <a:rPr b="1" i="0" lang="en-US" sz="2000" u="none">
                <a:solidFill>
                  <a:srgbClr val="1F3764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역할 정의</a:t>
            </a:r>
            <a:endParaRPr/>
          </a:p>
        </p:txBody>
      </p:sp>
      <p:graphicFrame>
        <p:nvGraphicFramePr>
          <p:cNvPr id="59" name="Google Shape;59;p2"/>
          <p:cNvGraphicFramePr/>
          <p:nvPr/>
        </p:nvGraphicFramePr>
        <p:xfrm>
          <a:off x="2376487" y="3179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2017700"/>
                <a:gridCol w="1741475"/>
                <a:gridCol w="3667125"/>
              </a:tblGrid>
              <a:tr h="3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 코드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권한·기능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staff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조회, 기안 작성·상신, RAG 검색, 문서 업로드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approver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결재권자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결재 (승인/반려), 기안 목록 조회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관리, 통계 조회, 계정 활성화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staff+approver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겸직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 + 결재권자 기능 동시 수행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228600" y="63500"/>
            <a:ext cx="90519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 화면 목록 (IA)  &amp;  사용자 역할 정의</a:t>
            </a:r>
            <a:endParaRPr/>
          </a:p>
        </p:txBody>
      </p:sp>
      <p:graphicFrame>
        <p:nvGraphicFramePr>
          <p:cNvPr id="66" name="Google Shape;66;p3"/>
          <p:cNvGraphicFramePr/>
          <p:nvPr/>
        </p:nvGraphicFramePr>
        <p:xfrm>
          <a:off x="1292225" y="1262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1004875"/>
                <a:gridCol w="2470150"/>
                <a:gridCol w="2559050"/>
                <a:gridCol w="2743200"/>
                <a:gridCol w="1281100"/>
              </a:tblGrid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라우트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접근 권한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(비로그인)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Auth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 대시보드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/staff/dashboard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허브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결재권자 대시보드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/approver/dashboard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결재권자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Approval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질의응답 (RAG)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/rag-search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담당자, 결재권자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업로드·요약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/document-summary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Pipeline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Draft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작성 / 수정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/draft/new, /draft/:id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Draft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/draft/view/:id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실무 담당자, 결재권자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Draft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/document/:id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(로그인)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Document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 대시보드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/admin/dashboard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생성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/admin/users/create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활동 내역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/admin/users/:userId/activity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관리자, 본인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Activity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마이페이지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/mypage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(로그인)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MyPage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 유저 관리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/admin/users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SCR-015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파이프라인 모니터링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/admin/documents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b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228600" y="63500"/>
            <a:ext cx="11522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 SCR-001  |  로그인   /    접근: 전체 (비로그인)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1417637" y="2011362"/>
            <a:ext cx="2103437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AAA"/>
              </a:buClr>
              <a:buSzPts val="1000"/>
              <a:buFont typeface="Malgun Gothic"/>
              <a:buNone/>
            </a:pPr>
            <a:r>
              <a:rPr b="0" i="0" lang="en-US" sz="1000" u="none">
                <a:solidFill>
                  <a:srgbClr val="889AAA"/>
                </a:solidFill>
                <a:latin typeface="Malgun Gothic"/>
                <a:ea typeface="Malgun Gothic"/>
                <a:cs typeface="Malgun Gothic"/>
                <a:sym typeface="Malgun Gothic"/>
              </a:rPr>
              <a:t>[ 스크린샷 첨부 영역 ]</a:t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7359650" y="3775075"/>
            <a:ext cx="4572000" cy="100488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7469187" y="3802062"/>
            <a:ext cx="4370387" cy="950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이메일 주소를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비밀번호를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로그인 버튼을 클릭하여 인증 API를 호출합니다.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초기 비밀번호 로그인 시 비밀번호 변경 모달이 표시됩니다.</a:t>
            </a:r>
            <a:endParaRPr/>
          </a:p>
        </p:txBody>
      </p:sp>
      <p:graphicFrame>
        <p:nvGraphicFramePr>
          <p:cNvPr id="76" name="Google Shape;76;p4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8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형식(@) 검사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입력값 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(Password)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최소 길이 검사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입력값 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필수값 입력 시 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/auth/login 호출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클릭 방지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변경 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Modal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user_login=null 시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변경 후 재로그인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Google Shape;77;p4"/>
          <p:cNvSpPr txBox="1"/>
          <p:nvPr/>
        </p:nvSpPr>
        <p:spPr>
          <a:xfrm>
            <a:off x="157162" y="4865687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4173537" y="4916487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pic>
        <p:nvPicPr>
          <p:cNvPr descr="Google Shape;79;p4"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37" y="960437"/>
            <a:ext cx="3398837" cy="37369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grpSp>
        <p:nvGrpSpPr>
          <p:cNvPr id="80" name="Google Shape;80;p4"/>
          <p:cNvGrpSpPr/>
          <p:nvPr/>
        </p:nvGrpSpPr>
        <p:grpSpPr>
          <a:xfrm>
            <a:off x="596900" y="2949575"/>
            <a:ext cx="228600" cy="228600"/>
            <a:chOff x="0" y="0"/>
            <a:chExt cx="228600" cy="228600"/>
          </a:xfrm>
        </p:grpSpPr>
        <p:sp>
          <p:nvSpPr>
            <p:cNvPr id="81" name="Google Shape;81;p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83" name="Google Shape;83;p4"/>
          <p:cNvGrpSpPr/>
          <p:nvPr/>
        </p:nvGrpSpPr>
        <p:grpSpPr>
          <a:xfrm>
            <a:off x="596900" y="3463925"/>
            <a:ext cx="228600" cy="228600"/>
            <a:chOff x="0" y="0"/>
            <a:chExt cx="228600" cy="228600"/>
          </a:xfrm>
        </p:grpSpPr>
        <p:sp>
          <p:nvSpPr>
            <p:cNvPr id="84" name="Google Shape;84;p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86" name="Google Shape;86;p4"/>
          <p:cNvGrpSpPr/>
          <p:nvPr/>
        </p:nvGrpSpPr>
        <p:grpSpPr>
          <a:xfrm>
            <a:off x="1582737" y="3878262"/>
            <a:ext cx="228600" cy="228600"/>
            <a:chOff x="0" y="0"/>
            <a:chExt cx="228600" cy="228600"/>
          </a:xfrm>
        </p:grpSpPr>
        <p:sp>
          <p:nvSpPr>
            <p:cNvPr id="87" name="Google Shape;87;p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pic>
        <p:nvPicPr>
          <p:cNvPr descr="Google Shape;89;p4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1150" y="3676650"/>
            <a:ext cx="3200400" cy="260508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grpSp>
        <p:nvGrpSpPr>
          <p:cNvPr id="90" name="Google Shape;90;p4"/>
          <p:cNvGrpSpPr/>
          <p:nvPr/>
        </p:nvGrpSpPr>
        <p:grpSpPr>
          <a:xfrm>
            <a:off x="3409950" y="5756275"/>
            <a:ext cx="228600" cy="228600"/>
            <a:chOff x="0" y="0"/>
            <a:chExt cx="228600" cy="228600"/>
          </a:xfrm>
        </p:grpSpPr>
        <p:sp>
          <p:nvSpPr>
            <p:cNvPr id="91" name="Google Shape;91;p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28600" y="63500"/>
            <a:ext cx="11522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 SCR-001  |  로그인   /    접근: 전체 (비로그인)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55562" y="2171700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57162" y="2198687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77787" y="2425700"/>
            <a:ext cx="3851275" cy="178435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155575" y="2413000"/>
            <a:ext cx="3740150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버튼 클릭 → POST /auth/login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성공 → sessionStorage 저장, 역할별 리다이렉트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실무 담당자 → /staff/dashboard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결재권자 → /approver/dashboard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관리자 → /admin/dashboard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비밀번호 → 변경 모달 표시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실패 → errorMessage 노출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4073525" y="2222500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4173537" y="2249487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4071937" y="2481262"/>
            <a:ext cx="3894137" cy="16732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4110838" y="2623350"/>
            <a:ext cx="3738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/auth/login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/auth/me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버튼 비활성 + 스피너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폼 하단 오류 문구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8070850" y="2233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8172450" y="2260600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8064500" y="2492375"/>
            <a:ext cx="3895800" cy="16509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174037" y="2624137"/>
            <a:ext cx="37401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로그인·역할별 이동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비밀번호 모달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불일치 오류 메시지 확인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15;p6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" y="1571625"/>
            <a:ext cx="4718050" cy="472916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116" name="Google Shape;116;p6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 SCR-002  |  실무 담당자 대시보드  |  /staff/dashboard  |  접근: 실무 담당자 (staff)</a:t>
            </a:r>
            <a:endParaRPr/>
          </a:p>
        </p:txBody>
      </p:sp>
      <p:grpSp>
        <p:nvGrpSpPr>
          <p:cNvPr id="118" name="Google Shape;118;p6"/>
          <p:cNvGrpSpPr/>
          <p:nvPr/>
        </p:nvGrpSpPr>
        <p:grpSpPr>
          <a:xfrm>
            <a:off x="2344737" y="5243512"/>
            <a:ext cx="228600" cy="228600"/>
            <a:chOff x="0" y="0"/>
            <a:chExt cx="228600" cy="228600"/>
          </a:xfrm>
        </p:grpSpPr>
        <p:sp>
          <p:nvSpPr>
            <p:cNvPr id="119" name="Google Shape;119;p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/>
            </a:p>
          </p:txBody>
        </p:sp>
      </p:grpSp>
      <p:sp>
        <p:nvSpPr>
          <p:cNvPr id="121" name="Google Shape;121;p6"/>
          <p:cNvSpPr txBox="1"/>
          <p:nvPr/>
        </p:nvSpPr>
        <p:spPr>
          <a:xfrm>
            <a:off x="5389562" y="4454525"/>
            <a:ext cx="4572000" cy="180498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5499100" y="4483100"/>
            <a:ext cx="4371975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알림 드롭다운에서 실시간 알림을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카테고리 필터·키워드 검색으로 문서를 조회합니다.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문서 클릭 시 문서 상세 페이지로 이동합니다.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기안 상태 필터로 기안 목록을 필터링합니다.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기안 작성·문서 요약 업로드 바로가기를 사용합니다.</a:t>
            </a:r>
            <a:endParaRPr/>
          </a:p>
        </p:txBody>
      </p:sp>
      <p:graphicFrame>
        <p:nvGraphicFramePr>
          <p:cNvPr id="123" name="Google Shape;123;p6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알림 드롭다운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Dropdown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SSE 연결 시 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알림 읽음 처리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SSE 실시간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카테고리 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Select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'전체'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카테고리 목록 기준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/documents/ 재조회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키워드 검색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 포함 검색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/documents/ 재조회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 기준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Select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'최신순'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created_at/asc/title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 재정렬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5건/페이지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 시 /document/:id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상태 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ButtonGroup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'전체'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all/draft/pending/approved/rejected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필터링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 시 /draft/view/:id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삭제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모달 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DELETE /drafts/:id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임시저장만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24" name="Google Shape;124;p6"/>
          <p:cNvGrpSpPr/>
          <p:nvPr/>
        </p:nvGrpSpPr>
        <p:grpSpPr>
          <a:xfrm>
            <a:off x="4002087" y="2036762"/>
            <a:ext cx="228600" cy="228600"/>
            <a:chOff x="0" y="0"/>
            <a:chExt cx="228600" cy="228600"/>
          </a:xfrm>
        </p:grpSpPr>
        <p:sp>
          <p:nvSpPr>
            <p:cNvPr id="125" name="Google Shape;125;p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127" name="Google Shape;127;p6"/>
          <p:cNvGrpSpPr/>
          <p:nvPr/>
        </p:nvGrpSpPr>
        <p:grpSpPr>
          <a:xfrm>
            <a:off x="2344737" y="2759075"/>
            <a:ext cx="228600" cy="228600"/>
            <a:chOff x="0" y="0"/>
            <a:chExt cx="228600" cy="228600"/>
          </a:xfrm>
        </p:grpSpPr>
        <p:sp>
          <p:nvSpPr>
            <p:cNvPr id="128" name="Google Shape;128;p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130" name="Google Shape;130;p6"/>
          <p:cNvGrpSpPr/>
          <p:nvPr/>
        </p:nvGrpSpPr>
        <p:grpSpPr>
          <a:xfrm>
            <a:off x="4002087" y="2551112"/>
            <a:ext cx="228600" cy="228600"/>
            <a:chOff x="0" y="0"/>
            <a:chExt cx="228600" cy="228600"/>
          </a:xfrm>
        </p:grpSpPr>
        <p:sp>
          <p:nvSpPr>
            <p:cNvPr id="131" name="Google Shape;131;p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133" name="Google Shape;133;p6"/>
          <p:cNvGrpSpPr/>
          <p:nvPr/>
        </p:nvGrpSpPr>
        <p:grpSpPr>
          <a:xfrm>
            <a:off x="1943100" y="5754687"/>
            <a:ext cx="228600" cy="228600"/>
            <a:chOff x="0" y="0"/>
            <a:chExt cx="228600" cy="228600"/>
          </a:xfrm>
        </p:grpSpPr>
        <p:sp>
          <p:nvSpPr>
            <p:cNvPr id="134" name="Google Shape;134;p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 SCR-002  |  실무 담당자 대시보드  |  /staff/dashboard  |  접근: 실무 담당자 (staff)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82562" y="1909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284162" y="193675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182562" y="2165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284162" y="2184400"/>
            <a:ext cx="3738562" cy="1319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클릭 → /document/:id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클릭 → /draft/view/:id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요약 → /document-summary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작성 → /draft/new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삭제 → ConfirmModal → DELETE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4124325" y="1909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224337" y="193675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4124325" y="2165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4224337" y="2184400"/>
            <a:ext cx="3740150" cy="196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/documents/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/drafts/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DELETE /drafts/:id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SSE /notifications/stream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없음: 안내 문구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실패: toast.error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064500" y="1909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8166100" y="193675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8064500" y="2165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8166100" y="2184400"/>
            <a:ext cx="3740150" cy="81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필터·검색·정렬 동작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상태 필터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SSE 알림 수신 확인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붙여넣은 동영상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12" y="3211512"/>
            <a:ext cx="6392862" cy="32242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sp>
        <p:nvSpPr>
          <p:cNvPr id="159" name="Google Shape;159;p8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 SCR-003  |  결재권자 대시보드  |  /approver/dashboard  |  접근: 결재권자 (approver)</a:t>
            </a:r>
            <a:endParaRPr/>
          </a:p>
        </p:txBody>
      </p:sp>
      <p:grpSp>
        <p:nvGrpSpPr>
          <p:cNvPr id="161" name="Google Shape;161;p8"/>
          <p:cNvGrpSpPr/>
          <p:nvPr/>
        </p:nvGrpSpPr>
        <p:grpSpPr>
          <a:xfrm>
            <a:off x="3532187" y="4289425"/>
            <a:ext cx="228600" cy="228600"/>
            <a:chOff x="0" y="0"/>
            <a:chExt cx="228600" cy="228600"/>
          </a:xfrm>
        </p:grpSpPr>
        <p:sp>
          <p:nvSpPr>
            <p:cNvPr id="162" name="Google Shape;162;p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3625850" y="4921250"/>
            <a:ext cx="228600" cy="228600"/>
            <a:chOff x="0" y="0"/>
            <a:chExt cx="228600" cy="228600"/>
          </a:xfrm>
        </p:grpSpPr>
        <p:sp>
          <p:nvSpPr>
            <p:cNvPr id="165" name="Google Shape;165;p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167" name="Google Shape;167;p8"/>
          <p:cNvGrpSpPr/>
          <p:nvPr/>
        </p:nvGrpSpPr>
        <p:grpSpPr>
          <a:xfrm>
            <a:off x="2465387" y="3760787"/>
            <a:ext cx="228600" cy="228600"/>
            <a:chOff x="0" y="0"/>
            <a:chExt cx="228600" cy="228600"/>
          </a:xfrm>
        </p:grpSpPr>
        <p:sp>
          <p:nvSpPr>
            <p:cNvPr id="168" name="Google Shape;168;p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sp>
        <p:nvSpPr>
          <p:cNvPr id="170" name="Google Shape;170;p8"/>
          <p:cNvSpPr txBox="1"/>
          <p:nvPr/>
        </p:nvSpPr>
        <p:spPr>
          <a:xfrm>
            <a:off x="7421562" y="3311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7523162" y="3595687"/>
            <a:ext cx="4370387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결재 대기 기안 목록을 조회합니다. (3건/페이지)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기안 클릭 시 우측 상세 패널이 표시됩니다.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승인 버튼 클릭 시 확인 모달 후 승인 처리합니다.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반려 버튼 클릭 시 사유 입력 후 반려 처리합니다.</a:t>
            </a:r>
            <a:endParaRPr/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 대기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3건/페이지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/drafts/approvals/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상세 패널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Panel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클릭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/drafts/approvals/:id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선택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/drafts/:id/decision (approved)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반려 사유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Textarea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반려 클릭 시, 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사유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반려 처리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사유 입력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/drafts/:id/decision (rejected)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페이지네이션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Pagination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3건 초과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 이동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8"/>
          <p:cNvSpPr txBox="1"/>
          <p:nvPr/>
        </p:nvSpPr>
        <p:spPr>
          <a:xfrm>
            <a:off x="284162" y="2830512"/>
            <a:ext cx="3757612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 SCR-004  |  AI 질의응답 (RAG)  |  /rag-search  |  접근: 실무 담당자, 결재권자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182562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284162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82562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284162" y="1679575"/>
            <a:ext cx="3738562" cy="963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전송 → streamQuery() → SSE 연결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수신 → 버블 누적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→ elapsed 표시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칩 → Sheet 열기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124325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224337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4124325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4224337" y="1679575"/>
            <a:ext cx="374015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/rag/query/stream (SSE)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/rag/history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스트리밍: 전송 비활성 + Loader2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오류 버블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8064500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8166100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8064500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8166100" y="1679575"/>
            <a:ext cx="3740150" cy="7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응답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칩·시트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비활성 확인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96;p10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" y="2606675"/>
            <a:ext cx="4756150" cy="36512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197" name="Google Shape;197;p10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 SCR-005  |  문서 업로드·요약  |  /document-summary  |  접근: 실무 담당자</a:t>
            </a:r>
            <a:endParaRPr/>
          </a:p>
        </p:txBody>
      </p:sp>
      <p:grpSp>
        <p:nvGrpSpPr>
          <p:cNvPr id="199" name="Google Shape;199;p10"/>
          <p:cNvGrpSpPr/>
          <p:nvPr/>
        </p:nvGrpSpPr>
        <p:grpSpPr>
          <a:xfrm>
            <a:off x="2087562" y="4125912"/>
            <a:ext cx="228600" cy="228600"/>
            <a:chOff x="0" y="0"/>
            <a:chExt cx="228600" cy="228600"/>
          </a:xfrm>
        </p:grpSpPr>
        <p:sp>
          <p:nvSpPr>
            <p:cNvPr id="200" name="Google Shape;200;p1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0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202" name="Google Shape;202;p10"/>
          <p:cNvGrpSpPr/>
          <p:nvPr/>
        </p:nvGrpSpPr>
        <p:grpSpPr>
          <a:xfrm>
            <a:off x="2303462" y="5895975"/>
            <a:ext cx="228600" cy="228600"/>
            <a:chOff x="0" y="0"/>
            <a:chExt cx="228600" cy="228600"/>
          </a:xfrm>
        </p:grpSpPr>
        <p:sp>
          <p:nvSpPr>
            <p:cNvPr id="203" name="Google Shape;203;p1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205" name="Google Shape;205;p10"/>
          <p:cNvGrpSpPr/>
          <p:nvPr/>
        </p:nvGrpSpPr>
        <p:grpSpPr>
          <a:xfrm>
            <a:off x="4303712" y="5229225"/>
            <a:ext cx="228600" cy="228600"/>
            <a:chOff x="0" y="0"/>
            <a:chExt cx="228600" cy="228600"/>
          </a:xfrm>
        </p:grpSpPr>
        <p:sp>
          <p:nvSpPr>
            <p:cNvPr id="206" name="Google Shape;206;p1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0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sp>
        <p:nvSpPr>
          <p:cNvPr id="208" name="Google Shape;208;p10"/>
          <p:cNvSpPr txBox="1"/>
          <p:nvPr/>
        </p:nvSpPr>
        <p:spPr>
          <a:xfrm>
            <a:off x="6532562" y="3819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6642100" y="3848100"/>
            <a:ext cx="4371975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PDF 파일을 첨부합니다.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업로드 버튼 클릭 시 파이프라인이 시작됩니다.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텍스트 추출 → 임베딩 → 요약 단계가 순서대로 표시됩니다.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Progress 바로 현재 진행률을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진행 중인 작업을 취소할 수 있습니다.</a:t>
            </a:r>
            <a:endParaRPr/>
          </a:p>
        </p:txBody>
      </p:sp>
      <p:graphicFrame>
        <p:nvGraphicFramePr>
          <p:cNvPr id="210" name="Google Shape;210;p10"/>
          <p:cNvGraphicFramePr/>
          <p:nvPr/>
        </p:nvGraphicFramePr>
        <p:xfrm>
          <a:off x="49815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첨부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File 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PDF만 허용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선택 후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업로드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선택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/pipeline/upload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Badge Group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업로드 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완료✓/진행⟳/대기○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Progress 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Progress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업로드 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0~100%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취소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 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/jobs/:id/cancel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작업 이력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/pipeline/jobs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폴링 갱신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 SCR-005  |  문서 업로드·요약  |  /document-summary  |  접근: 실무 담당자</a:t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182562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284162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182562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284162" y="1679575"/>
            <a:ext cx="3738562" cy="101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선택 → 업로드 버튼 활성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→ POST → PipelineJob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완료 → 배지 갱신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 → POST /jobs/:id/cancel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4124325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224337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4124325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4224337" y="1679575"/>
            <a:ext cx="3740150" cy="163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/documents/pipeline/upload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/documents/pipeline/jobs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/documents/pipeline/jobs/:id/cancel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중: 비활성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완료: 전체 녹색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오류 메시지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8064500" y="1404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166100" y="1433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8064500" y="1662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166100" y="1679575"/>
            <a:ext cx="374015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후 파이프라인 시작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배지 갱신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PDF 외 불가 확인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33;p12" id="233" name="Google Shape;2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862" y="1865312"/>
            <a:ext cx="3898900" cy="42402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234" name="Google Shape;234;p12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 SCR-006  |  기안 목록  |  /draft/list  |  접근: 실무 담당자</a:t>
            </a:r>
            <a:endParaRPr/>
          </a:p>
        </p:txBody>
      </p:sp>
      <p:grpSp>
        <p:nvGrpSpPr>
          <p:cNvPr id="236" name="Google Shape;236;p12"/>
          <p:cNvGrpSpPr/>
          <p:nvPr/>
        </p:nvGrpSpPr>
        <p:grpSpPr>
          <a:xfrm>
            <a:off x="976312" y="2305050"/>
            <a:ext cx="228600" cy="228600"/>
            <a:chOff x="0" y="0"/>
            <a:chExt cx="228600" cy="228600"/>
          </a:xfrm>
        </p:grpSpPr>
        <p:sp>
          <p:nvSpPr>
            <p:cNvPr id="237" name="Google Shape;237;p1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239" name="Google Shape;239;p12"/>
          <p:cNvGrpSpPr/>
          <p:nvPr/>
        </p:nvGrpSpPr>
        <p:grpSpPr>
          <a:xfrm>
            <a:off x="2506662" y="3243262"/>
            <a:ext cx="228600" cy="228600"/>
            <a:chOff x="0" y="0"/>
            <a:chExt cx="228600" cy="228600"/>
          </a:xfrm>
        </p:grpSpPr>
        <p:sp>
          <p:nvSpPr>
            <p:cNvPr id="240" name="Google Shape;240;p1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242" name="Google Shape;242;p12"/>
          <p:cNvGrpSpPr/>
          <p:nvPr/>
        </p:nvGrpSpPr>
        <p:grpSpPr>
          <a:xfrm>
            <a:off x="3533775" y="1903412"/>
            <a:ext cx="228600" cy="228600"/>
            <a:chOff x="0" y="0"/>
            <a:chExt cx="228600" cy="228600"/>
          </a:xfrm>
        </p:grpSpPr>
        <p:sp>
          <p:nvSpPr>
            <p:cNvPr id="243" name="Google Shape;243;p1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/>
            </a:p>
          </p:txBody>
        </p:sp>
      </p:grpSp>
      <p:sp>
        <p:nvSpPr>
          <p:cNvPr id="245" name="Google Shape;245;p12"/>
          <p:cNvSpPr txBox="1"/>
          <p:nvPr/>
        </p:nvSpPr>
        <p:spPr>
          <a:xfrm>
            <a:off x="6532562" y="3819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6642100" y="3848100"/>
            <a:ext cx="4371975" cy="12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상태 필터로 기안을 분류합니다.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정렬 기준을 선택합니다.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키워드 검색으로 기안을 검색합니다.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기안 클릭 시 상세 페이지로 이동합니다.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기안 작성 버튼으로 새 기안을 작성합니다.</a:t>
            </a:r>
            <a:endParaRPr/>
          </a:p>
        </p:txBody>
      </p:sp>
      <p:graphicFrame>
        <p:nvGraphicFramePr>
          <p:cNvPr id="247" name="Google Shape;247;p12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필터 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ButtonGroup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'전체'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all/draft/pending/approved/rejected/canceled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필터+1페이지 리셋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 기준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Select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'최신순'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latest/oldest/title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재정렬+리셋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키워드 검색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Enter 적용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/drafts/ 재조회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10건/페이지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 → /draft/view/:id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작성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/draft/new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페이지네이션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Pagination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10건 초과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 이동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 SCR-006  |  기안 목록  |  /draft/list  |  접근: 실무 담당자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182562" y="1785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284162" y="1814512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182562" y="2043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284162" y="2060575"/>
            <a:ext cx="3738562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필터 클릭 → 1페이지 리셋 + 재조회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정렬·검색 → 재조회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클릭 → /draft/view/:id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작성 → /draft/new</a:t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4124325" y="1785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4224337" y="1814512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4124325" y="2043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4224337" y="2060575"/>
            <a:ext cx="3740150" cy="150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/drafts/?status=&amp;keyword=&amp;sort_by=&amp;skip=&amp;limit=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없음: 안내+작성 버튼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toast.error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8064500" y="1785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8166100" y="1814512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8064500" y="2043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8166100" y="2060575"/>
            <a:ext cx="3740150" cy="81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필터·정렬·검색 확인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페이지네이션 확인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작성 이동 확인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70;p14" id="270" name="Google Shape;2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50" y="960437"/>
            <a:ext cx="4344987" cy="55737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271" name="Google Shape;271;p14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 SCR-007  |  기안 작성 / 수정  |  /draft/new, /draft/:id  |  접근: 실무 담당자</a:t>
            </a:r>
            <a:endParaRPr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2752725" y="5984875"/>
            <a:ext cx="228600" cy="228600"/>
            <a:chOff x="0" y="0"/>
            <a:chExt cx="228600" cy="228600"/>
          </a:xfrm>
        </p:grpSpPr>
        <p:sp>
          <p:nvSpPr>
            <p:cNvPr id="274" name="Google Shape;274;p1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276" name="Google Shape;276;p14"/>
          <p:cNvGrpSpPr/>
          <p:nvPr/>
        </p:nvGrpSpPr>
        <p:grpSpPr>
          <a:xfrm>
            <a:off x="1025525" y="3314700"/>
            <a:ext cx="228600" cy="228600"/>
            <a:chOff x="0" y="0"/>
            <a:chExt cx="228600" cy="228600"/>
          </a:xfrm>
        </p:grpSpPr>
        <p:sp>
          <p:nvSpPr>
            <p:cNvPr id="277" name="Google Shape;277;p1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279" name="Google Shape;279;p14"/>
          <p:cNvGrpSpPr/>
          <p:nvPr/>
        </p:nvGrpSpPr>
        <p:grpSpPr>
          <a:xfrm>
            <a:off x="1689100" y="3930650"/>
            <a:ext cx="228600" cy="228600"/>
            <a:chOff x="0" y="0"/>
            <a:chExt cx="228600" cy="228600"/>
          </a:xfrm>
        </p:grpSpPr>
        <p:sp>
          <p:nvSpPr>
            <p:cNvPr id="280" name="Google Shape;280;p1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282" name="Google Shape;282;p14"/>
          <p:cNvGrpSpPr/>
          <p:nvPr/>
        </p:nvGrpSpPr>
        <p:grpSpPr>
          <a:xfrm>
            <a:off x="1389062" y="1474787"/>
            <a:ext cx="228600" cy="228600"/>
            <a:chOff x="0" y="0"/>
            <a:chExt cx="228600" cy="228600"/>
          </a:xfrm>
        </p:grpSpPr>
        <p:sp>
          <p:nvSpPr>
            <p:cNvPr id="283" name="Google Shape;283;p1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grpSp>
        <p:nvGrpSpPr>
          <p:cNvPr id="285" name="Google Shape;285;p14"/>
          <p:cNvGrpSpPr/>
          <p:nvPr/>
        </p:nvGrpSpPr>
        <p:grpSpPr>
          <a:xfrm>
            <a:off x="601662" y="4625975"/>
            <a:ext cx="228600" cy="228600"/>
            <a:chOff x="0" y="0"/>
            <a:chExt cx="228600" cy="228600"/>
          </a:xfrm>
        </p:grpSpPr>
        <p:sp>
          <p:nvSpPr>
            <p:cNvPr id="286" name="Google Shape;286;p1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/>
            </a:p>
          </p:txBody>
        </p:sp>
      </p:grpSp>
      <p:sp>
        <p:nvSpPr>
          <p:cNvPr id="288" name="Google Shape;288;p14"/>
          <p:cNvSpPr txBox="1"/>
          <p:nvPr/>
        </p:nvSpPr>
        <p:spPr>
          <a:xfrm>
            <a:off x="6164262" y="3565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6273800" y="3594100"/>
            <a:ext cx="4371975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기안 제목을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기안 내용을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결재권자를 선택합니다.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근거 문서 요약을 접기/펼치기로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임시저장 또는 상신합니다.</a:t>
            </a:r>
            <a:endParaRPr/>
          </a:p>
        </p:txBody>
      </p:sp>
      <p:graphicFrame>
        <p:nvGraphicFramePr>
          <p:cNvPr id="290" name="Google Shape;290;p14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공백 불가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Textarea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공백 불가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결재권자 선택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Select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결재권자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approverId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 제외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참조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 문서 요약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 (Collapsible)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펼침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sourceDocId 시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접기/펼치기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상세에서 이동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임시저장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POST/PATCH /drafts/ (draft)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상신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필수값 모두 입력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POST/PATCH /drafts/ (pending)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 SCR-007  |  기안 작성 / 수정  |  /draft/new, /draft/:id  |  접근: 실무 담당자</a:t>
            </a:r>
            <a:endParaRPr/>
          </a:p>
        </p:txBody>
      </p:sp>
      <p:sp>
        <p:nvSpPr>
          <p:cNvPr id="297" name="Google Shape;297;p15"/>
          <p:cNvSpPr txBox="1"/>
          <p:nvPr/>
        </p:nvSpPr>
        <p:spPr>
          <a:xfrm>
            <a:off x="182562" y="1531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284162" y="1560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82562" y="1789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284162" y="1806575"/>
            <a:ext cx="3738562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신규: POST /drafts/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수정: getDraftDetail → 폼 초기값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임시저장 → toast.success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상신 → /staff/dashboard 이동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4124325" y="1531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4224337" y="1560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4124325" y="1789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4224337" y="1806575"/>
            <a:ext cx="3740150" cy="171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/drafts/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 /drafts/:id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/drafts/:id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/auth/users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중: 비활성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결재권자 미선택: 상신 비활성</a:t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8064500" y="1531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8166100" y="1560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8064500" y="1789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8166100" y="1806575"/>
            <a:ext cx="3740150" cy="81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임시저장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상신 결재권자 미선택 비활성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기안 수정 확인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313;p16" id="313" name="Google Shape;3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12" y="4111625"/>
            <a:ext cx="4929187" cy="22447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pic>
        <p:nvPicPr>
          <p:cNvPr descr="Google Shape;314;p16" id="314" name="Google Shape;3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50" y="796925"/>
            <a:ext cx="4938712" cy="330993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315" name="Google Shape;315;p16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 SCR-008  |  기안 상세  |  /draft/view/:id  |  접근: 실무 담당자, 결재권자</a:t>
            </a:r>
            <a:endParaRPr/>
          </a:p>
        </p:txBody>
      </p:sp>
      <p:grpSp>
        <p:nvGrpSpPr>
          <p:cNvPr id="317" name="Google Shape;317;p16"/>
          <p:cNvGrpSpPr/>
          <p:nvPr/>
        </p:nvGrpSpPr>
        <p:grpSpPr>
          <a:xfrm>
            <a:off x="1830387" y="3563937"/>
            <a:ext cx="228600" cy="228600"/>
            <a:chOff x="0" y="0"/>
            <a:chExt cx="228600" cy="228600"/>
          </a:xfrm>
        </p:grpSpPr>
        <p:sp>
          <p:nvSpPr>
            <p:cNvPr id="318" name="Google Shape;318;p1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320" name="Google Shape;320;p16"/>
          <p:cNvGrpSpPr/>
          <p:nvPr/>
        </p:nvGrpSpPr>
        <p:grpSpPr>
          <a:xfrm>
            <a:off x="1830387" y="5854700"/>
            <a:ext cx="228600" cy="228600"/>
            <a:chOff x="0" y="0"/>
            <a:chExt cx="228600" cy="228600"/>
          </a:xfrm>
        </p:grpSpPr>
        <p:sp>
          <p:nvSpPr>
            <p:cNvPr id="321" name="Google Shape;321;p1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323" name="Google Shape;323;p16"/>
          <p:cNvGrpSpPr/>
          <p:nvPr/>
        </p:nvGrpSpPr>
        <p:grpSpPr>
          <a:xfrm>
            <a:off x="1830387" y="2460625"/>
            <a:ext cx="228600" cy="228600"/>
            <a:chOff x="0" y="0"/>
            <a:chExt cx="228600" cy="228600"/>
          </a:xfrm>
        </p:grpSpPr>
        <p:sp>
          <p:nvSpPr>
            <p:cNvPr id="324" name="Google Shape;324;p1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sp>
        <p:nvSpPr>
          <p:cNvPr id="326" name="Google Shape;326;p16"/>
          <p:cNvSpPr txBox="1"/>
          <p:nvPr/>
        </p:nvSpPr>
        <p:spPr>
          <a:xfrm>
            <a:off x="6659562" y="4073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6769100" y="4102100"/>
            <a:ext cx="4371975" cy="105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기안 상태 배지로 현재 상태를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제목·내용·결재권자·일시를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대기 상태일 때 기안을 취소할 수 있습니다.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임시저장 상태일 때 수정 페이지로 이동합니다.</a:t>
            </a:r>
            <a:endParaRPr/>
          </a:p>
        </p:txBody>
      </p:sp>
      <p:graphicFrame>
        <p:nvGraphicFramePr>
          <p:cNvPr id="328" name="Google Shape;328;p16"/>
          <p:cNvGraphicFramePr/>
          <p:nvPr/>
        </p:nvGraphicFramePr>
        <p:xfrm>
          <a:off x="5222875" y="8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296850"/>
                <a:gridCol w="523875"/>
                <a:gridCol w="952500"/>
                <a:gridCol w="801675"/>
                <a:gridCol w="344475"/>
                <a:gridCol w="593725"/>
                <a:gridCol w="1325550"/>
                <a:gridCol w="1628775"/>
                <a:gridCol w="434975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배지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Badge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항상, 상태별 색상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내용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제목/내용/결재권자/일시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 문서 요약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 (Collapsible)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펼침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source_doc_id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접기/펼치기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취소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pending만 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ConfirmModal → DELETE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수정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draft만 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/draft/:id 이동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228600" y="63500"/>
            <a:ext cx="11522075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 SCR-008  |  기안 상세  |  /draft/view/:id  |  접근: 실무 담당자, 결재권자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182562" y="1471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284162" y="149860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182562" y="1727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284162" y="1746250"/>
            <a:ext cx="3738562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GET /drafts/:id + GET /documents/:source_doc_id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 → ConfirmModal → DELETE → 대시보드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→ /draft/:id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4124325" y="1471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4224337" y="149860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4124325" y="1727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4224337" y="1746250"/>
            <a:ext cx="3740150" cy="173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/drafts/:id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DELETE /drafts/:id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/documents/:id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 중: canceling → 비활성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toast.error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8064500" y="1471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8166100" y="149860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8064500" y="1727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8166100" y="1746250"/>
            <a:ext cx="3740150" cy="81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상태별 배지 확인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pending 취소·draft 수정 버튼 활성 확인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 후 이동 확인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351;p18" id="351" name="Google Shape;3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" y="1133475"/>
            <a:ext cx="4697412" cy="55594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352" name="Google Shape;352;p18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  SCR-009  |  문서 상세  |  /document/:id  |  접근: 전체 (로그인)</a:t>
            </a:r>
            <a:endParaRPr/>
          </a:p>
        </p:txBody>
      </p:sp>
      <p:grpSp>
        <p:nvGrpSpPr>
          <p:cNvPr id="354" name="Google Shape;354;p18"/>
          <p:cNvGrpSpPr/>
          <p:nvPr/>
        </p:nvGrpSpPr>
        <p:grpSpPr>
          <a:xfrm>
            <a:off x="2633662" y="1117600"/>
            <a:ext cx="228600" cy="228600"/>
            <a:chOff x="0" y="0"/>
            <a:chExt cx="228600" cy="228600"/>
          </a:xfrm>
        </p:grpSpPr>
        <p:sp>
          <p:nvSpPr>
            <p:cNvPr id="355" name="Google Shape;355;p1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357" name="Google Shape;357;p18"/>
          <p:cNvGrpSpPr/>
          <p:nvPr/>
        </p:nvGrpSpPr>
        <p:grpSpPr>
          <a:xfrm>
            <a:off x="2998787" y="1778000"/>
            <a:ext cx="228600" cy="228600"/>
            <a:chOff x="0" y="0"/>
            <a:chExt cx="228600" cy="228600"/>
          </a:xfrm>
        </p:grpSpPr>
        <p:sp>
          <p:nvSpPr>
            <p:cNvPr id="358" name="Google Shape;358;p1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360" name="Google Shape;360;p18"/>
          <p:cNvGrpSpPr/>
          <p:nvPr/>
        </p:nvGrpSpPr>
        <p:grpSpPr>
          <a:xfrm>
            <a:off x="3760787" y="1117600"/>
            <a:ext cx="228600" cy="228600"/>
            <a:chOff x="0" y="0"/>
            <a:chExt cx="228600" cy="228600"/>
          </a:xfrm>
        </p:grpSpPr>
        <p:sp>
          <p:nvSpPr>
            <p:cNvPr id="361" name="Google Shape;361;p1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611187" y="1778000"/>
            <a:ext cx="228600" cy="228600"/>
            <a:chOff x="0" y="0"/>
            <a:chExt cx="228600" cy="228600"/>
          </a:xfrm>
        </p:grpSpPr>
        <p:sp>
          <p:nvSpPr>
            <p:cNvPr id="364" name="Google Shape;364;p1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8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/>
            </a:p>
          </p:txBody>
        </p:sp>
      </p:grpSp>
      <p:sp>
        <p:nvSpPr>
          <p:cNvPr id="366" name="Google Shape;366;p18"/>
          <p:cNvSpPr txBox="1"/>
          <p:nvPr/>
        </p:nvSpPr>
        <p:spPr>
          <a:xfrm>
            <a:off x="6913562" y="4327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7023100" y="4356100"/>
            <a:ext cx="4371975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제목·카테고리·생성일 등 메타 정보를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AI 요약 내용을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OCR 추출 본문을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수정·삭제·다운로드 할 수 있습니다.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기안 작성 버튼으로 이 문서를 근거 문서로 기안을 작성합니다.</a:t>
            </a:r>
            <a:endParaRPr/>
          </a:p>
        </p:txBody>
      </p:sp>
      <p:graphicFrame>
        <p:nvGraphicFramePr>
          <p:cNvPr id="368" name="Google Shape;368;p18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메타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제목/카테고리/생성일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요약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요약 텍스트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본문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OCR 텍스트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편집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편집 모드 전환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편집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카테고리 선택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Select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 모드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카테고리 변경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편집 모드만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편집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 모드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PATCH /documents/:id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삭제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ConfirmModal → DELETE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다운로드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원본 파일 다운로드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작성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/draft/new (sourceDocId)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location.state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  SCR-009  |  문서 상세  |  /document/:id  |  접근: 전체 (로그인)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182562" y="1844675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284162" y="187166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182562" y="2100262"/>
            <a:ext cx="3895725" cy="27606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284162" y="2117725"/>
            <a:ext cx="3738562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GET /documents/:id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→ PATCH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→ DELETE → 대시보드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작성 → /draft/new (state: sourceDocId, sourceSummary)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4124325" y="1844675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4224337" y="187166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4124325" y="2100262"/>
            <a:ext cx="3895725" cy="27606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4224337" y="2117725"/>
            <a:ext cx="3740150" cy="154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/documents/:id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 /documents/:id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DELETE /documents/:id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편집 모드: 저장·취소 표시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toast.error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8064500" y="1844675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8166100" y="187166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8064500" y="2100262"/>
            <a:ext cx="3895725" cy="27606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8166100" y="2117725"/>
            <a:ext cx="3740150" cy="950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수정·저장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모달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기안 연계 확인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391;p20" id="391" name="Google Shape;391;p20"/>
          <p:cNvPicPr preferRelativeResize="0"/>
          <p:nvPr/>
        </p:nvPicPr>
        <p:blipFill rotWithShape="1">
          <a:blip r:embed="rId3">
            <a:alphaModFix/>
          </a:blip>
          <a:srcRect b="44673" l="0" r="0" t="0"/>
          <a:stretch/>
        </p:blipFill>
        <p:spPr>
          <a:xfrm>
            <a:off x="361950" y="3852862"/>
            <a:ext cx="4556125" cy="2679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392" name="Google Shape;392;p20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  SCR-010  |  관리자 대시보드  |  /admin/dashboard  |  접근: 관리자 (admin)</a:t>
            </a:r>
            <a:endParaRPr/>
          </a:p>
        </p:txBody>
      </p:sp>
      <p:grpSp>
        <p:nvGrpSpPr>
          <p:cNvPr id="394" name="Google Shape;394;p20"/>
          <p:cNvGrpSpPr/>
          <p:nvPr/>
        </p:nvGrpSpPr>
        <p:grpSpPr>
          <a:xfrm>
            <a:off x="1703387" y="5178425"/>
            <a:ext cx="228600" cy="228600"/>
            <a:chOff x="0" y="0"/>
            <a:chExt cx="228600" cy="228600"/>
          </a:xfrm>
        </p:grpSpPr>
        <p:sp>
          <p:nvSpPr>
            <p:cNvPr id="395" name="Google Shape;395;p2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0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grpSp>
        <p:nvGrpSpPr>
          <p:cNvPr id="397" name="Google Shape;397;p20"/>
          <p:cNvGrpSpPr/>
          <p:nvPr/>
        </p:nvGrpSpPr>
        <p:grpSpPr>
          <a:xfrm>
            <a:off x="750887" y="4010025"/>
            <a:ext cx="228600" cy="228600"/>
            <a:chOff x="0" y="0"/>
            <a:chExt cx="228600" cy="228600"/>
          </a:xfrm>
        </p:grpSpPr>
        <p:sp>
          <p:nvSpPr>
            <p:cNvPr id="398" name="Google Shape;398;p2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0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/>
            </a:p>
          </p:txBody>
        </p:sp>
      </p:grpSp>
      <p:sp>
        <p:nvSpPr>
          <p:cNvPr id="400" name="Google Shape;400;p20"/>
          <p:cNvSpPr txBox="1"/>
          <p:nvPr/>
        </p:nvSpPr>
        <p:spPr>
          <a:xfrm>
            <a:off x="5973762" y="39973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6083300" y="4025900"/>
            <a:ext cx="437197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총 사용자·문서·질의 통계 카드를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역할별 사용자 분포 파이차트를 확인합니다.</a:t>
            </a:r>
            <a:endParaRPr/>
          </a:p>
        </p:txBody>
      </p:sp>
      <p:graphicFrame>
        <p:nvGraphicFramePr>
          <p:cNvPr id="402" name="Google Shape;402;p20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 카드 (×4)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/admin/stats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분포 차트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PieChart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역할별 파이차트 (Recharts)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/auth/users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초기화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 제외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/users/:id/reset-password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강제 로그아웃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 제외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/users/:id/force-logout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활성/비활성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Toggle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 제외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PATCH /users/:id/activation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생성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/admin/users/create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 내역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각 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/admin/users/:id/activity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228600" y="63500"/>
            <a:ext cx="1152207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  SCR-010  |  관리자 대시보드  |  /admin/dashboard  |  접근: 관리자 (admin)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182562" y="1782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284162" y="180975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182562" y="2038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284162" y="2057400"/>
            <a:ext cx="37385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GET /admin/stats + GET /auth/users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초기화 → ConfirmModal → POST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토글 → PATCH → 목록 갱신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4124325" y="1782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4224337" y="180975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4124325" y="2038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 txBox="1"/>
          <p:nvPr/>
        </p:nvSpPr>
        <p:spPr>
          <a:xfrm>
            <a:off x="4224337" y="2057400"/>
            <a:ext cx="374015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/admin/stats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/auth/users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/auth/users/:id/reset-password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/auth/users/:id/force-logout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 /auth/users/:id/activation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 아님: 접근 차단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중: 비활성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8064500" y="178276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8166100" y="1809750"/>
            <a:ext cx="3757612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8064500" y="2038350"/>
            <a:ext cx="3895725" cy="307657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8166100" y="2057400"/>
            <a:ext cx="3740150" cy="105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 카드 확인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목록 확인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초기화 확인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토글 확인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434;p22" id="425" name="Google Shape;4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0" y="2090737"/>
            <a:ext cx="4556125" cy="404018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426" name="Google Shape;426;p22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  SCR-011  |  사용자 생성  |  /admin/users/create  |  접근: 관리자 (admin)</a:t>
            </a:r>
            <a:endParaRPr/>
          </a:p>
        </p:txBody>
      </p:sp>
      <p:grpSp>
        <p:nvGrpSpPr>
          <p:cNvPr id="428" name="Google Shape;428;p22"/>
          <p:cNvGrpSpPr/>
          <p:nvPr/>
        </p:nvGrpSpPr>
        <p:grpSpPr>
          <a:xfrm>
            <a:off x="1500187" y="3632200"/>
            <a:ext cx="228600" cy="228600"/>
            <a:chOff x="0" y="0"/>
            <a:chExt cx="228600" cy="228600"/>
          </a:xfrm>
        </p:grpSpPr>
        <p:sp>
          <p:nvSpPr>
            <p:cNvPr id="429" name="Google Shape;429;p2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431" name="Google Shape;431;p22"/>
          <p:cNvGrpSpPr/>
          <p:nvPr/>
        </p:nvGrpSpPr>
        <p:grpSpPr>
          <a:xfrm>
            <a:off x="801687" y="3997325"/>
            <a:ext cx="228600" cy="228600"/>
            <a:chOff x="0" y="0"/>
            <a:chExt cx="228600" cy="228600"/>
          </a:xfrm>
        </p:grpSpPr>
        <p:sp>
          <p:nvSpPr>
            <p:cNvPr id="432" name="Google Shape;432;p2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434" name="Google Shape;434;p22"/>
          <p:cNvGrpSpPr/>
          <p:nvPr/>
        </p:nvGrpSpPr>
        <p:grpSpPr>
          <a:xfrm>
            <a:off x="3709987" y="5651500"/>
            <a:ext cx="228600" cy="228600"/>
            <a:chOff x="0" y="0"/>
            <a:chExt cx="228600" cy="228600"/>
          </a:xfrm>
        </p:grpSpPr>
        <p:sp>
          <p:nvSpPr>
            <p:cNvPr id="435" name="Google Shape;435;p2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grpSp>
        <p:nvGrpSpPr>
          <p:cNvPr id="437" name="Google Shape;437;p22"/>
          <p:cNvGrpSpPr/>
          <p:nvPr/>
        </p:nvGrpSpPr>
        <p:grpSpPr>
          <a:xfrm>
            <a:off x="801687" y="3092450"/>
            <a:ext cx="228600" cy="228600"/>
            <a:chOff x="0" y="0"/>
            <a:chExt cx="228600" cy="228600"/>
          </a:xfrm>
        </p:grpSpPr>
        <p:sp>
          <p:nvSpPr>
            <p:cNvPr id="438" name="Google Shape;438;p2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2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/>
            </a:p>
          </p:txBody>
        </p:sp>
      </p:grpSp>
      <p:sp>
        <p:nvSpPr>
          <p:cNvPr id="440" name="Google Shape;440;p22"/>
          <p:cNvSpPr txBox="1"/>
          <p:nvPr/>
        </p:nvSpPr>
        <p:spPr>
          <a:xfrm>
            <a:off x="6786562" y="3184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6896100" y="3213100"/>
            <a:ext cx="4371975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이름을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이메일을 입력합니다.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역할을 하나 이상 선택합니다.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생성 버튼으로 사용자를 등록합니다.</a:t>
            </a:r>
            <a:endParaRPr/>
          </a:p>
        </p:txBody>
      </p:sp>
      <p:graphicFrame>
        <p:nvGraphicFramePr>
          <p:cNvPr id="442" name="Google Shape;442;p22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공백 불가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형식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 저장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 선택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Checkbox (×3)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미선택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하나 이상 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roles 배열 토글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가능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유효성 통과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/auth/register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클릭 방지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  SCR-011  |  사용자 생성  |  /admin/users/create  |  접근: 관리자 (admin)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141287" y="1536700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242887" y="1563687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141287" y="1792287"/>
            <a:ext cx="3895725" cy="433863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242887" y="1811337"/>
            <a:ext cx="3738562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관리자 권한 검사, 비관리자 리다이렉트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 → POST /auth/register → /admin/dashboard</a:t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4124325" y="1536700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4224337" y="1563687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4124325" y="1792287"/>
            <a:ext cx="3895725" cy="433863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4224337" y="1811337"/>
            <a:ext cx="3740150" cy="103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/auth/register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비활성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없음: toast.error + 리다이렉트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8064500" y="1536700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8166100" y="1563687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8064500" y="1792287"/>
            <a:ext cx="3895725" cy="433863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8166100" y="1811337"/>
            <a:ext cx="3740150" cy="105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생성 확인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중복 오류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미선택 오류</a:t>
            </a:r>
            <a:endParaRPr b="0" i="0" sz="16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비관리자 차단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붙여넣은 동영상.png" id="465" name="Google Shape;4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462" y="4662487"/>
            <a:ext cx="4546600" cy="15224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pic>
        <p:nvPicPr>
          <p:cNvPr descr="붙여넣은 동영상.png" id="466" name="Google Shape;4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25" y="1033462"/>
            <a:ext cx="4572000" cy="21447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pic>
        <p:nvPicPr>
          <p:cNvPr descr="붙여넣은 동영상.png" id="467" name="Google Shape;4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" y="3189287"/>
            <a:ext cx="4568825" cy="14700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sp>
        <p:nvSpPr>
          <p:cNvPr id="468" name="Google Shape;468;p24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228600" y="63500"/>
            <a:ext cx="11522075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0" i="0" lang="en-US" sz="12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  SCR-012  |  사용자 활동 내역  |  /admin/users/:userId/activity /user/activity  |  접근: 관리자, 본인</a:t>
            </a:r>
            <a:endParaRPr/>
          </a:p>
        </p:txBody>
      </p:sp>
      <p:grpSp>
        <p:nvGrpSpPr>
          <p:cNvPr id="470" name="Google Shape;470;p24"/>
          <p:cNvGrpSpPr/>
          <p:nvPr/>
        </p:nvGrpSpPr>
        <p:grpSpPr>
          <a:xfrm>
            <a:off x="2409825" y="3201987"/>
            <a:ext cx="228600" cy="228600"/>
            <a:chOff x="0" y="0"/>
            <a:chExt cx="228600" cy="228600"/>
          </a:xfrm>
        </p:grpSpPr>
        <p:sp>
          <p:nvSpPr>
            <p:cNvPr id="471" name="Google Shape;471;p2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473" name="Google Shape;473;p24"/>
          <p:cNvGrpSpPr/>
          <p:nvPr/>
        </p:nvGrpSpPr>
        <p:grpSpPr>
          <a:xfrm>
            <a:off x="1252537" y="2552700"/>
            <a:ext cx="228600" cy="228600"/>
            <a:chOff x="0" y="0"/>
            <a:chExt cx="228600" cy="228600"/>
          </a:xfrm>
        </p:grpSpPr>
        <p:sp>
          <p:nvSpPr>
            <p:cNvPr id="474" name="Google Shape;474;p2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sp>
        <p:nvSpPr>
          <p:cNvPr id="476" name="Google Shape;476;p24"/>
          <p:cNvSpPr txBox="1"/>
          <p:nvPr/>
        </p:nvSpPr>
        <p:spPr>
          <a:xfrm>
            <a:off x="6659562" y="3565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769100" y="3594100"/>
            <a:ext cx="4371975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사용자 이름·이메일·역할 정보를 표시합니다.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활동 이력 탭: 유저의 활동 이력을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문서 질의 탭 : 문서 AI 질의 기록을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기안 탭: 문서 업로드 기록을 확인합니다.</a:t>
            </a:r>
            <a:endParaRPr/>
          </a:p>
        </p:txBody>
      </p:sp>
      <p:graphicFrame>
        <p:nvGraphicFramePr>
          <p:cNvPr id="478" name="Google Shape;478;p24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정보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이름/이메일/역할 배지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 조회 이력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첫 번째 기본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 데이터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이력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draft 데이터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이력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document 데이터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 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List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탭별 분기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 항목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pSp>
        <p:nvGrpSpPr>
          <p:cNvPr id="479" name="Google Shape;479;p24"/>
          <p:cNvGrpSpPr/>
          <p:nvPr/>
        </p:nvGrpSpPr>
        <p:grpSpPr>
          <a:xfrm>
            <a:off x="3690937" y="4818062"/>
            <a:ext cx="228600" cy="228600"/>
            <a:chOff x="0" y="0"/>
            <a:chExt cx="228600" cy="228600"/>
          </a:xfrm>
        </p:grpSpPr>
        <p:sp>
          <p:nvSpPr>
            <p:cNvPr id="480" name="Google Shape;480;p24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4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228600" y="63500"/>
            <a:ext cx="1152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  SCR-012  |  사용자 활동 내역  |  /admin/users/:userId/activity/user/activity  |  접근: 관리자, 본인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182562" y="1725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284162" y="175260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182562" y="1981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5"/>
          <p:cNvSpPr txBox="1"/>
          <p:nvPr/>
        </p:nvSpPr>
        <p:spPr>
          <a:xfrm>
            <a:off x="284162" y="2000250"/>
            <a:ext cx="3738562" cy="74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GET /users/activity(?user_id=:userId)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관리자: user_id로 특정 사용자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클릭 → 데이터 분기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4124325" y="1725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5"/>
          <p:cNvSpPr txBox="1"/>
          <p:nvPr/>
        </p:nvSpPr>
        <p:spPr>
          <a:xfrm>
            <a:off x="4224337" y="175260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4124325" y="1981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4224337" y="2000250"/>
            <a:ext cx="3740150" cy="134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/users/activity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/users/activity?user_id=:userId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로딩: 스피너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없음: 탭별 안내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오류: 오류 메시지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8064500" y="1725612"/>
            <a:ext cx="3895725" cy="255587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5"/>
          <p:cNvSpPr txBox="1"/>
          <p:nvPr/>
        </p:nvSpPr>
        <p:spPr>
          <a:xfrm>
            <a:off x="8166100" y="1752600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064500" y="1981200"/>
            <a:ext cx="3895725" cy="40227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8166100" y="2000250"/>
            <a:ext cx="374015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관리자·본인 조회 분리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전환 확인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509;p26" id="504" name="Google Shape;5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37" y="3300412"/>
            <a:ext cx="5213350" cy="317023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17"/>
            <a:headEnd len="sm" w="sm" type="none"/>
            <a:tailEnd len="sm" w="sm" type="none"/>
          </a:ln>
        </p:spPr>
      </p:pic>
      <p:sp>
        <p:nvSpPr>
          <p:cNvPr id="505" name="Google Shape;505;p26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6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  SCR-013  |  마이페이지  |  /mypage  |  접근: 전체 (로그인)</a:t>
            </a:r>
            <a:endParaRPr/>
          </a:p>
        </p:txBody>
      </p:sp>
      <p:grpSp>
        <p:nvGrpSpPr>
          <p:cNvPr id="507" name="Google Shape;507;p26"/>
          <p:cNvGrpSpPr/>
          <p:nvPr/>
        </p:nvGrpSpPr>
        <p:grpSpPr>
          <a:xfrm>
            <a:off x="865187" y="3854450"/>
            <a:ext cx="228600" cy="228600"/>
            <a:chOff x="0" y="0"/>
            <a:chExt cx="228600" cy="228600"/>
          </a:xfrm>
        </p:grpSpPr>
        <p:sp>
          <p:nvSpPr>
            <p:cNvPr id="508" name="Google Shape;508;p2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510" name="Google Shape;510;p26"/>
          <p:cNvGrpSpPr/>
          <p:nvPr/>
        </p:nvGrpSpPr>
        <p:grpSpPr>
          <a:xfrm>
            <a:off x="4560887" y="3314700"/>
            <a:ext cx="228600" cy="228600"/>
            <a:chOff x="0" y="0"/>
            <a:chExt cx="228600" cy="228600"/>
          </a:xfrm>
        </p:grpSpPr>
        <p:sp>
          <p:nvSpPr>
            <p:cNvPr id="511" name="Google Shape;511;p2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513" name="Google Shape;513;p26"/>
          <p:cNvGrpSpPr/>
          <p:nvPr/>
        </p:nvGrpSpPr>
        <p:grpSpPr>
          <a:xfrm>
            <a:off x="407987" y="4597400"/>
            <a:ext cx="228600" cy="228600"/>
            <a:chOff x="0" y="0"/>
            <a:chExt cx="228600" cy="228600"/>
          </a:xfrm>
        </p:grpSpPr>
        <p:sp>
          <p:nvSpPr>
            <p:cNvPr id="514" name="Google Shape;514;p26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6"/>
            <p:cNvSpPr txBox="1"/>
            <p:nvPr/>
          </p:nvSpPr>
          <p:spPr>
            <a:xfrm>
              <a:off x="79198" y="50798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sp>
        <p:nvSpPr>
          <p:cNvPr id="516" name="Google Shape;516;p26"/>
          <p:cNvSpPr txBox="1"/>
          <p:nvPr/>
        </p:nvSpPr>
        <p:spPr>
          <a:xfrm>
            <a:off x="6405562" y="3438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 txBox="1"/>
          <p:nvPr/>
        </p:nvSpPr>
        <p:spPr>
          <a:xfrm>
            <a:off x="6515100" y="3467100"/>
            <a:ext cx="4371975" cy="7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이름·이메일·역할 프로필을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비밀번호 변경 버튼으로 비밀번호를 변경합니다.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Malgun Gothic"/>
              <a:buNone/>
            </a:pPr>
            <a:r>
              <a:rPr b="0" i="0" lang="en-US" sz="13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RAG·기안·문서 이력 탭에서 활동을 확인합니다.</a:t>
            </a:r>
            <a:endParaRPr/>
          </a:p>
        </p:txBody>
      </p:sp>
      <p:graphicFrame>
        <p:nvGraphicFramePr>
          <p:cNvPr id="518" name="Google Shape;518;p26"/>
          <p:cNvGraphicFramePr/>
          <p:nvPr/>
        </p:nvGraphicFramePr>
        <p:xfrm>
          <a:off x="4892675" y="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06375"/>
                <a:gridCol w="541325"/>
                <a:gridCol w="984250"/>
                <a:gridCol w="827075"/>
                <a:gridCol w="357175"/>
                <a:gridCol w="612775"/>
                <a:gridCol w="1370000"/>
                <a:gridCol w="1682750"/>
                <a:gridCol w="449250"/>
              </a:tblGrid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프로필 카드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이름/이메일/역할 (sessionStorage)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변경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PasswordChangeModal 열기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 이력 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첫 번째 기본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 /users/activity → rag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이력 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→ draft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이력 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→ document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변경 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Modal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클릭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PATCH /auth/change-password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7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228600" y="63500"/>
            <a:ext cx="11522075" cy="31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  SCR-013  |  마이페이지  |  /mypage  |  접근: 전체 (로그인)</a:t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182562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 txBox="1"/>
          <p:nvPr/>
        </p:nvSpPr>
        <p:spPr>
          <a:xfrm>
            <a:off x="284162" y="1687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182562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 txBox="1"/>
          <p:nvPr/>
        </p:nvSpPr>
        <p:spPr>
          <a:xfrm>
            <a:off x="284162" y="1933575"/>
            <a:ext cx="3738562" cy="10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→ sessionStorage 로드 + GET /users/activity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변경 → PasswordChangeModal → PATCH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4124325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 txBox="1"/>
          <p:nvPr/>
        </p:nvSpPr>
        <p:spPr>
          <a:xfrm>
            <a:off x="4224337" y="1687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4124325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"/>
          <p:cNvSpPr txBox="1"/>
          <p:nvPr/>
        </p:nvSpPr>
        <p:spPr>
          <a:xfrm>
            <a:off x="4224337" y="1933575"/>
            <a:ext cx="374015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 /users/activity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PATCH /auth/change-password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없음: 탭별 안내</a:t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Malgun Gothic"/>
              <a:buNone/>
            </a:pPr>
            <a:r>
              <a:rPr b="0" i="0" lang="en-US" sz="15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오류: toast.error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8064500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8166100" y="1687512"/>
            <a:ext cx="37576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8064500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52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 txBox="1"/>
          <p:nvPr/>
        </p:nvSpPr>
        <p:spPr>
          <a:xfrm>
            <a:off x="8166100" y="1933575"/>
            <a:ext cx="37401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표시 확인</a:t>
            </a:r>
            <a:endParaRPr b="0" i="0" sz="18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 변경 확인</a:t>
            </a:r>
            <a:endParaRPr b="0" i="0" sz="18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lgun Gothic"/>
              <a:buNone/>
            </a:pPr>
            <a:r>
              <a:rPr b="0" i="0" lang="en-US" sz="16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활동 이력 확인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붙여넣은 동영상.png" id="541" name="Google Shape;5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00" y="3322637"/>
            <a:ext cx="6281737" cy="318611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sp>
        <p:nvSpPr>
          <p:cNvPr id="542" name="Google Shape;542;p28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"/>
          <p:cNvSpPr txBox="1"/>
          <p:nvPr/>
        </p:nvSpPr>
        <p:spPr>
          <a:xfrm>
            <a:off x="228600" y="63500"/>
            <a:ext cx="115220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  SCR-014 ㅣ 관리자 유저 관리</a:t>
            </a:r>
            <a:endParaRPr/>
          </a:p>
        </p:txBody>
      </p:sp>
      <p:grpSp>
        <p:nvGrpSpPr>
          <p:cNvPr id="544" name="Google Shape;544;p28"/>
          <p:cNvGrpSpPr/>
          <p:nvPr/>
        </p:nvGrpSpPr>
        <p:grpSpPr>
          <a:xfrm>
            <a:off x="987425" y="3983037"/>
            <a:ext cx="228600" cy="228600"/>
            <a:chOff x="0" y="0"/>
            <a:chExt cx="228600" cy="228600"/>
          </a:xfrm>
        </p:grpSpPr>
        <p:sp>
          <p:nvSpPr>
            <p:cNvPr id="545" name="Google Shape;545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547" name="Google Shape;547;p28"/>
          <p:cNvGrpSpPr/>
          <p:nvPr/>
        </p:nvGrpSpPr>
        <p:grpSpPr>
          <a:xfrm>
            <a:off x="5505450" y="4762500"/>
            <a:ext cx="228600" cy="228600"/>
            <a:chOff x="0" y="0"/>
            <a:chExt cx="228600" cy="228600"/>
          </a:xfrm>
        </p:grpSpPr>
        <p:sp>
          <p:nvSpPr>
            <p:cNvPr id="548" name="Google Shape;548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550" name="Google Shape;550;p28"/>
          <p:cNvGrpSpPr/>
          <p:nvPr/>
        </p:nvGrpSpPr>
        <p:grpSpPr>
          <a:xfrm>
            <a:off x="6089650" y="4456112"/>
            <a:ext cx="228600" cy="228600"/>
            <a:chOff x="0" y="0"/>
            <a:chExt cx="228600" cy="228600"/>
          </a:xfrm>
        </p:grpSpPr>
        <p:sp>
          <p:nvSpPr>
            <p:cNvPr id="551" name="Google Shape;551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sp>
        <p:nvSpPr>
          <p:cNvPr id="553" name="Google Shape;553;p28"/>
          <p:cNvSpPr txBox="1"/>
          <p:nvPr/>
        </p:nvSpPr>
        <p:spPr>
          <a:xfrm>
            <a:off x="7286625" y="3433762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7396162" y="3460750"/>
            <a:ext cx="4371975" cy="127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1. 전체 사용자 목록을 테이블로 조회합니다.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2. 이름·이메일·권한·상태·가입일·최종수정일·마지막 로그인을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3. 유저 활동 버튼으로 해당 사용자의 활동 이력 페이지로 이동합니다.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4. 활성화/비활성화 토글 버튼으로 계정 상태를 변경합니다.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5. 암호 리셋 버튼으로 비밀번호를 초기화합니다.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6. 강제 로그아웃 버튼으로 해당 사용자의 세션을 만료시킵니다.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7. 비활성 사용자 행은 반투명(opacity-60)으로 표시됩니다.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8. 유저 생성 버튼으로 신규 사용자 등록 페이지로 이동합니다.</a:t>
            </a:r>
            <a:endParaRPr/>
          </a:p>
        </p:txBody>
      </p:sp>
      <p:graphicFrame>
        <p:nvGraphicFramePr>
          <p:cNvPr id="555" name="Google Shape;555;p28"/>
          <p:cNvGraphicFramePr/>
          <p:nvPr/>
        </p:nvGraphicFramePr>
        <p:xfrm>
          <a:off x="4456112" y="7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317500"/>
                <a:gridCol w="425450"/>
                <a:gridCol w="955675"/>
                <a:gridCol w="954075"/>
                <a:gridCol w="354000"/>
                <a:gridCol w="779450"/>
                <a:gridCol w="1485900"/>
                <a:gridCol w="1449375"/>
                <a:gridCol w="955675"/>
              </a:tblGrid>
              <a:tr h="24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 목록 테이블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항상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/auth/users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권한 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Badge (복수)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역할별 색상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실무/결재/관리자 배지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 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is_deleted 기준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활성/비활성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유저 활동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 (Outline)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비활성 사용자 비활성화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/admin/users/:id/activity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신규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활성화/비활성화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본인 제외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PATCH /auth/users/:id/activation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토글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암호 리셋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 (Outline)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비활성 사용자 비활성화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/auth/users/:id/reset-password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강제 로그아웃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 (Ghost)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비활성 사용자 비활성화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/auth/users/:id/force-logout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액션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유저 생성 버튼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항상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/admin/users/create 이동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56" name="Google Shape;556;p28"/>
          <p:cNvGrpSpPr/>
          <p:nvPr/>
        </p:nvGrpSpPr>
        <p:grpSpPr>
          <a:xfrm>
            <a:off x="6192837" y="4994275"/>
            <a:ext cx="228600" cy="228600"/>
            <a:chOff x="0" y="0"/>
            <a:chExt cx="228600" cy="228600"/>
          </a:xfrm>
        </p:grpSpPr>
        <p:sp>
          <p:nvSpPr>
            <p:cNvPr id="557" name="Google Shape;557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559" name="Google Shape;559;p28"/>
          <p:cNvGrpSpPr/>
          <p:nvPr/>
        </p:nvGrpSpPr>
        <p:grpSpPr>
          <a:xfrm>
            <a:off x="5518150" y="5143500"/>
            <a:ext cx="228600" cy="228600"/>
            <a:chOff x="0" y="0"/>
            <a:chExt cx="228600" cy="228600"/>
          </a:xfrm>
        </p:grpSpPr>
        <p:sp>
          <p:nvSpPr>
            <p:cNvPr id="560" name="Google Shape;560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562" name="Google Shape;562;p28"/>
          <p:cNvGrpSpPr/>
          <p:nvPr/>
        </p:nvGrpSpPr>
        <p:grpSpPr>
          <a:xfrm>
            <a:off x="6089650" y="3605212"/>
            <a:ext cx="228600" cy="228600"/>
            <a:chOff x="0" y="0"/>
            <a:chExt cx="228600" cy="228600"/>
          </a:xfrm>
        </p:grpSpPr>
        <p:sp>
          <p:nvSpPr>
            <p:cNvPr id="563" name="Google Shape;563;p28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8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9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9"/>
          <p:cNvSpPr txBox="1"/>
          <p:nvPr/>
        </p:nvSpPr>
        <p:spPr>
          <a:xfrm>
            <a:off x="228600" y="63500"/>
            <a:ext cx="115220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16.  SCR-014 ㅣ 관리자 유저 관리</a:t>
            </a:r>
            <a:endParaRPr/>
          </a:p>
        </p:txBody>
      </p:sp>
      <p:sp>
        <p:nvSpPr>
          <p:cNvPr id="571" name="Google Shape;571;p29"/>
          <p:cNvSpPr txBox="1"/>
          <p:nvPr/>
        </p:nvSpPr>
        <p:spPr>
          <a:xfrm>
            <a:off x="182562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9"/>
          <p:cNvSpPr txBox="1"/>
          <p:nvPr/>
        </p:nvSpPr>
        <p:spPr>
          <a:xfrm>
            <a:off x="284162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573" name="Google Shape;573;p29"/>
          <p:cNvSpPr txBox="1"/>
          <p:nvPr/>
        </p:nvSpPr>
        <p:spPr>
          <a:xfrm>
            <a:off x="182562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9"/>
          <p:cNvSpPr txBox="1"/>
          <p:nvPr/>
        </p:nvSpPr>
        <p:spPr>
          <a:xfrm>
            <a:off x="284162" y="1933575"/>
            <a:ext cx="3738562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페이지 진입: GET /auth/users + GET /admin/stats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유저 활동 클릭: /admin/users/:id/activity 이동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활성화/비활성화: PATCH /auth/users/:id/activation → 목록 갱신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암호 리셋: POST reset-password → toast.success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강제 로그아웃: POST force-logout → toast.success</a:t>
            </a:r>
            <a:endParaRPr/>
          </a:p>
        </p:txBody>
      </p:sp>
      <p:sp>
        <p:nvSpPr>
          <p:cNvPr id="575" name="Google Shape;575;p29"/>
          <p:cNvSpPr txBox="1"/>
          <p:nvPr/>
        </p:nvSpPr>
        <p:spPr>
          <a:xfrm>
            <a:off x="4124325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9"/>
          <p:cNvSpPr txBox="1"/>
          <p:nvPr/>
        </p:nvSpPr>
        <p:spPr>
          <a:xfrm>
            <a:off x="4224337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577" name="Google Shape;577;p29"/>
          <p:cNvSpPr txBox="1"/>
          <p:nvPr/>
        </p:nvSpPr>
        <p:spPr>
          <a:xfrm>
            <a:off x="4124325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4224337" y="1933575"/>
            <a:ext cx="3740150" cy="178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GET /auth/users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GET /admin/stats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PATCH /auth/users/:id/activation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/auth/users/:id/reset-password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/auth/users/:id/force-logout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로딩: loadingUsers → 테이블 스피너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처리 중: pendingActionId → 해당 행 버튼 비활성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비활성 사용자: opacity-60 + bg-muted/20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비관리자: '/' 리다이렉트</a:t>
            </a:r>
            <a:endParaRPr/>
          </a:p>
        </p:txBody>
      </p:sp>
      <p:sp>
        <p:nvSpPr>
          <p:cNvPr id="579" name="Google Shape;579;p29"/>
          <p:cNvSpPr txBox="1"/>
          <p:nvPr/>
        </p:nvSpPr>
        <p:spPr>
          <a:xfrm>
            <a:off x="8064500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9"/>
          <p:cNvSpPr txBox="1"/>
          <p:nvPr/>
        </p:nvSpPr>
        <p:spPr>
          <a:xfrm>
            <a:off x="8166100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581" name="Google Shape;581;p29"/>
          <p:cNvSpPr txBox="1"/>
          <p:nvPr/>
        </p:nvSpPr>
        <p:spPr>
          <a:xfrm>
            <a:off x="8064500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8166100" y="1933575"/>
            <a:ext cx="3740150" cy="96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전체 사용자 목록 표시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활성화/비활성화 토글 후 상태 배지 변경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비활성 사용자 행 버튼 비활성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처리 중 중복 클릭 방지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비관리자 접근 차단 확인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붙여넣은 동영상.png" id="587" name="Google Shape;5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3201987"/>
            <a:ext cx="4359275" cy="35369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2621"/>
            <a:headEnd len="sm" w="sm" type="none"/>
            <a:tailEnd len="sm" w="sm" type="none"/>
          </a:ln>
        </p:spPr>
      </p:pic>
      <p:sp>
        <p:nvSpPr>
          <p:cNvPr id="588" name="Google Shape;588;p30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0"/>
          <p:cNvSpPr txBox="1"/>
          <p:nvPr/>
        </p:nvSpPr>
        <p:spPr>
          <a:xfrm>
            <a:off x="228600" y="63500"/>
            <a:ext cx="115220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17.  SCR-015 ㅣ 문서 파이프라인 모니터링</a:t>
            </a:r>
            <a:endParaRPr/>
          </a:p>
        </p:txBody>
      </p:sp>
      <p:grpSp>
        <p:nvGrpSpPr>
          <p:cNvPr id="590" name="Google Shape;590;p30"/>
          <p:cNvGrpSpPr/>
          <p:nvPr/>
        </p:nvGrpSpPr>
        <p:grpSpPr>
          <a:xfrm>
            <a:off x="715962" y="3511550"/>
            <a:ext cx="228600" cy="228600"/>
            <a:chOff x="0" y="0"/>
            <a:chExt cx="228600" cy="228600"/>
          </a:xfrm>
        </p:grpSpPr>
        <p:sp>
          <p:nvSpPr>
            <p:cNvPr id="591" name="Google Shape;591;p3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0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/>
            </a:p>
          </p:txBody>
        </p:sp>
      </p:grpSp>
      <p:grpSp>
        <p:nvGrpSpPr>
          <p:cNvPr id="593" name="Google Shape;593;p30"/>
          <p:cNvGrpSpPr/>
          <p:nvPr/>
        </p:nvGrpSpPr>
        <p:grpSpPr>
          <a:xfrm>
            <a:off x="4692650" y="3417887"/>
            <a:ext cx="228600" cy="228600"/>
            <a:chOff x="0" y="0"/>
            <a:chExt cx="228600" cy="228600"/>
          </a:xfrm>
        </p:grpSpPr>
        <p:sp>
          <p:nvSpPr>
            <p:cNvPr id="594" name="Google Shape;594;p3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0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/>
            </a:p>
          </p:txBody>
        </p:sp>
      </p:grpSp>
      <p:grpSp>
        <p:nvGrpSpPr>
          <p:cNvPr id="596" name="Google Shape;596;p30"/>
          <p:cNvGrpSpPr/>
          <p:nvPr/>
        </p:nvGrpSpPr>
        <p:grpSpPr>
          <a:xfrm>
            <a:off x="1449387" y="4400550"/>
            <a:ext cx="228600" cy="228600"/>
            <a:chOff x="0" y="0"/>
            <a:chExt cx="228600" cy="228600"/>
          </a:xfrm>
        </p:grpSpPr>
        <p:sp>
          <p:nvSpPr>
            <p:cNvPr id="597" name="Google Shape;597;p3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0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  <p:sp>
        <p:nvSpPr>
          <p:cNvPr id="599" name="Google Shape;599;p30"/>
          <p:cNvSpPr txBox="1"/>
          <p:nvPr/>
        </p:nvSpPr>
        <p:spPr>
          <a:xfrm>
            <a:off x="6405562" y="3438525"/>
            <a:ext cx="4572000" cy="1600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0"/>
          <p:cNvSpPr txBox="1"/>
          <p:nvPr/>
        </p:nvSpPr>
        <p:spPr>
          <a:xfrm>
            <a:off x="6515100" y="3467100"/>
            <a:ext cx="437197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1. 상태 필터 탭으로 작업을 분류합니다. (전체/실패/진행 중/성공/완료)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2. 파일명 또는 사용자명으로 키워드 검색합니다.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3. 파일명·사용자·작업유형·상태·단계·시작·종료를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4. 실패 항목 클릭 시 오류 메시지 상세가 하단에 펼쳐집니다.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5. 성공/완료 항목 클릭 시 문서 상세 페이지로 이동합니다.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6. 20건씩 페이지네이션으로 조회합니다.</a:t>
            </a:r>
            <a:endParaRPr/>
          </a:p>
        </p:txBody>
      </p:sp>
      <p:graphicFrame>
        <p:nvGraphicFramePr>
          <p:cNvPr id="601" name="Google Shape;601;p30"/>
          <p:cNvGraphicFramePr/>
          <p:nvPr/>
        </p:nvGraphicFramePr>
        <p:xfrm>
          <a:off x="2120900" y="7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411150"/>
                <a:gridCol w="549275"/>
                <a:gridCol w="1235075"/>
                <a:gridCol w="1233475"/>
                <a:gridCol w="457200"/>
                <a:gridCol w="1006475"/>
                <a:gridCol w="1919275"/>
                <a:gridCol w="1874825"/>
                <a:gridCol w="1235075"/>
              </a:tblGrid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요소명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UI타입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기본값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검증/표시 규칙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동작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72B0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 필터 탭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ButtonGroup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'전체'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전체/실패/진행 중/성공/완료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statusFilter + page 리셋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72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필터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키워드 검색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빈값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파일명 또는 사용자명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클라이언트 측 필터링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 목록 테이블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20건/페이지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/admin/jobs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 배지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실패:빨강/진행:파란/완료:회색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variant 별 색상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오류 펼치기 행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Expandable Row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숨김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실패 항목 클릭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error_message 표시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태그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페이지네이션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Pagination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비활성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20건 초과 시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이전/다음/현재 페이지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02" name="Google Shape;602;p30"/>
          <p:cNvGrpSpPr/>
          <p:nvPr/>
        </p:nvGrpSpPr>
        <p:grpSpPr>
          <a:xfrm>
            <a:off x="4238625" y="6457950"/>
            <a:ext cx="228600" cy="228600"/>
            <a:chOff x="0" y="0"/>
            <a:chExt cx="228600" cy="228600"/>
          </a:xfrm>
        </p:grpSpPr>
        <p:sp>
          <p:nvSpPr>
            <p:cNvPr id="603" name="Google Shape;603;p3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0"/>
            <p:cNvSpPr txBox="1"/>
            <p:nvPr/>
          </p:nvSpPr>
          <p:spPr>
            <a:xfrm>
              <a:off x="79198" y="50799"/>
              <a:ext cx="70204" cy="127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b="1" i="0" lang="en-US" sz="700" u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1"/>
          <p:cNvSpPr txBox="1"/>
          <p:nvPr/>
        </p:nvSpPr>
        <p:spPr>
          <a:xfrm>
            <a:off x="228600" y="63500"/>
            <a:ext cx="115220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17.  SCR-015 ㅣ 문서 파이프라인 모니터링</a:t>
            </a:r>
            <a:endParaRPr/>
          </a:p>
        </p:txBody>
      </p:sp>
      <p:sp>
        <p:nvSpPr>
          <p:cNvPr id="611" name="Google Shape;611;p31"/>
          <p:cNvSpPr txBox="1"/>
          <p:nvPr/>
        </p:nvSpPr>
        <p:spPr>
          <a:xfrm>
            <a:off x="182562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1"/>
          <p:cNvSpPr txBox="1"/>
          <p:nvPr/>
        </p:nvSpPr>
        <p:spPr>
          <a:xfrm>
            <a:off x="284162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동작</a:t>
            </a:r>
            <a:endParaRPr/>
          </a:p>
        </p:txBody>
      </p:sp>
      <p:sp>
        <p:nvSpPr>
          <p:cNvPr id="613" name="Google Shape;613;p31"/>
          <p:cNvSpPr txBox="1"/>
          <p:nvPr/>
        </p:nvSpPr>
        <p:spPr>
          <a:xfrm>
            <a:off x="182562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1"/>
          <p:cNvSpPr txBox="1"/>
          <p:nvPr/>
        </p:nvSpPr>
        <p:spPr>
          <a:xfrm>
            <a:off x="284162" y="1933575"/>
            <a:ext cx="3738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상태 필터 클릭: page=0 리셋 + GET /admin/jobs 재조회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키워드 입력: 클라이언트 측 파일명·사용자 필터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실패 항목 클릭: expandedId 토글 → 오류 메시지 펼치기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성공/완료 항목 클릭(doc_id 있을 때): /document/:doc_id 이동</a:t>
            </a:r>
            <a:endParaRPr sz="1800"/>
          </a:p>
        </p:txBody>
      </p:sp>
      <p:sp>
        <p:nvSpPr>
          <p:cNvPr id="615" name="Google Shape;615;p31"/>
          <p:cNvSpPr txBox="1"/>
          <p:nvPr/>
        </p:nvSpPr>
        <p:spPr>
          <a:xfrm>
            <a:off x="4124325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4224337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 API  /  상태·예외</a:t>
            </a:r>
            <a:endParaRPr/>
          </a:p>
        </p:txBody>
      </p:sp>
      <p:sp>
        <p:nvSpPr>
          <p:cNvPr id="617" name="Google Shape;617;p31"/>
          <p:cNvSpPr txBox="1"/>
          <p:nvPr/>
        </p:nvSpPr>
        <p:spPr>
          <a:xfrm>
            <a:off x="4124325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1"/>
          <p:cNvSpPr txBox="1"/>
          <p:nvPr/>
        </p:nvSpPr>
        <p:spPr>
          <a:xfrm>
            <a:off x="4224337" y="1933575"/>
            <a:ext cx="374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GET /admin/jobs?status=&amp;skip=&amp;limit=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500" u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로딩: '불러오는 중...' 표시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항목 없음: '항목이 없습니다'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실패 행: 연한 빨간 배경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오류 펼침: pre 태그로 상세 메시지, max-h-32 스크롤</a:t>
            </a:r>
            <a:endParaRPr sz="1800"/>
          </a:p>
        </p:txBody>
      </p:sp>
      <p:sp>
        <p:nvSpPr>
          <p:cNvPr id="619" name="Google Shape;619;p31"/>
          <p:cNvSpPr txBox="1"/>
          <p:nvPr/>
        </p:nvSpPr>
        <p:spPr>
          <a:xfrm>
            <a:off x="8064500" y="1658937"/>
            <a:ext cx="3895725" cy="257175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8166100" y="1687512"/>
            <a:ext cx="3757612" cy="26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포인트</a:t>
            </a:r>
            <a:endParaRPr/>
          </a:p>
        </p:txBody>
      </p:sp>
      <p:sp>
        <p:nvSpPr>
          <p:cNvPr id="621" name="Google Shape;621;p31"/>
          <p:cNvSpPr txBox="1"/>
          <p:nvPr/>
        </p:nvSpPr>
        <p:spPr>
          <a:xfrm>
            <a:off x="8064500" y="1916112"/>
            <a:ext cx="3895725" cy="370681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EBED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1"/>
          <p:cNvSpPr txBox="1"/>
          <p:nvPr/>
        </p:nvSpPr>
        <p:spPr>
          <a:xfrm>
            <a:off x="8166100" y="1933575"/>
            <a:ext cx="3740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상태 필터별 목록 조회 확인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파일명·사용자 키워드 검색 확인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실패 항목 오류 메시지 펼치기 확인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성공 항목 클릭 시 문서 상세 이동 확인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5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페이지네이션 동작 확인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2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 txBox="1"/>
          <p:nvPr/>
        </p:nvSpPr>
        <p:spPr>
          <a:xfrm>
            <a:off x="228600" y="63500"/>
            <a:ext cx="90519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18.  화면 간 이동 흐름</a:t>
            </a:r>
            <a:endParaRPr/>
          </a:p>
        </p:txBody>
      </p:sp>
      <p:sp>
        <p:nvSpPr>
          <p:cNvPr id="629" name="Google Shape;629;p32"/>
          <p:cNvSpPr txBox="1"/>
          <p:nvPr/>
        </p:nvSpPr>
        <p:spPr>
          <a:xfrm>
            <a:off x="9647237" y="92075"/>
            <a:ext cx="22860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FEA"/>
              </a:buClr>
              <a:buSzPts val="900"/>
              <a:buFont typeface="Malgun Gothic"/>
              <a:buNone/>
            </a:pPr>
            <a:r>
              <a:rPr b="0" i="0" lang="en-US" sz="900" u="none">
                <a:solidFill>
                  <a:srgbClr val="BFCFEA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Navigation Flow</a:t>
            </a:r>
            <a:endParaRPr/>
          </a:p>
        </p:txBody>
      </p:sp>
      <p:sp>
        <p:nvSpPr>
          <p:cNvPr id="630" name="Google Shape;630;p32"/>
          <p:cNvSpPr txBox="1"/>
          <p:nvPr/>
        </p:nvSpPr>
        <p:spPr>
          <a:xfrm>
            <a:off x="365125" y="593725"/>
            <a:ext cx="11430000" cy="63515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(SCR-001)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├─ 실무 담당자  →  SCR-002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문서 클릭  →  SCR-009  →  [기안 작성]  →  SCR-007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기안 클릭  →  SCR-008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[문서 요약]  →  SCR-005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[기안 작성]  →  SCR-007  →  임시저장  →  SCR-007 재사용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[기안 목록]  →  SCR-006  →  기안 클릭  →  SCR-008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└─ [AI 검색]  →  SCR-004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├─ 결재권자  →  SCR-003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├─ 사이드바 실무 대시보드  →  SCR-002 (동일 메뉴 접근 가능)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     └─ 기안 선택  →  상세 패널 (인라인)  →  승인 / 반려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└─ 관리자  →  SCR-010 (통계 카드 + 파이차트)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├─ 사이드바 유저 관리  →  SCR-014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│     ├─ [유저 생성]  →  SCR-011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│     └─ [유저 활동]  →  SCR-012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└─ 사이드바 문서 관리  →  SCR-015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└─ 성공/완료 항목 클릭  →  SCR-009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(로그인 전체):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Malgun Gothic"/>
              <a:buNone/>
            </a:pPr>
            <a:r>
              <a:rPr b="0" i="0" lang="en-US" sz="1700" u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헤더 이름 클릭  →  SCR-013 (마이페이지, 탭으로 활동 이력 포함)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3"/>
          <p:cNvSpPr txBox="1"/>
          <p:nvPr/>
        </p:nvSpPr>
        <p:spPr>
          <a:xfrm>
            <a:off x="0" y="0"/>
            <a:ext cx="12188825" cy="503237"/>
          </a:xfrm>
          <a:prstGeom prst="rect">
            <a:avLst/>
          </a:prstGeom>
          <a:solidFill>
            <a:srgbClr val="1F376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 txBox="1"/>
          <p:nvPr/>
        </p:nvSpPr>
        <p:spPr>
          <a:xfrm>
            <a:off x="228600" y="63500"/>
            <a:ext cx="90519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18.  공통 컴포넌트</a:t>
            </a:r>
            <a:endParaRPr/>
          </a:p>
        </p:txBody>
      </p:sp>
      <p:sp>
        <p:nvSpPr>
          <p:cNvPr id="637" name="Google Shape;637;p33"/>
          <p:cNvSpPr txBox="1"/>
          <p:nvPr/>
        </p:nvSpPr>
        <p:spPr>
          <a:xfrm>
            <a:off x="9647237" y="92075"/>
            <a:ext cx="22860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FEA"/>
              </a:buClr>
              <a:buSzPts val="900"/>
              <a:buFont typeface="Malgun Gothic"/>
              <a:buNone/>
            </a:pPr>
            <a:r>
              <a:rPr b="0" i="0" lang="en-US" sz="900" u="none">
                <a:solidFill>
                  <a:srgbClr val="BFCFEA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Shared Components</a:t>
            </a:r>
            <a:endParaRPr/>
          </a:p>
        </p:txBody>
      </p:sp>
      <p:graphicFrame>
        <p:nvGraphicFramePr>
          <p:cNvPr id="638" name="Google Shape;638;p33"/>
          <p:cNvGraphicFramePr/>
          <p:nvPr/>
        </p:nvGraphicFramePr>
        <p:xfrm>
          <a:off x="88265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{A6EC508F-6946-427C-8DE2-DB8AAD785D8E}</a:tableStyleId>
              </a:tblPr>
              <a:tblGrid>
                <a:gridCol w="1887525"/>
                <a:gridCol w="1320800"/>
                <a:gridCol w="3303575"/>
                <a:gridCol w="4246550"/>
              </a:tblGrid>
              <a:tr h="56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컴포넌트명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화면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4B5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MainLayout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레이아웃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 네비게이션 + 사이드 메뉴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SCR-002 ~ SCR-013 전체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NotificationDropdown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알림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SSE 기반 알림 + GET /notifications/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SCR-002, 005, 004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PasswordChangeModal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변경 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PATCH /auth/change-password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SCR-001, 013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StatusBadge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기안 상태 배지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임시저장/대기/승인/반려/취소 색상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SCR-003, 008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ConfirmModal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모달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삭제·취소·승인 등 확인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SCR-002, 003, 008, 009, 010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MainLayout → Sidebar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사이드바 메뉴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역할별 메뉴 표시 (showApproverMenu/showAdminMenu)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B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